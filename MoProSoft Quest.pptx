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Press Start 2P" panose="00000500000000000000" pitchFamily="2" charset="0"/>
      <p:regular r:id="rId20"/>
    </p:embeddedFont>
    <p:embeddedFont>
      <p:font typeface="Segoe UI Emoji" panose="020B0502040204020203" pitchFamily="34" charset="0"/>
      <p:regular r:id="rId21"/>
    </p:embeddedFont>
    <p:embeddedFont>
      <p:font typeface="VT323" panose="00000509000000000000" pitchFamily="49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12" Type="http://schemas.openxmlformats.org/officeDocument/2006/relationships/slide" Target="slide1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5" Type="http://schemas.openxmlformats.org/officeDocument/2006/relationships/slide" Target="slide1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Relationship Id="rId1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214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0817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3619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420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9222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4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4825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7627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042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3230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8833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163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4436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7238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284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5643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8444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1246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6849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9651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2452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525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8056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0857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3659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6460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9262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20639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4865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7667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0468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32703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6071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8873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16751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4476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72783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79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28815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65683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784847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1286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040879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6889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96911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424927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5294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68095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80897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36991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6500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9302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32103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449055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7707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050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3310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96112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08913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2171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34516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47318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0120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7292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85723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98524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11326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2412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36929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49731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62532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7533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88136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100937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13739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26540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139342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52144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64945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77747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90548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203350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2161520" y="0"/>
            <a:ext cx="30479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2801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5603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8404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1206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4008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6809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9611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02412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5214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28016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40817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53619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66420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79222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92024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04825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17627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3042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43230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56032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8833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8163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94436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238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20040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3284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45643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58444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71246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8404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96849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409651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22452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3525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48056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60857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73659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86460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499262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120639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24865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37667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50468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5632703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76071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88873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016751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14476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272783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40079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528815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65683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7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91286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040879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16889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7296911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424927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55294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68095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80897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936991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06500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19302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32103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449055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57707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7050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83310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96112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08913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2171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34516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47318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960120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97292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985723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98524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11326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02412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036929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49731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062532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07533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088136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100937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113739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126540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1139342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1152144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1164945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1177747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1190548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1203350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2161520" y="6501383"/>
            <a:ext cx="30479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201168" y="6565392"/>
            <a:ext cx="786384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DIAP. 01  ·  INICIO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74479" y="6565392"/>
            <a:ext cx="278892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HECHO POR RUM</a:t>
            </a:r>
          </a:p>
        </p:txBody>
      </p:sp>
      <p:sp>
        <p:nvSpPr>
          <p:cNvPr id="197" name="Rectangle 196">
            <a:hlinkClick r:id="rId2" action="ppaction://hlinksldjump"/>
          </p:cNvPr>
          <p:cNvSpPr/>
          <p:nvPr/>
        </p:nvSpPr>
        <p:spPr>
          <a:xfrm>
            <a:off x="109728" y="128016"/>
            <a:ext cx="2139696" cy="365760"/>
          </a:xfrm>
          <a:prstGeom prst="rect">
            <a:avLst/>
          </a:prstGeom>
          <a:solidFill>
            <a:srgbClr val="4A2027"/>
          </a:solidFill>
          <a:ln w="25400">
            <a:solidFill>
              <a:srgbClr val="FFFFFF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MAPA</a:t>
            </a:r>
          </a:p>
        </p:txBody>
      </p:sp>
      <p:sp>
        <p:nvSpPr>
          <p:cNvPr id="198" name="Rectangle 197">
            <a:hlinkClick r:id="rId3" action="ppaction://hlinksldjump"/>
          </p:cNvPr>
          <p:cNvSpPr/>
          <p:nvPr/>
        </p:nvSpPr>
        <p:spPr>
          <a:xfrm>
            <a:off x="137160" y="57607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>
            <a:hlinkClick r:id="rId3" action="ppaction://hlinksldjump"/>
          </p:cNvPr>
          <p:cNvSpPr/>
          <p:nvPr/>
        </p:nvSpPr>
        <p:spPr>
          <a:xfrm>
            <a:off x="109728" y="54864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>
            <a:hlinkClick r:id="rId3" action="ppaction://hlinksldjump"/>
          </p:cNvPr>
          <p:cNvSpPr/>
          <p:nvPr/>
        </p:nvSpPr>
        <p:spPr>
          <a:xfrm>
            <a:off x="155448" y="64179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</p:txBody>
      </p:sp>
      <p:sp>
        <p:nvSpPr>
          <p:cNvPr id="201" name="TextBox 200">
            <a:hlinkClick r:id="rId3" action="ppaction://hlinksldjump"/>
          </p:cNvPr>
          <p:cNvSpPr txBox="1"/>
          <p:nvPr/>
        </p:nvSpPr>
        <p:spPr>
          <a:xfrm>
            <a:off x="530352" y="54864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¿Qué es?</a:t>
            </a:r>
          </a:p>
        </p:txBody>
      </p:sp>
      <p:sp>
        <p:nvSpPr>
          <p:cNvPr id="202" name="Rectangle 201">
            <a:hlinkClick r:id="rId4" action="ppaction://hlinksldjump"/>
          </p:cNvPr>
          <p:cNvSpPr/>
          <p:nvPr/>
        </p:nvSpPr>
        <p:spPr>
          <a:xfrm>
            <a:off x="137160" y="106870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>
            <a:hlinkClick r:id="rId4" action="ppaction://hlinksldjump"/>
          </p:cNvPr>
          <p:cNvSpPr/>
          <p:nvPr/>
        </p:nvSpPr>
        <p:spPr>
          <a:xfrm>
            <a:off x="109728" y="104127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>
            <a:hlinkClick r:id="rId4" action="ppaction://hlinksldjump"/>
          </p:cNvPr>
          <p:cNvSpPr/>
          <p:nvPr/>
        </p:nvSpPr>
        <p:spPr>
          <a:xfrm>
            <a:off x="155448" y="113442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</p:txBody>
      </p:sp>
      <p:sp>
        <p:nvSpPr>
          <p:cNvPr id="205" name="TextBox 204">
            <a:hlinkClick r:id="rId4" action="ppaction://hlinksldjump"/>
          </p:cNvPr>
          <p:cNvSpPr txBox="1"/>
          <p:nvPr/>
        </p:nvSpPr>
        <p:spPr>
          <a:xfrm>
            <a:off x="530352" y="104127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Historia</a:t>
            </a:r>
          </a:p>
        </p:txBody>
      </p:sp>
      <p:sp>
        <p:nvSpPr>
          <p:cNvPr id="206" name="Rectangle 205">
            <a:hlinkClick r:id="rId5" action="ppaction://hlinksldjump"/>
          </p:cNvPr>
          <p:cNvSpPr/>
          <p:nvPr/>
        </p:nvSpPr>
        <p:spPr>
          <a:xfrm>
            <a:off x="137160" y="1561338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>
            <a:hlinkClick r:id="rId5" action="ppaction://hlinksldjump"/>
          </p:cNvPr>
          <p:cNvSpPr/>
          <p:nvPr/>
        </p:nvSpPr>
        <p:spPr>
          <a:xfrm>
            <a:off x="109728" y="1533906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>
            <a:hlinkClick r:id="rId5" action="ppaction://hlinksldjump"/>
          </p:cNvPr>
          <p:cNvSpPr/>
          <p:nvPr/>
        </p:nvSpPr>
        <p:spPr>
          <a:xfrm>
            <a:off x="155448" y="1627060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</p:txBody>
      </p:sp>
      <p:sp>
        <p:nvSpPr>
          <p:cNvPr id="209" name="TextBox 208">
            <a:hlinkClick r:id="rId5" action="ppaction://hlinksldjump"/>
          </p:cNvPr>
          <p:cNvSpPr txBox="1"/>
          <p:nvPr/>
        </p:nvSpPr>
        <p:spPr>
          <a:xfrm>
            <a:off x="530352" y="1533906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Objetivos</a:t>
            </a:r>
          </a:p>
        </p:txBody>
      </p:sp>
      <p:sp>
        <p:nvSpPr>
          <p:cNvPr id="210" name="Rectangle 209">
            <a:hlinkClick r:id="rId6" action="ppaction://hlinksldjump"/>
          </p:cNvPr>
          <p:cNvSpPr/>
          <p:nvPr/>
        </p:nvSpPr>
        <p:spPr>
          <a:xfrm>
            <a:off x="137160" y="2053971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>
            <a:hlinkClick r:id="rId6" action="ppaction://hlinksldjump"/>
          </p:cNvPr>
          <p:cNvSpPr/>
          <p:nvPr/>
        </p:nvSpPr>
        <p:spPr>
          <a:xfrm>
            <a:off x="109728" y="2026539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>
            <a:hlinkClick r:id="rId6" action="ppaction://hlinksldjump"/>
          </p:cNvPr>
          <p:cNvSpPr/>
          <p:nvPr/>
        </p:nvSpPr>
        <p:spPr>
          <a:xfrm>
            <a:off x="155448" y="2119693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</p:txBody>
      </p:sp>
      <p:sp>
        <p:nvSpPr>
          <p:cNvPr id="213" name="TextBox 212">
            <a:hlinkClick r:id="rId6" action="ppaction://hlinksldjump"/>
          </p:cNvPr>
          <p:cNvSpPr txBox="1"/>
          <p:nvPr/>
        </p:nvSpPr>
        <p:spPr>
          <a:xfrm>
            <a:off x="530352" y="2026539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Estructura</a:t>
            </a:r>
          </a:p>
        </p:txBody>
      </p:sp>
      <p:sp>
        <p:nvSpPr>
          <p:cNvPr id="214" name="Rectangle 213">
            <a:hlinkClick r:id="rId7" action="ppaction://hlinksldjump"/>
          </p:cNvPr>
          <p:cNvSpPr/>
          <p:nvPr/>
        </p:nvSpPr>
        <p:spPr>
          <a:xfrm>
            <a:off x="137160" y="2546604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>
            <a:hlinkClick r:id="rId7" action="ppaction://hlinksldjump"/>
          </p:cNvPr>
          <p:cNvSpPr/>
          <p:nvPr/>
        </p:nvSpPr>
        <p:spPr>
          <a:xfrm>
            <a:off x="109728" y="2519172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>
            <a:hlinkClick r:id="rId7" action="ppaction://hlinksldjump"/>
          </p:cNvPr>
          <p:cNvSpPr/>
          <p:nvPr/>
        </p:nvSpPr>
        <p:spPr>
          <a:xfrm>
            <a:off x="155448" y="2612326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05</a:t>
            </a:r>
          </a:p>
        </p:txBody>
      </p:sp>
      <p:sp>
        <p:nvSpPr>
          <p:cNvPr id="217" name="TextBox 216">
            <a:hlinkClick r:id="rId7" action="ppaction://hlinksldjump"/>
          </p:cNvPr>
          <p:cNvSpPr txBox="1"/>
          <p:nvPr/>
        </p:nvSpPr>
        <p:spPr>
          <a:xfrm>
            <a:off x="530352" y="2519172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9 procesos</a:t>
            </a:r>
          </a:p>
        </p:txBody>
      </p:sp>
      <p:sp>
        <p:nvSpPr>
          <p:cNvPr id="218" name="Rectangle 217">
            <a:hlinkClick r:id="rId8" action="ppaction://hlinksldjump"/>
          </p:cNvPr>
          <p:cNvSpPr/>
          <p:nvPr/>
        </p:nvSpPr>
        <p:spPr>
          <a:xfrm>
            <a:off x="137160" y="3039237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hlinkClick r:id="rId8" action="ppaction://hlinksldjump"/>
          </p:cNvPr>
          <p:cNvSpPr/>
          <p:nvPr/>
        </p:nvSpPr>
        <p:spPr>
          <a:xfrm>
            <a:off x="109728" y="3011805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>
            <a:hlinkClick r:id="rId8" action="ppaction://hlinksldjump"/>
          </p:cNvPr>
          <p:cNvSpPr/>
          <p:nvPr/>
        </p:nvSpPr>
        <p:spPr>
          <a:xfrm>
            <a:off x="155448" y="3104959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06</a:t>
            </a:r>
          </a:p>
        </p:txBody>
      </p:sp>
      <p:sp>
        <p:nvSpPr>
          <p:cNvPr id="221" name="TextBox 220">
            <a:hlinkClick r:id="rId8" action="ppaction://hlinksldjump"/>
          </p:cNvPr>
          <p:cNvSpPr txBox="1"/>
          <p:nvPr/>
        </p:nvSpPr>
        <p:spPr>
          <a:xfrm>
            <a:off x="530352" y="3011805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Anatomía</a:t>
            </a:r>
          </a:p>
        </p:txBody>
      </p:sp>
      <p:sp>
        <p:nvSpPr>
          <p:cNvPr id="222" name="Rectangle 221">
            <a:hlinkClick r:id="rId9" action="ppaction://hlinksldjump"/>
          </p:cNvPr>
          <p:cNvSpPr/>
          <p:nvPr/>
        </p:nvSpPr>
        <p:spPr>
          <a:xfrm>
            <a:off x="137160" y="3531870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>
            <a:hlinkClick r:id="rId9" action="ppaction://hlinksldjump"/>
          </p:cNvPr>
          <p:cNvSpPr/>
          <p:nvPr/>
        </p:nvSpPr>
        <p:spPr>
          <a:xfrm>
            <a:off x="109728" y="3504438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>
            <a:hlinkClick r:id="rId9" action="ppaction://hlinksldjump"/>
          </p:cNvPr>
          <p:cNvSpPr/>
          <p:nvPr/>
        </p:nvSpPr>
        <p:spPr>
          <a:xfrm>
            <a:off x="155448" y="3597592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07</a:t>
            </a:r>
          </a:p>
        </p:txBody>
      </p:sp>
      <p:sp>
        <p:nvSpPr>
          <p:cNvPr id="225" name="TextBox 224">
            <a:hlinkClick r:id="rId9" action="ppaction://hlinksldjump"/>
          </p:cNvPr>
          <p:cNvSpPr txBox="1"/>
          <p:nvPr/>
        </p:nvSpPr>
        <p:spPr>
          <a:xfrm>
            <a:off x="530352" y="3504438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Ciclo DMS</a:t>
            </a:r>
          </a:p>
        </p:txBody>
      </p:sp>
      <p:sp>
        <p:nvSpPr>
          <p:cNvPr id="226" name="Rectangle 225">
            <a:hlinkClick r:id="rId10" action="ppaction://hlinksldjump"/>
          </p:cNvPr>
          <p:cNvSpPr/>
          <p:nvPr/>
        </p:nvSpPr>
        <p:spPr>
          <a:xfrm>
            <a:off x="137160" y="4024503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>
            <a:hlinkClick r:id="rId10" action="ppaction://hlinksldjump"/>
          </p:cNvPr>
          <p:cNvSpPr/>
          <p:nvPr/>
        </p:nvSpPr>
        <p:spPr>
          <a:xfrm>
            <a:off x="109728" y="3997071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>
            <a:hlinkClick r:id="rId10" action="ppaction://hlinksldjump"/>
          </p:cNvPr>
          <p:cNvSpPr/>
          <p:nvPr/>
        </p:nvSpPr>
        <p:spPr>
          <a:xfrm>
            <a:off x="155448" y="4090225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08</a:t>
            </a:r>
          </a:p>
        </p:txBody>
      </p:sp>
      <p:sp>
        <p:nvSpPr>
          <p:cNvPr id="229" name="TextBox 228">
            <a:hlinkClick r:id="rId10" action="ppaction://hlinksldjump"/>
          </p:cNvPr>
          <p:cNvSpPr txBox="1"/>
          <p:nvPr/>
        </p:nvSpPr>
        <p:spPr>
          <a:xfrm>
            <a:off x="530352" y="3997071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Roles</a:t>
            </a:r>
          </a:p>
        </p:txBody>
      </p:sp>
      <p:sp>
        <p:nvSpPr>
          <p:cNvPr id="230" name="Rectangle 229">
            <a:hlinkClick r:id="rId11" action="ppaction://hlinksldjump"/>
          </p:cNvPr>
          <p:cNvSpPr/>
          <p:nvPr/>
        </p:nvSpPr>
        <p:spPr>
          <a:xfrm>
            <a:off x="137160" y="4517136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>
            <a:hlinkClick r:id="rId11" action="ppaction://hlinksldjump"/>
          </p:cNvPr>
          <p:cNvSpPr/>
          <p:nvPr/>
        </p:nvSpPr>
        <p:spPr>
          <a:xfrm>
            <a:off x="109728" y="4489704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>
            <a:hlinkClick r:id="rId11" action="ppaction://hlinksldjump"/>
          </p:cNvPr>
          <p:cNvSpPr/>
          <p:nvPr/>
        </p:nvSpPr>
        <p:spPr>
          <a:xfrm>
            <a:off x="155448" y="4582858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09</a:t>
            </a:r>
          </a:p>
        </p:txBody>
      </p:sp>
      <p:sp>
        <p:nvSpPr>
          <p:cNvPr id="233" name="TextBox 232">
            <a:hlinkClick r:id="rId11" action="ppaction://hlinksldjump"/>
          </p:cNvPr>
          <p:cNvSpPr txBox="1"/>
          <p:nvPr/>
        </p:nvSpPr>
        <p:spPr>
          <a:xfrm>
            <a:off x="530352" y="4489704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Capacidad</a:t>
            </a:r>
          </a:p>
        </p:txBody>
      </p:sp>
      <p:sp>
        <p:nvSpPr>
          <p:cNvPr id="234" name="Rectangle 233">
            <a:hlinkClick r:id="rId12" action="ppaction://hlinksldjump"/>
          </p:cNvPr>
          <p:cNvSpPr/>
          <p:nvPr/>
        </p:nvSpPr>
        <p:spPr>
          <a:xfrm>
            <a:off x="137160" y="5009769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>
            <a:hlinkClick r:id="rId12" action="ppaction://hlinksldjump"/>
          </p:cNvPr>
          <p:cNvSpPr/>
          <p:nvPr/>
        </p:nvSpPr>
        <p:spPr>
          <a:xfrm>
            <a:off x="109728" y="4982337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>
            <a:hlinkClick r:id="rId12" action="ppaction://hlinksldjump"/>
          </p:cNvPr>
          <p:cNvSpPr/>
          <p:nvPr/>
        </p:nvSpPr>
        <p:spPr>
          <a:xfrm>
            <a:off x="155448" y="5075491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10</a:t>
            </a:r>
          </a:p>
        </p:txBody>
      </p:sp>
      <p:sp>
        <p:nvSpPr>
          <p:cNvPr id="237" name="TextBox 236">
            <a:hlinkClick r:id="rId12" action="ppaction://hlinksldjump"/>
          </p:cNvPr>
          <p:cNvSpPr txBox="1"/>
          <p:nvPr/>
        </p:nvSpPr>
        <p:spPr>
          <a:xfrm>
            <a:off x="530352" y="4982337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EvalProSoft</a:t>
            </a:r>
          </a:p>
        </p:txBody>
      </p:sp>
      <p:sp>
        <p:nvSpPr>
          <p:cNvPr id="238" name="Rectangle 237">
            <a:hlinkClick r:id="rId13" action="ppaction://hlinksldjump"/>
          </p:cNvPr>
          <p:cNvSpPr/>
          <p:nvPr/>
        </p:nvSpPr>
        <p:spPr>
          <a:xfrm>
            <a:off x="137160" y="550240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>
            <a:hlinkClick r:id="rId13" action="ppaction://hlinksldjump"/>
          </p:cNvPr>
          <p:cNvSpPr/>
          <p:nvPr/>
        </p:nvSpPr>
        <p:spPr>
          <a:xfrm>
            <a:off x="109728" y="547497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>
            <a:hlinkClick r:id="rId13" action="ppaction://hlinksldjump"/>
          </p:cNvPr>
          <p:cNvSpPr/>
          <p:nvPr/>
        </p:nvSpPr>
        <p:spPr>
          <a:xfrm>
            <a:off x="155448" y="556812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11</a:t>
            </a:r>
          </a:p>
        </p:txBody>
      </p:sp>
      <p:sp>
        <p:nvSpPr>
          <p:cNvPr id="241" name="TextBox 240">
            <a:hlinkClick r:id="rId13" action="ppaction://hlinksldjump"/>
          </p:cNvPr>
          <p:cNvSpPr txBox="1"/>
          <p:nvPr/>
        </p:nvSpPr>
        <p:spPr>
          <a:xfrm>
            <a:off x="530352" y="547497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Modelos</a:t>
            </a:r>
          </a:p>
        </p:txBody>
      </p:sp>
      <p:sp>
        <p:nvSpPr>
          <p:cNvPr id="242" name="Rectangle 241">
            <a:hlinkClick r:id="rId14" action="ppaction://hlinksldjump"/>
          </p:cNvPr>
          <p:cNvSpPr/>
          <p:nvPr/>
        </p:nvSpPr>
        <p:spPr>
          <a:xfrm>
            <a:off x="137160" y="599503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>
            <a:hlinkClick r:id="rId14" action="ppaction://hlinksldjump"/>
          </p:cNvPr>
          <p:cNvSpPr/>
          <p:nvPr/>
        </p:nvSpPr>
        <p:spPr>
          <a:xfrm>
            <a:off x="109728" y="596760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>
            <a:hlinkClick r:id="rId14" action="ppaction://hlinksldjump"/>
          </p:cNvPr>
          <p:cNvSpPr/>
          <p:nvPr/>
        </p:nvSpPr>
        <p:spPr>
          <a:xfrm>
            <a:off x="155448" y="606075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12</a:t>
            </a:r>
          </a:p>
        </p:txBody>
      </p:sp>
      <p:sp>
        <p:nvSpPr>
          <p:cNvPr id="245" name="TextBox 244">
            <a:hlinkClick r:id="rId14" action="ppaction://hlinksldjump"/>
          </p:cNvPr>
          <p:cNvSpPr txBox="1"/>
          <p:nvPr/>
        </p:nvSpPr>
        <p:spPr>
          <a:xfrm>
            <a:off x="530352" y="596760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Glosario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414016" y="219456"/>
            <a:ext cx="9723119" cy="6281927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2340864" y="146304"/>
            <a:ext cx="9723119" cy="6281927"/>
          </a:xfrm>
          <a:prstGeom prst="rect">
            <a:avLst/>
          </a:prstGeom>
          <a:solidFill>
            <a:srgbClr val="4A2027"/>
          </a:solidFill>
          <a:ln w="381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2615184" y="530352"/>
            <a:ext cx="9174479" cy="329184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7FA8D6"/>
                </a:solidFill>
                <a:latin typeface="Press Start 2P"/>
                <a:ea typeface="Press Start 2P"/>
                <a:cs typeface="Press Start 2P"/>
              </a:rPr>
              <a:t>▶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2569464" y="932688"/>
            <a:ext cx="9265919" cy="65836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4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MOPROSOFT QUEST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2615184" y="1682495"/>
            <a:ext cx="9174479" cy="457200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4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Modelo de Procesos para la Industria del Software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660904" y="2231136"/>
            <a:ext cx="9083039" cy="640080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2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12 niveles para exponer el modelo, de la definición al glosario.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2660904" y="2907792"/>
            <a:ext cx="9083039" cy="329184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7FA8D6"/>
                </a:solidFill>
                <a:latin typeface="VT323"/>
                <a:ea typeface="VT323"/>
                <a:cs typeface="VT323"/>
              </a:rPr>
              <a:t>(A veces escrito "MaProSoft".)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958839" y="3392424"/>
            <a:ext cx="146304" cy="10972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6105143" y="3392424"/>
            <a:ext cx="146304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6251447" y="3392424"/>
            <a:ext cx="146304" cy="10972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6397751" y="3392424"/>
            <a:ext cx="146304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ctangle 256"/>
          <p:cNvSpPr/>
          <p:nvPr/>
        </p:nvSpPr>
        <p:spPr>
          <a:xfrm>
            <a:off x="6544055" y="3392424"/>
            <a:ext cx="146304" cy="10972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6690359" y="3392424"/>
            <a:ext cx="146304" cy="10972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6836663" y="3392424"/>
            <a:ext cx="146304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6982967" y="3392424"/>
            <a:ext cx="146304" cy="10972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ctangle 260"/>
          <p:cNvSpPr/>
          <p:nvPr/>
        </p:nvSpPr>
        <p:spPr>
          <a:xfrm>
            <a:off x="7129271" y="3392424"/>
            <a:ext cx="146304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7275575" y="3392424"/>
            <a:ext cx="146304" cy="10972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7421879" y="3392424"/>
            <a:ext cx="146304" cy="10972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7568183" y="3392424"/>
            <a:ext cx="146304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7714487" y="3392424"/>
            <a:ext cx="146304" cy="10972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7860791" y="3392424"/>
            <a:ext cx="146304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8007095" y="3392424"/>
            <a:ext cx="146304" cy="10972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8153399" y="3392424"/>
            <a:ext cx="146304" cy="10972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8299703" y="3392424"/>
            <a:ext cx="146304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Rectangle 269">
            <a:hlinkClick r:id="rId6" action="ppaction://hlinksldjump"/>
          </p:cNvPr>
          <p:cNvSpPr/>
          <p:nvPr/>
        </p:nvSpPr>
        <p:spPr>
          <a:xfrm>
            <a:off x="3627119" y="3762755"/>
            <a:ext cx="2331720" cy="402336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270">
            <a:hlinkClick r:id="rId6" action="ppaction://hlinksldjump"/>
          </p:cNvPr>
          <p:cNvSpPr/>
          <p:nvPr/>
        </p:nvSpPr>
        <p:spPr>
          <a:xfrm>
            <a:off x="3576827" y="3712463"/>
            <a:ext cx="2331720" cy="402336"/>
          </a:xfrm>
          <a:prstGeom prst="rect">
            <a:avLst/>
          </a:prstGeom>
          <a:solidFill>
            <a:srgbClr val="7FA8D6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9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3 CATEGORIAS</a:t>
            </a:r>
          </a:p>
        </p:txBody>
      </p:sp>
      <p:sp>
        <p:nvSpPr>
          <p:cNvPr id="272" name="Rectangle 271">
            <a:hlinkClick r:id="rId7" action="ppaction://hlinksldjump"/>
          </p:cNvPr>
          <p:cNvSpPr/>
          <p:nvPr/>
        </p:nvSpPr>
        <p:spPr>
          <a:xfrm>
            <a:off x="6086855" y="3762755"/>
            <a:ext cx="2331720" cy="402336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ctangle 272">
            <a:hlinkClick r:id="rId7" action="ppaction://hlinksldjump"/>
          </p:cNvPr>
          <p:cNvSpPr/>
          <p:nvPr/>
        </p:nvSpPr>
        <p:spPr>
          <a:xfrm>
            <a:off x="6036563" y="3712463"/>
            <a:ext cx="2331720" cy="402336"/>
          </a:xfrm>
          <a:prstGeom prst="rect">
            <a:avLst/>
          </a:prstGeom>
          <a:solidFill>
            <a:srgbClr val="7FA8D6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9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9 PROCESOS</a:t>
            </a:r>
          </a:p>
        </p:txBody>
      </p:sp>
      <p:sp>
        <p:nvSpPr>
          <p:cNvPr id="274" name="Rectangle 273">
            <a:hlinkClick r:id="rId11" action="ppaction://hlinksldjump"/>
          </p:cNvPr>
          <p:cNvSpPr/>
          <p:nvPr/>
        </p:nvSpPr>
        <p:spPr>
          <a:xfrm>
            <a:off x="8546591" y="3762755"/>
            <a:ext cx="2331720" cy="402336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Rectangle 274">
            <a:hlinkClick r:id="rId11" action="ppaction://hlinksldjump"/>
          </p:cNvPr>
          <p:cNvSpPr/>
          <p:nvPr/>
        </p:nvSpPr>
        <p:spPr>
          <a:xfrm>
            <a:off x="8496299" y="3712463"/>
            <a:ext cx="2331720" cy="402336"/>
          </a:xfrm>
          <a:prstGeom prst="rect">
            <a:avLst/>
          </a:prstGeom>
          <a:solidFill>
            <a:srgbClr val="7FA8D6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9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6 NIVELES</a:t>
            </a:r>
          </a:p>
        </p:txBody>
      </p:sp>
      <p:sp>
        <p:nvSpPr>
          <p:cNvPr id="276" name="Rectangle 275">
            <a:hlinkClick r:id="rId2" action="ppaction://hlinksldjump"/>
          </p:cNvPr>
          <p:cNvSpPr/>
          <p:nvPr/>
        </p:nvSpPr>
        <p:spPr>
          <a:xfrm>
            <a:off x="5423915" y="4494276"/>
            <a:ext cx="3657600" cy="5303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ectangle 276">
            <a:hlinkClick r:id="rId2" action="ppaction://hlinksldjump"/>
          </p:cNvPr>
          <p:cNvSpPr/>
          <p:nvPr/>
        </p:nvSpPr>
        <p:spPr>
          <a:xfrm>
            <a:off x="5373623" y="4443984"/>
            <a:ext cx="3657600" cy="530352"/>
          </a:xfrm>
          <a:prstGeom prst="rect">
            <a:avLst/>
          </a:prstGeom>
          <a:solidFill>
            <a:srgbClr val="7FA8D6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PRESS START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214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0817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3619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420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9222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4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4825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7627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042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3230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8833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163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4436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7238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284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5643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8444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1246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6849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9651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2452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525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8056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0857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3659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6460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9262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20639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4865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7667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0468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32703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6071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8873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16751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4476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72783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79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28815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65683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784847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1286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040879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6889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96911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424927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5294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68095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80897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36991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6500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9302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32103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449055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7707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050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3310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96112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08913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2171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34516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47318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0120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7292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85723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98524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11326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2412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36929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49731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62532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7533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88136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100937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13739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26540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139342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52144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64945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77747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90548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203350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2161520" y="0"/>
            <a:ext cx="30479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2801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5603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8404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1206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4008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6809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9611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02412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5214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28016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40817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53619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66420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79222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92024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04825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17627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3042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43230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56032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8833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8163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94436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238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20040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3284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45643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58444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71246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8404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96849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409651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22452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3525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48056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60857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73659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86460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499262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120639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24865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37667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50468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5632703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76071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88873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016751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14476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272783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40079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528815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65683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7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91286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040879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16889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7296911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424927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55294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68095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80897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936991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06500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19302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32103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449055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57707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7050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83310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96112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08913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2171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34516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47318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960120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97292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985723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98524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11326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02412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036929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49731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062532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07533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088136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100937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113739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126540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1139342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1152144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1164945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1177747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1190548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1203350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2161520" y="6501383"/>
            <a:ext cx="30479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201168" y="6565392"/>
            <a:ext cx="786384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DIAP. 02  ·  INDICE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74479" y="6565392"/>
            <a:ext cx="278892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HECHO POR RUM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0" y="82296"/>
            <a:ext cx="12191999" cy="43891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>
            <a:hlinkClick r:id="rId2" action="ppaction://hlinksldjump"/>
          </p:cNvPr>
          <p:cNvSpPr/>
          <p:nvPr/>
        </p:nvSpPr>
        <p:spPr>
          <a:xfrm>
            <a:off x="2694431" y="146303"/>
            <a:ext cx="2194560" cy="310896"/>
          </a:xfrm>
          <a:prstGeom prst="rect">
            <a:avLst/>
          </a:prstGeom>
          <a:solidFill>
            <a:srgbClr val="9B6B72"/>
          </a:solidFill>
          <a:ln w="25400">
            <a:solidFill>
              <a:srgbClr val="FFFFFF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9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INICIO</a:t>
            </a:r>
          </a:p>
        </p:txBody>
      </p:sp>
      <p:sp>
        <p:nvSpPr>
          <p:cNvPr id="199" name="Rectangle 198">
            <a:hlinkClick r:id="rId3" action="ppaction://hlinksldjump"/>
          </p:cNvPr>
          <p:cNvSpPr/>
          <p:nvPr/>
        </p:nvSpPr>
        <p:spPr>
          <a:xfrm>
            <a:off x="4998719" y="146303"/>
            <a:ext cx="2194560" cy="310896"/>
          </a:xfrm>
          <a:prstGeom prst="rect">
            <a:avLst/>
          </a:prstGeom>
          <a:solidFill>
            <a:srgbClr val="7FA8D6"/>
          </a:solidFill>
          <a:ln w="25400">
            <a:solidFill>
              <a:srgbClr val="FFFFFF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9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INDICE</a:t>
            </a:r>
          </a:p>
        </p:txBody>
      </p:sp>
      <p:sp>
        <p:nvSpPr>
          <p:cNvPr id="200" name="Rectangle 199">
            <a:hlinkClick r:id="rId4" action="ppaction://hlinksldjump"/>
          </p:cNvPr>
          <p:cNvSpPr/>
          <p:nvPr/>
        </p:nvSpPr>
        <p:spPr>
          <a:xfrm>
            <a:off x="7303007" y="146303"/>
            <a:ext cx="2194560" cy="310896"/>
          </a:xfrm>
          <a:prstGeom prst="rect">
            <a:avLst/>
          </a:prstGeom>
          <a:solidFill>
            <a:srgbClr val="9B6B72"/>
          </a:solidFill>
          <a:ln w="25400">
            <a:solidFill>
              <a:srgbClr val="FFFFFF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9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CONTENIDO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320040" y="658368"/>
            <a:ext cx="11643359" cy="512064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274320" y="612647"/>
            <a:ext cx="11643359" cy="512064"/>
          </a:xfrm>
          <a:prstGeom prst="rect">
            <a:avLst/>
          </a:prstGeom>
          <a:solidFill>
            <a:srgbClr val="4A2027"/>
          </a:solidFill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420623" y="612647"/>
            <a:ext cx="11369039" cy="512064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INDICE  /  MAPA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320040" y="1243584"/>
            <a:ext cx="11643359" cy="56692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274320" y="1197864"/>
            <a:ext cx="11643359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402336" y="1234440"/>
            <a:ext cx="3840480" cy="237744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9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12 NIVELES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206240" y="1216152"/>
            <a:ext cx="7528559" cy="256032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Pulsa un nivel para abrir su diapositiva.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02336" y="1490472"/>
            <a:ext cx="11387327" cy="201168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438912" y="1527048"/>
            <a:ext cx="11314175" cy="128016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>
            <a:hlinkClick r:id="rId4" action="ppaction://hlinksldjump"/>
          </p:cNvPr>
          <p:cNvSpPr/>
          <p:nvPr/>
        </p:nvSpPr>
        <p:spPr>
          <a:xfrm>
            <a:off x="320040" y="1901952"/>
            <a:ext cx="2842259" cy="146303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>
            <a:hlinkClick r:id="rId4" action="ppaction://hlinksldjump"/>
          </p:cNvPr>
          <p:cNvSpPr/>
          <p:nvPr/>
        </p:nvSpPr>
        <p:spPr>
          <a:xfrm>
            <a:off x="274320" y="1856232"/>
            <a:ext cx="2842259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4A2027"/>
            </a:solidFill>
          </a:ln>
          <a:effectLst/>
        </p:spPr>
        <p:txBody>
          <a:bodyPr wrap="square" lIns="621792" tIns="73152" rIns="73152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Segoe UI Emoji"/>
                <a:ea typeface="Segoe UI Emoji"/>
                <a:cs typeface="Segoe UI Emoji"/>
              </a:rPr>
              <a:t>📜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lang="es-MX" sz="8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NIVEL 1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¿Qué es MoProSoft?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DIAP. 03</a:t>
            </a:r>
          </a:p>
        </p:txBody>
      </p:sp>
      <p:sp>
        <p:nvSpPr>
          <p:cNvPr id="212" name="Rectangle 211">
            <a:hlinkClick r:id="rId4" action="ppaction://hlinksldjump"/>
          </p:cNvPr>
          <p:cNvSpPr/>
          <p:nvPr/>
        </p:nvSpPr>
        <p:spPr>
          <a:xfrm>
            <a:off x="365760" y="1965960"/>
            <a:ext cx="438912" cy="365760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</p:txBody>
      </p:sp>
      <p:sp>
        <p:nvSpPr>
          <p:cNvPr id="213" name="Rectangle 212">
            <a:hlinkClick r:id="rId5" action="ppaction://hlinksldjump"/>
          </p:cNvPr>
          <p:cNvSpPr/>
          <p:nvPr/>
        </p:nvSpPr>
        <p:spPr>
          <a:xfrm>
            <a:off x="3253739" y="1901952"/>
            <a:ext cx="2842259" cy="146303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>
            <a:hlinkClick r:id="rId5" action="ppaction://hlinksldjump"/>
          </p:cNvPr>
          <p:cNvSpPr/>
          <p:nvPr/>
        </p:nvSpPr>
        <p:spPr>
          <a:xfrm>
            <a:off x="3208019" y="1856232"/>
            <a:ext cx="2842259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4A2027"/>
            </a:solidFill>
          </a:ln>
          <a:effectLst/>
        </p:spPr>
        <p:txBody>
          <a:bodyPr wrap="square" lIns="621792" tIns="73152" rIns="73152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Segoe UI Emoji"/>
                <a:ea typeface="Segoe UI Emoji"/>
                <a:cs typeface="Segoe UI Emoji"/>
              </a:rPr>
              <a:t>🕰️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lang="es-MX" sz="8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NIVEL 2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Contexto e historia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DIAP. 04</a:t>
            </a:r>
          </a:p>
        </p:txBody>
      </p:sp>
      <p:sp>
        <p:nvSpPr>
          <p:cNvPr id="215" name="Rectangle 214">
            <a:hlinkClick r:id="rId5" action="ppaction://hlinksldjump"/>
          </p:cNvPr>
          <p:cNvSpPr/>
          <p:nvPr/>
        </p:nvSpPr>
        <p:spPr>
          <a:xfrm>
            <a:off x="3299459" y="1965960"/>
            <a:ext cx="438912" cy="365760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</p:txBody>
      </p:sp>
      <p:sp>
        <p:nvSpPr>
          <p:cNvPr id="216" name="Rectangle 215">
            <a:hlinkClick r:id="rId6" action="ppaction://hlinksldjump"/>
          </p:cNvPr>
          <p:cNvSpPr/>
          <p:nvPr/>
        </p:nvSpPr>
        <p:spPr>
          <a:xfrm>
            <a:off x="6187439" y="1901952"/>
            <a:ext cx="2842259" cy="146303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>
            <a:hlinkClick r:id="rId6" action="ppaction://hlinksldjump"/>
          </p:cNvPr>
          <p:cNvSpPr/>
          <p:nvPr/>
        </p:nvSpPr>
        <p:spPr>
          <a:xfrm>
            <a:off x="6141719" y="1856232"/>
            <a:ext cx="2842259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4A2027"/>
            </a:solidFill>
          </a:ln>
          <a:effectLst/>
        </p:spPr>
        <p:txBody>
          <a:bodyPr wrap="square" lIns="621792" tIns="73152" rIns="73152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Segoe UI Emoji"/>
                <a:ea typeface="Segoe UI Emoji"/>
                <a:cs typeface="Segoe UI Emoji"/>
              </a:rPr>
              <a:t>🎯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lang="es-MX" sz="8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NIVEL 3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Objetivos y alcance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DIAP. 05</a:t>
            </a:r>
          </a:p>
        </p:txBody>
      </p:sp>
      <p:sp>
        <p:nvSpPr>
          <p:cNvPr id="218" name="Rectangle 217">
            <a:hlinkClick r:id="rId6" action="ppaction://hlinksldjump"/>
          </p:cNvPr>
          <p:cNvSpPr/>
          <p:nvPr/>
        </p:nvSpPr>
        <p:spPr>
          <a:xfrm>
            <a:off x="6233159" y="1965960"/>
            <a:ext cx="438912" cy="365760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</p:txBody>
      </p:sp>
      <p:sp>
        <p:nvSpPr>
          <p:cNvPr id="219" name="Rectangle 218">
            <a:hlinkClick r:id="rId7" action="ppaction://hlinksldjump"/>
          </p:cNvPr>
          <p:cNvSpPr/>
          <p:nvPr/>
        </p:nvSpPr>
        <p:spPr>
          <a:xfrm>
            <a:off x="9121139" y="1901952"/>
            <a:ext cx="2842259" cy="146303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>
            <a:hlinkClick r:id="rId7" action="ppaction://hlinksldjump"/>
          </p:cNvPr>
          <p:cNvSpPr/>
          <p:nvPr/>
        </p:nvSpPr>
        <p:spPr>
          <a:xfrm>
            <a:off x="9075419" y="1856232"/>
            <a:ext cx="2842259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4A2027"/>
            </a:solidFill>
          </a:ln>
          <a:effectLst/>
        </p:spPr>
        <p:txBody>
          <a:bodyPr wrap="square" lIns="621792" tIns="73152" rIns="73152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Segoe UI Emoji"/>
                <a:ea typeface="Segoe UI Emoji"/>
                <a:cs typeface="Segoe UI Emoji"/>
              </a:rPr>
              <a:t>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lang="es-MX" sz="8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NIVEL 4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Estructura: 3 categorías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DIAP. 06</a:t>
            </a:r>
          </a:p>
        </p:txBody>
      </p:sp>
      <p:sp>
        <p:nvSpPr>
          <p:cNvPr id="221" name="Rectangle 220">
            <a:hlinkClick r:id="rId7" action="ppaction://hlinksldjump"/>
          </p:cNvPr>
          <p:cNvSpPr/>
          <p:nvPr/>
        </p:nvSpPr>
        <p:spPr>
          <a:xfrm>
            <a:off x="9166859" y="1965960"/>
            <a:ext cx="438912" cy="365760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</p:txBody>
      </p:sp>
      <p:sp>
        <p:nvSpPr>
          <p:cNvPr id="222" name="Rectangle 221">
            <a:hlinkClick r:id="rId8" action="ppaction://hlinksldjump"/>
          </p:cNvPr>
          <p:cNvSpPr/>
          <p:nvPr/>
        </p:nvSpPr>
        <p:spPr>
          <a:xfrm>
            <a:off x="320040" y="3456432"/>
            <a:ext cx="2842259" cy="146303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>
            <a:hlinkClick r:id="rId8" action="ppaction://hlinksldjump"/>
          </p:cNvPr>
          <p:cNvSpPr/>
          <p:nvPr/>
        </p:nvSpPr>
        <p:spPr>
          <a:xfrm>
            <a:off x="274320" y="3410712"/>
            <a:ext cx="2842259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4A2027"/>
            </a:solidFill>
          </a:ln>
          <a:effectLst/>
        </p:spPr>
        <p:txBody>
          <a:bodyPr wrap="square" lIns="621792" tIns="73152" rIns="73152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Segoe UI Emoji"/>
                <a:ea typeface="Segoe UI Emoji"/>
                <a:cs typeface="Segoe UI Emoji"/>
              </a:rPr>
              <a:t>🗺️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lang="es-MX" sz="8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NIVEL 5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Los 9 procesos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DIAP. 07</a:t>
            </a:r>
          </a:p>
        </p:txBody>
      </p:sp>
      <p:sp>
        <p:nvSpPr>
          <p:cNvPr id="224" name="Rectangle 223">
            <a:hlinkClick r:id="rId8" action="ppaction://hlinksldjump"/>
          </p:cNvPr>
          <p:cNvSpPr/>
          <p:nvPr/>
        </p:nvSpPr>
        <p:spPr>
          <a:xfrm>
            <a:off x="365760" y="3520440"/>
            <a:ext cx="438912" cy="365760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05</a:t>
            </a:r>
          </a:p>
        </p:txBody>
      </p:sp>
      <p:sp>
        <p:nvSpPr>
          <p:cNvPr id="225" name="Rectangle 224">
            <a:hlinkClick r:id="rId9" action="ppaction://hlinksldjump"/>
          </p:cNvPr>
          <p:cNvSpPr/>
          <p:nvPr/>
        </p:nvSpPr>
        <p:spPr>
          <a:xfrm>
            <a:off x="3253739" y="3456432"/>
            <a:ext cx="2842259" cy="146303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>
            <a:hlinkClick r:id="rId9" action="ppaction://hlinksldjump"/>
          </p:cNvPr>
          <p:cNvSpPr/>
          <p:nvPr/>
        </p:nvSpPr>
        <p:spPr>
          <a:xfrm>
            <a:off x="3208019" y="3410712"/>
            <a:ext cx="2842259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4A2027"/>
            </a:solidFill>
          </a:ln>
          <a:effectLst/>
        </p:spPr>
        <p:txBody>
          <a:bodyPr wrap="square" lIns="621792" tIns="73152" rIns="73152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Segoe UI Emoji"/>
                <a:ea typeface="Segoe UI Emoji"/>
                <a:cs typeface="Segoe UI Emoji"/>
              </a:rPr>
              <a:t>📦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lang="es-MX" sz="8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NIVEL 6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Anatomía de un proceso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DIAP. 08</a:t>
            </a:r>
          </a:p>
        </p:txBody>
      </p:sp>
      <p:sp>
        <p:nvSpPr>
          <p:cNvPr id="227" name="Rectangle 226">
            <a:hlinkClick r:id="rId9" action="ppaction://hlinksldjump"/>
          </p:cNvPr>
          <p:cNvSpPr/>
          <p:nvPr/>
        </p:nvSpPr>
        <p:spPr>
          <a:xfrm>
            <a:off x="3299459" y="3520440"/>
            <a:ext cx="438912" cy="365760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06</a:t>
            </a:r>
          </a:p>
        </p:txBody>
      </p:sp>
      <p:sp>
        <p:nvSpPr>
          <p:cNvPr id="228" name="Rectangle 227">
            <a:hlinkClick r:id="rId10" action="ppaction://hlinksldjump"/>
          </p:cNvPr>
          <p:cNvSpPr/>
          <p:nvPr/>
        </p:nvSpPr>
        <p:spPr>
          <a:xfrm>
            <a:off x="6187439" y="3456432"/>
            <a:ext cx="2842259" cy="146303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ectangle 228">
            <a:hlinkClick r:id="rId10" action="ppaction://hlinksldjump"/>
          </p:cNvPr>
          <p:cNvSpPr/>
          <p:nvPr/>
        </p:nvSpPr>
        <p:spPr>
          <a:xfrm>
            <a:off x="6141719" y="3410712"/>
            <a:ext cx="2842259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4A2027"/>
            </a:solidFill>
          </a:ln>
          <a:effectLst/>
        </p:spPr>
        <p:txBody>
          <a:bodyPr wrap="square" lIns="621792" tIns="73152" rIns="73152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Segoe UI Emoji"/>
                <a:ea typeface="Segoe UI Emoji"/>
                <a:cs typeface="Segoe UI Emoji"/>
              </a:rPr>
              <a:t>⚙️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lang="es-MX" sz="8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NIVEL 7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Ciclo de DMS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DIAP. 09</a:t>
            </a:r>
          </a:p>
        </p:txBody>
      </p:sp>
      <p:sp>
        <p:nvSpPr>
          <p:cNvPr id="230" name="Rectangle 229">
            <a:hlinkClick r:id="rId10" action="ppaction://hlinksldjump"/>
          </p:cNvPr>
          <p:cNvSpPr/>
          <p:nvPr/>
        </p:nvSpPr>
        <p:spPr>
          <a:xfrm>
            <a:off x="6233159" y="3520440"/>
            <a:ext cx="438912" cy="365760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07</a:t>
            </a:r>
          </a:p>
        </p:txBody>
      </p:sp>
      <p:sp>
        <p:nvSpPr>
          <p:cNvPr id="231" name="Rectangle 230">
            <a:hlinkClick r:id="rId11" action="ppaction://hlinksldjump"/>
          </p:cNvPr>
          <p:cNvSpPr/>
          <p:nvPr/>
        </p:nvSpPr>
        <p:spPr>
          <a:xfrm>
            <a:off x="9121139" y="3456432"/>
            <a:ext cx="2842259" cy="146303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>
            <a:hlinkClick r:id="rId11" action="ppaction://hlinksldjump"/>
          </p:cNvPr>
          <p:cNvSpPr/>
          <p:nvPr/>
        </p:nvSpPr>
        <p:spPr>
          <a:xfrm>
            <a:off x="9075419" y="3410712"/>
            <a:ext cx="2842259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4A2027"/>
            </a:solidFill>
          </a:ln>
          <a:effectLst/>
        </p:spPr>
        <p:txBody>
          <a:bodyPr wrap="square" lIns="621792" tIns="73152" rIns="73152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Segoe UI Emoji"/>
                <a:ea typeface="Segoe UI Emoji"/>
                <a:cs typeface="Segoe UI Emoji"/>
              </a:rPr>
              <a:t>👥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lang="es-MX" sz="8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NIVEL 8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Roles clave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DIAP. 10</a:t>
            </a:r>
          </a:p>
        </p:txBody>
      </p:sp>
      <p:sp>
        <p:nvSpPr>
          <p:cNvPr id="233" name="Rectangle 232">
            <a:hlinkClick r:id="rId11" action="ppaction://hlinksldjump"/>
          </p:cNvPr>
          <p:cNvSpPr/>
          <p:nvPr/>
        </p:nvSpPr>
        <p:spPr>
          <a:xfrm>
            <a:off x="9166859" y="3520440"/>
            <a:ext cx="438912" cy="365760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08</a:t>
            </a:r>
          </a:p>
        </p:txBody>
      </p:sp>
      <p:sp>
        <p:nvSpPr>
          <p:cNvPr id="234" name="Rectangle 233">
            <a:hlinkClick r:id="rId12" action="ppaction://hlinksldjump"/>
          </p:cNvPr>
          <p:cNvSpPr/>
          <p:nvPr/>
        </p:nvSpPr>
        <p:spPr>
          <a:xfrm>
            <a:off x="320040" y="5010912"/>
            <a:ext cx="2842259" cy="146303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>
            <a:hlinkClick r:id="rId12" action="ppaction://hlinksldjump"/>
          </p:cNvPr>
          <p:cNvSpPr/>
          <p:nvPr/>
        </p:nvSpPr>
        <p:spPr>
          <a:xfrm>
            <a:off x="274320" y="4965192"/>
            <a:ext cx="2842259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4A2027"/>
            </a:solidFill>
          </a:ln>
          <a:effectLst/>
        </p:spPr>
        <p:txBody>
          <a:bodyPr wrap="square" lIns="621792" tIns="73152" rIns="73152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Segoe UI Emoji"/>
                <a:ea typeface="Segoe UI Emoji"/>
                <a:cs typeface="Segoe UI Emoji"/>
              </a:rPr>
              <a:t>📈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lang="es-MX" sz="8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NIVEL 9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Niveles de capacidad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DIAP. 11</a:t>
            </a:r>
          </a:p>
        </p:txBody>
      </p:sp>
      <p:sp>
        <p:nvSpPr>
          <p:cNvPr id="236" name="Rectangle 235">
            <a:hlinkClick r:id="rId12" action="ppaction://hlinksldjump"/>
          </p:cNvPr>
          <p:cNvSpPr/>
          <p:nvPr/>
        </p:nvSpPr>
        <p:spPr>
          <a:xfrm>
            <a:off x="365760" y="5074920"/>
            <a:ext cx="438912" cy="365760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09</a:t>
            </a:r>
          </a:p>
        </p:txBody>
      </p:sp>
      <p:sp>
        <p:nvSpPr>
          <p:cNvPr id="237" name="Rectangle 236">
            <a:hlinkClick r:id="rId13" action="ppaction://hlinksldjump"/>
          </p:cNvPr>
          <p:cNvSpPr/>
          <p:nvPr/>
        </p:nvSpPr>
        <p:spPr>
          <a:xfrm>
            <a:off x="3253739" y="5010912"/>
            <a:ext cx="2842259" cy="146303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ectangle 237">
            <a:hlinkClick r:id="rId13" action="ppaction://hlinksldjump"/>
          </p:cNvPr>
          <p:cNvSpPr/>
          <p:nvPr/>
        </p:nvSpPr>
        <p:spPr>
          <a:xfrm>
            <a:off x="3208019" y="4965192"/>
            <a:ext cx="2842259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4A2027"/>
            </a:solidFill>
          </a:ln>
          <a:effectLst/>
        </p:spPr>
        <p:txBody>
          <a:bodyPr wrap="square" lIns="621792" tIns="73152" rIns="73152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Segoe UI Emoji"/>
                <a:ea typeface="Segoe UI Emoji"/>
                <a:cs typeface="Segoe UI Emoji"/>
              </a:rPr>
              <a:t>🔍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lang="es-MX" sz="8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NIVEL 10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Evaluación: EvalProSoft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DIAP. 12</a:t>
            </a:r>
          </a:p>
        </p:txBody>
      </p:sp>
      <p:sp>
        <p:nvSpPr>
          <p:cNvPr id="239" name="Rectangle 238">
            <a:hlinkClick r:id="rId13" action="ppaction://hlinksldjump"/>
          </p:cNvPr>
          <p:cNvSpPr/>
          <p:nvPr/>
        </p:nvSpPr>
        <p:spPr>
          <a:xfrm>
            <a:off x="3299459" y="5074920"/>
            <a:ext cx="438912" cy="365760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10</a:t>
            </a:r>
          </a:p>
        </p:txBody>
      </p:sp>
      <p:sp>
        <p:nvSpPr>
          <p:cNvPr id="240" name="Rectangle 239">
            <a:hlinkClick r:id="rId14" action="ppaction://hlinksldjump"/>
          </p:cNvPr>
          <p:cNvSpPr/>
          <p:nvPr/>
        </p:nvSpPr>
        <p:spPr>
          <a:xfrm>
            <a:off x="6187439" y="5010912"/>
            <a:ext cx="2842259" cy="146303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ectangle 240">
            <a:hlinkClick r:id="rId14" action="ppaction://hlinksldjump"/>
          </p:cNvPr>
          <p:cNvSpPr/>
          <p:nvPr/>
        </p:nvSpPr>
        <p:spPr>
          <a:xfrm>
            <a:off x="6141719" y="4965192"/>
            <a:ext cx="2842259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4A2027"/>
            </a:solidFill>
          </a:ln>
          <a:effectLst/>
        </p:spPr>
        <p:txBody>
          <a:bodyPr wrap="square" lIns="621792" tIns="73152" rIns="73152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Segoe UI Emoji"/>
                <a:ea typeface="Segoe UI Emoji"/>
                <a:cs typeface="Segoe UI Emoji"/>
              </a:rPr>
              <a:t>🔗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lang="es-MX" sz="8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NIVEL 11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Relación con otros modelos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DIAP. 13</a:t>
            </a:r>
          </a:p>
        </p:txBody>
      </p:sp>
      <p:sp>
        <p:nvSpPr>
          <p:cNvPr id="242" name="Rectangle 241">
            <a:hlinkClick r:id="rId14" action="ppaction://hlinksldjump"/>
          </p:cNvPr>
          <p:cNvSpPr/>
          <p:nvPr/>
        </p:nvSpPr>
        <p:spPr>
          <a:xfrm>
            <a:off x="6233159" y="5074920"/>
            <a:ext cx="438912" cy="365760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11</a:t>
            </a:r>
          </a:p>
        </p:txBody>
      </p:sp>
      <p:sp>
        <p:nvSpPr>
          <p:cNvPr id="243" name="Rectangle 242">
            <a:hlinkClick r:id="rId15" action="ppaction://hlinksldjump"/>
          </p:cNvPr>
          <p:cNvSpPr/>
          <p:nvPr/>
        </p:nvSpPr>
        <p:spPr>
          <a:xfrm>
            <a:off x="9121139" y="5010912"/>
            <a:ext cx="2842259" cy="146303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>
            <a:hlinkClick r:id="rId15" action="ppaction://hlinksldjump"/>
          </p:cNvPr>
          <p:cNvSpPr/>
          <p:nvPr/>
        </p:nvSpPr>
        <p:spPr>
          <a:xfrm>
            <a:off x="9075419" y="4965192"/>
            <a:ext cx="2842259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4A2027"/>
            </a:solidFill>
          </a:ln>
          <a:effectLst/>
        </p:spPr>
        <p:txBody>
          <a:bodyPr wrap="square" lIns="621792" tIns="73152" rIns="73152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Segoe UI Emoji"/>
                <a:ea typeface="Segoe UI Emoji"/>
                <a:cs typeface="Segoe UI Emoji"/>
              </a:rPr>
              <a:t>🏆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lang="es-MX" sz="8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NIVEL 12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Beneficios, retos y glosario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DIAP. 14</a:t>
            </a:r>
          </a:p>
        </p:txBody>
      </p:sp>
      <p:sp>
        <p:nvSpPr>
          <p:cNvPr id="245" name="Rectangle 244">
            <a:hlinkClick r:id="rId15" action="ppaction://hlinksldjump"/>
          </p:cNvPr>
          <p:cNvSpPr/>
          <p:nvPr/>
        </p:nvSpPr>
        <p:spPr>
          <a:xfrm>
            <a:off x="9166859" y="5074920"/>
            <a:ext cx="438912" cy="365760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214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0817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3619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420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9222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4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4825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7627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042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3230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8833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163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4436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7238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284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5643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8444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1246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6849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9651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2452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525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8056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0857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3659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6460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9262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20639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4865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7667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0468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32703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6071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8873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16751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4476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72783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79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28815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65683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784847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1286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040879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6889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96911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424927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5294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68095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80897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36991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6500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9302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32103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449055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7707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050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3310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96112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08913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2171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34516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47318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0120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7292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85723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98524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11326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2412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36929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49731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62532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7533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88136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100937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13739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26540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139342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52144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64945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77747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90548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203350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2161520" y="0"/>
            <a:ext cx="30479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2801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5603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8404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1206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4008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6809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9611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02412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5214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28016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40817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53619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66420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79222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92024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04825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17627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3042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43230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56032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8833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8163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94436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238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20040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3284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45643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58444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71246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8404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96849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409651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22452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3525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48056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60857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73659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86460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499262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120639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24865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37667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50468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5632703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76071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88873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016751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14476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272783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40079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528815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65683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7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91286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040879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16889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7296911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424927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55294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68095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80897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936991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06500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19302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32103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449055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57707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7050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83310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96112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08913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2171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34516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47318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960120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97292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985723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98524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11326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02412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036929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49731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062532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07533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088136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100937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113739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126540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1139342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1152144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1164945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1177747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1190548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1203350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2161520" y="6501383"/>
            <a:ext cx="30479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201168" y="6565392"/>
            <a:ext cx="786384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DIAP. 03  ·  NIVEL 1/12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74479" y="6565392"/>
            <a:ext cx="278892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HECHO POR RUM</a:t>
            </a:r>
          </a:p>
        </p:txBody>
      </p:sp>
      <p:sp>
        <p:nvSpPr>
          <p:cNvPr id="197" name="Rectangle 196">
            <a:hlinkClick r:id="rId2" action="ppaction://hlinksldjump"/>
          </p:cNvPr>
          <p:cNvSpPr/>
          <p:nvPr/>
        </p:nvSpPr>
        <p:spPr>
          <a:xfrm>
            <a:off x="109728" y="128016"/>
            <a:ext cx="2139696" cy="365760"/>
          </a:xfrm>
          <a:prstGeom prst="rect">
            <a:avLst/>
          </a:prstGeom>
          <a:solidFill>
            <a:srgbClr val="4A2027"/>
          </a:solidFill>
          <a:ln w="25400">
            <a:solidFill>
              <a:srgbClr val="FFFFFF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MAPA</a:t>
            </a:r>
          </a:p>
        </p:txBody>
      </p:sp>
      <p:sp>
        <p:nvSpPr>
          <p:cNvPr id="198" name="Rectangle 197">
            <a:hlinkClick r:id="rId3" action="ppaction://hlinksldjump"/>
          </p:cNvPr>
          <p:cNvSpPr/>
          <p:nvPr/>
        </p:nvSpPr>
        <p:spPr>
          <a:xfrm>
            <a:off x="137160" y="57607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>
            <a:hlinkClick r:id="rId3" action="ppaction://hlinksldjump"/>
          </p:cNvPr>
          <p:cNvSpPr/>
          <p:nvPr/>
        </p:nvSpPr>
        <p:spPr>
          <a:xfrm>
            <a:off x="109728" y="548640"/>
            <a:ext cx="2139696" cy="460629"/>
          </a:xfrm>
          <a:prstGeom prst="rect">
            <a:avLst/>
          </a:prstGeom>
          <a:solidFill>
            <a:srgbClr val="9B6B72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>
            <a:hlinkClick r:id="rId3" action="ppaction://hlinksldjump"/>
          </p:cNvPr>
          <p:cNvSpPr/>
          <p:nvPr/>
        </p:nvSpPr>
        <p:spPr>
          <a:xfrm>
            <a:off x="155448" y="641794"/>
            <a:ext cx="329184" cy="274320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</p:txBody>
      </p:sp>
      <p:sp>
        <p:nvSpPr>
          <p:cNvPr id="201" name="TextBox 200">
            <a:hlinkClick r:id="rId3" action="ppaction://hlinksldjump"/>
          </p:cNvPr>
          <p:cNvSpPr txBox="1"/>
          <p:nvPr/>
        </p:nvSpPr>
        <p:spPr>
          <a:xfrm>
            <a:off x="530352" y="54864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¿Qué es?</a:t>
            </a:r>
          </a:p>
        </p:txBody>
      </p:sp>
      <p:sp>
        <p:nvSpPr>
          <p:cNvPr id="202" name="Rectangle 201">
            <a:hlinkClick r:id="rId4" action="ppaction://hlinksldjump"/>
          </p:cNvPr>
          <p:cNvSpPr/>
          <p:nvPr/>
        </p:nvSpPr>
        <p:spPr>
          <a:xfrm>
            <a:off x="137160" y="106870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>
            <a:hlinkClick r:id="rId4" action="ppaction://hlinksldjump"/>
          </p:cNvPr>
          <p:cNvSpPr/>
          <p:nvPr/>
        </p:nvSpPr>
        <p:spPr>
          <a:xfrm>
            <a:off x="109728" y="104127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>
            <a:hlinkClick r:id="rId4" action="ppaction://hlinksldjump"/>
          </p:cNvPr>
          <p:cNvSpPr/>
          <p:nvPr/>
        </p:nvSpPr>
        <p:spPr>
          <a:xfrm>
            <a:off x="155448" y="113442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</p:txBody>
      </p:sp>
      <p:sp>
        <p:nvSpPr>
          <p:cNvPr id="205" name="TextBox 204">
            <a:hlinkClick r:id="rId4" action="ppaction://hlinksldjump"/>
          </p:cNvPr>
          <p:cNvSpPr txBox="1"/>
          <p:nvPr/>
        </p:nvSpPr>
        <p:spPr>
          <a:xfrm>
            <a:off x="530352" y="104127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Historia</a:t>
            </a:r>
          </a:p>
        </p:txBody>
      </p:sp>
      <p:sp>
        <p:nvSpPr>
          <p:cNvPr id="206" name="Rectangle 205">
            <a:hlinkClick r:id="rId5" action="ppaction://hlinksldjump"/>
          </p:cNvPr>
          <p:cNvSpPr/>
          <p:nvPr/>
        </p:nvSpPr>
        <p:spPr>
          <a:xfrm>
            <a:off x="137160" y="1561338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>
            <a:hlinkClick r:id="rId5" action="ppaction://hlinksldjump"/>
          </p:cNvPr>
          <p:cNvSpPr/>
          <p:nvPr/>
        </p:nvSpPr>
        <p:spPr>
          <a:xfrm>
            <a:off x="109728" y="1533906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>
            <a:hlinkClick r:id="rId5" action="ppaction://hlinksldjump"/>
          </p:cNvPr>
          <p:cNvSpPr/>
          <p:nvPr/>
        </p:nvSpPr>
        <p:spPr>
          <a:xfrm>
            <a:off x="155448" y="1627060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</p:txBody>
      </p:sp>
      <p:sp>
        <p:nvSpPr>
          <p:cNvPr id="209" name="TextBox 208">
            <a:hlinkClick r:id="rId5" action="ppaction://hlinksldjump"/>
          </p:cNvPr>
          <p:cNvSpPr txBox="1"/>
          <p:nvPr/>
        </p:nvSpPr>
        <p:spPr>
          <a:xfrm>
            <a:off x="530352" y="1533906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Objetivos</a:t>
            </a:r>
          </a:p>
        </p:txBody>
      </p:sp>
      <p:sp>
        <p:nvSpPr>
          <p:cNvPr id="210" name="Rectangle 209">
            <a:hlinkClick r:id="rId6" action="ppaction://hlinksldjump"/>
          </p:cNvPr>
          <p:cNvSpPr/>
          <p:nvPr/>
        </p:nvSpPr>
        <p:spPr>
          <a:xfrm>
            <a:off x="137160" y="2053971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>
            <a:hlinkClick r:id="rId6" action="ppaction://hlinksldjump"/>
          </p:cNvPr>
          <p:cNvSpPr/>
          <p:nvPr/>
        </p:nvSpPr>
        <p:spPr>
          <a:xfrm>
            <a:off x="109728" y="2026539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>
            <a:hlinkClick r:id="rId6" action="ppaction://hlinksldjump"/>
          </p:cNvPr>
          <p:cNvSpPr/>
          <p:nvPr/>
        </p:nvSpPr>
        <p:spPr>
          <a:xfrm>
            <a:off x="155448" y="2119693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</p:txBody>
      </p:sp>
      <p:sp>
        <p:nvSpPr>
          <p:cNvPr id="213" name="TextBox 212">
            <a:hlinkClick r:id="rId6" action="ppaction://hlinksldjump"/>
          </p:cNvPr>
          <p:cNvSpPr txBox="1"/>
          <p:nvPr/>
        </p:nvSpPr>
        <p:spPr>
          <a:xfrm>
            <a:off x="530352" y="2026539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Estructura</a:t>
            </a:r>
          </a:p>
        </p:txBody>
      </p:sp>
      <p:sp>
        <p:nvSpPr>
          <p:cNvPr id="214" name="Rectangle 213">
            <a:hlinkClick r:id="rId7" action="ppaction://hlinksldjump"/>
          </p:cNvPr>
          <p:cNvSpPr/>
          <p:nvPr/>
        </p:nvSpPr>
        <p:spPr>
          <a:xfrm>
            <a:off x="137160" y="2546604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>
            <a:hlinkClick r:id="rId7" action="ppaction://hlinksldjump"/>
          </p:cNvPr>
          <p:cNvSpPr/>
          <p:nvPr/>
        </p:nvSpPr>
        <p:spPr>
          <a:xfrm>
            <a:off x="109728" y="2519172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>
            <a:hlinkClick r:id="rId7" action="ppaction://hlinksldjump"/>
          </p:cNvPr>
          <p:cNvSpPr/>
          <p:nvPr/>
        </p:nvSpPr>
        <p:spPr>
          <a:xfrm>
            <a:off x="155448" y="2612326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05</a:t>
            </a:r>
          </a:p>
        </p:txBody>
      </p:sp>
      <p:sp>
        <p:nvSpPr>
          <p:cNvPr id="217" name="TextBox 216">
            <a:hlinkClick r:id="rId7" action="ppaction://hlinksldjump"/>
          </p:cNvPr>
          <p:cNvSpPr txBox="1"/>
          <p:nvPr/>
        </p:nvSpPr>
        <p:spPr>
          <a:xfrm>
            <a:off x="530352" y="2519172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9 procesos</a:t>
            </a:r>
          </a:p>
        </p:txBody>
      </p:sp>
      <p:sp>
        <p:nvSpPr>
          <p:cNvPr id="218" name="Rectangle 217">
            <a:hlinkClick r:id="rId8" action="ppaction://hlinksldjump"/>
          </p:cNvPr>
          <p:cNvSpPr/>
          <p:nvPr/>
        </p:nvSpPr>
        <p:spPr>
          <a:xfrm>
            <a:off x="137160" y="3039237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hlinkClick r:id="rId8" action="ppaction://hlinksldjump"/>
          </p:cNvPr>
          <p:cNvSpPr/>
          <p:nvPr/>
        </p:nvSpPr>
        <p:spPr>
          <a:xfrm>
            <a:off x="109728" y="3011805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>
            <a:hlinkClick r:id="rId8" action="ppaction://hlinksldjump"/>
          </p:cNvPr>
          <p:cNvSpPr/>
          <p:nvPr/>
        </p:nvSpPr>
        <p:spPr>
          <a:xfrm>
            <a:off x="155448" y="3104959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06</a:t>
            </a:r>
          </a:p>
        </p:txBody>
      </p:sp>
      <p:sp>
        <p:nvSpPr>
          <p:cNvPr id="221" name="TextBox 220">
            <a:hlinkClick r:id="rId8" action="ppaction://hlinksldjump"/>
          </p:cNvPr>
          <p:cNvSpPr txBox="1"/>
          <p:nvPr/>
        </p:nvSpPr>
        <p:spPr>
          <a:xfrm>
            <a:off x="530352" y="3011805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Anatomía</a:t>
            </a:r>
          </a:p>
        </p:txBody>
      </p:sp>
      <p:sp>
        <p:nvSpPr>
          <p:cNvPr id="222" name="Rectangle 221">
            <a:hlinkClick r:id="rId9" action="ppaction://hlinksldjump"/>
          </p:cNvPr>
          <p:cNvSpPr/>
          <p:nvPr/>
        </p:nvSpPr>
        <p:spPr>
          <a:xfrm>
            <a:off x="137160" y="3531870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>
            <a:hlinkClick r:id="rId9" action="ppaction://hlinksldjump"/>
          </p:cNvPr>
          <p:cNvSpPr/>
          <p:nvPr/>
        </p:nvSpPr>
        <p:spPr>
          <a:xfrm>
            <a:off x="109728" y="3504438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>
            <a:hlinkClick r:id="rId9" action="ppaction://hlinksldjump"/>
          </p:cNvPr>
          <p:cNvSpPr/>
          <p:nvPr/>
        </p:nvSpPr>
        <p:spPr>
          <a:xfrm>
            <a:off x="155448" y="3597592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07</a:t>
            </a:r>
          </a:p>
        </p:txBody>
      </p:sp>
      <p:sp>
        <p:nvSpPr>
          <p:cNvPr id="225" name="TextBox 224">
            <a:hlinkClick r:id="rId9" action="ppaction://hlinksldjump"/>
          </p:cNvPr>
          <p:cNvSpPr txBox="1"/>
          <p:nvPr/>
        </p:nvSpPr>
        <p:spPr>
          <a:xfrm>
            <a:off x="530352" y="3504438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Ciclo DMS</a:t>
            </a:r>
          </a:p>
        </p:txBody>
      </p:sp>
      <p:sp>
        <p:nvSpPr>
          <p:cNvPr id="226" name="Rectangle 225">
            <a:hlinkClick r:id="rId10" action="ppaction://hlinksldjump"/>
          </p:cNvPr>
          <p:cNvSpPr/>
          <p:nvPr/>
        </p:nvSpPr>
        <p:spPr>
          <a:xfrm>
            <a:off x="137160" y="4024503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>
            <a:hlinkClick r:id="rId10" action="ppaction://hlinksldjump"/>
          </p:cNvPr>
          <p:cNvSpPr/>
          <p:nvPr/>
        </p:nvSpPr>
        <p:spPr>
          <a:xfrm>
            <a:off x="109728" y="3997071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>
            <a:hlinkClick r:id="rId10" action="ppaction://hlinksldjump"/>
          </p:cNvPr>
          <p:cNvSpPr/>
          <p:nvPr/>
        </p:nvSpPr>
        <p:spPr>
          <a:xfrm>
            <a:off x="155448" y="4090225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08</a:t>
            </a:r>
          </a:p>
        </p:txBody>
      </p:sp>
      <p:sp>
        <p:nvSpPr>
          <p:cNvPr id="229" name="TextBox 228">
            <a:hlinkClick r:id="rId10" action="ppaction://hlinksldjump"/>
          </p:cNvPr>
          <p:cNvSpPr txBox="1"/>
          <p:nvPr/>
        </p:nvSpPr>
        <p:spPr>
          <a:xfrm>
            <a:off x="530352" y="3997071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Roles</a:t>
            </a:r>
          </a:p>
        </p:txBody>
      </p:sp>
      <p:sp>
        <p:nvSpPr>
          <p:cNvPr id="230" name="Rectangle 229">
            <a:hlinkClick r:id="rId11" action="ppaction://hlinksldjump"/>
          </p:cNvPr>
          <p:cNvSpPr/>
          <p:nvPr/>
        </p:nvSpPr>
        <p:spPr>
          <a:xfrm>
            <a:off x="137160" y="4517136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>
            <a:hlinkClick r:id="rId11" action="ppaction://hlinksldjump"/>
          </p:cNvPr>
          <p:cNvSpPr/>
          <p:nvPr/>
        </p:nvSpPr>
        <p:spPr>
          <a:xfrm>
            <a:off x="109728" y="4489704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>
            <a:hlinkClick r:id="rId11" action="ppaction://hlinksldjump"/>
          </p:cNvPr>
          <p:cNvSpPr/>
          <p:nvPr/>
        </p:nvSpPr>
        <p:spPr>
          <a:xfrm>
            <a:off x="155448" y="4582858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09</a:t>
            </a:r>
          </a:p>
        </p:txBody>
      </p:sp>
      <p:sp>
        <p:nvSpPr>
          <p:cNvPr id="233" name="TextBox 232">
            <a:hlinkClick r:id="rId11" action="ppaction://hlinksldjump"/>
          </p:cNvPr>
          <p:cNvSpPr txBox="1"/>
          <p:nvPr/>
        </p:nvSpPr>
        <p:spPr>
          <a:xfrm>
            <a:off x="530352" y="4489704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Capacidad</a:t>
            </a:r>
          </a:p>
        </p:txBody>
      </p:sp>
      <p:sp>
        <p:nvSpPr>
          <p:cNvPr id="234" name="Rectangle 233">
            <a:hlinkClick r:id="rId12" action="ppaction://hlinksldjump"/>
          </p:cNvPr>
          <p:cNvSpPr/>
          <p:nvPr/>
        </p:nvSpPr>
        <p:spPr>
          <a:xfrm>
            <a:off x="137160" y="5009769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>
            <a:hlinkClick r:id="rId12" action="ppaction://hlinksldjump"/>
          </p:cNvPr>
          <p:cNvSpPr/>
          <p:nvPr/>
        </p:nvSpPr>
        <p:spPr>
          <a:xfrm>
            <a:off x="109728" y="4982337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>
            <a:hlinkClick r:id="rId12" action="ppaction://hlinksldjump"/>
          </p:cNvPr>
          <p:cNvSpPr/>
          <p:nvPr/>
        </p:nvSpPr>
        <p:spPr>
          <a:xfrm>
            <a:off x="155448" y="5075491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10</a:t>
            </a:r>
          </a:p>
        </p:txBody>
      </p:sp>
      <p:sp>
        <p:nvSpPr>
          <p:cNvPr id="237" name="TextBox 236">
            <a:hlinkClick r:id="rId12" action="ppaction://hlinksldjump"/>
          </p:cNvPr>
          <p:cNvSpPr txBox="1"/>
          <p:nvPr/>
        </p:nvSpPr>
        <p:spPr>
          <a:xfrm>
            <a:off x="530352" y="4982337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EvalProSoft</a:t>
            </a:r>
          </a:p>
        </p:txBody>
      </p:sp>
      <p:sp>
        <p:nvSpPr>
          <p:cNvPr id="238" name="Rectangle 237">
            <a:hlinkClick r:id="rId13" action="ppaction://hlinksldjump"/>
          </p:cNvPr>
          <p:cNvSpPr/>
          <p:nvPr/>
        </p:nvSpPr>
        <p:spPr>
          <a:xfrm>
            <a:off x="137160" y="550240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>
            <a:hlinkClick r:id="rId13" action="ppaction://hlinksldjump"/>
          </p:cNvPr>
          <p:cNvSpPr/>
          <p:nvPr/>
        </p:nvSpPr>
        <p:spPr>
          <a:xfrm>
            <a:off x="109728" y="547497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>
            <a:hlinkClick r:id="rId13" action="ppaction://hlinksldjump"/>
          </p:cNvPr>
          <p:cNvSpPr/>
          <p:nvPr/>
        </p:nvSpPr>
        <p:spPr>
          <a:xfrm>
            <a:off x="155448" y="556812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11</a:t>
            </a:r>
          </a:p>
        </p:txBody>
      </p:sp>
      <p:sp>
        <p:nvSpPr>
          <p:cNvPr id="241" name="TextBox 240">
            <a:hlinkClick r:id="rId13" action="ppaction://hlinksldjump"/>
          </p:cNvPr>
          <p:cNvSpPr txBox="1"/>
          <p:nvPr/>
        </p:nvSpPr>
        <p:spPr>
          <a:xfrm>
            <a:off x="530352" y="547497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Modelos</a:t>
            </a:r>
          </a:p>
        </p:txBody>
      </p:sp>
      <p:sp>
        <p:nvSpPr>
          <p:cNvPr id="242" name="Rectangle 241">
            <a:hlinkClick r:id="rId14" action="ppaction://hlinksldjump"/>
          </p:cNvPr>
          <p:cNvSpPr/>
          <p:nvPr/>
        </p:nvSpPr>
        <p:spPr>
          <a:xfrm>
            <a:off x="137160" y="599503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>
            <a:hlinkClick r:id="rId14" action="ppaction://hlinksldjump"/>
          </p:cNvPr>
          <p:cNvSpPr/>
          <p:nvPr/>
        </p:nvSpPr>
        <p:spPr>
          <a:xfrm>
            <a:off x="109728" y="596760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>
            <a:hlinkClick r:id="rId14" action="ppaction://hlinksldjump"/>
          </p:cNvPr>
          <p:cNvSpPr/>
          <p:nvPr/>
        </p:nvSpPr>
        <p:spPr>
          <a:xfrm>
            <a:off x="155448" y="606075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12</a:t>
            </a:r>
          </a:p>
        </p:txBody>
      </p:sp>
      <p:sp>
        <p:nvSpPr>
          <p:cNvPr id="245" name="TextBox 244">
            <a:hlinkClick r:id="rId14" action="ppaction://hlinksldjump"/>
          </p:cNvPr>
          <p:cNvSpPr txBox="1"/>
          <p:nvPr/>
        </p:nvSpPr>
        <p:spPr>
          <a:xfrm>
            <a:off x="530352" y="596760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Glosario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404872" y="210312"/>
            <a:ext cx="9723119" cy="578815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2340864" y="146304"/>
            <a:ext cx="9723119" cy="5788151"/>
          </a:xfrm>
          <a:prstGeom prst="rect">
            <a:avLst/>
          </a:prstGeom>
          <a:solidFill>
            <a:srgbClr val="FFFFFF"/>
          </a:solidFill>
          <a:ln w="317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2450592" y="256032"/>
            <a:ext cx="9503663" cy="56692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2505456" y="256032"/>
            <a:ext cx="530352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📜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054096" y="256032"/>
            <a:ext cx="8790431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5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NIVEL 1: ¿Qué es MoProSoft?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2578608" y="950976"/>
            <a:ext cx="3033775" cy="868680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2542032" y="914400"/>
            <a:ext cx="3033775" cy="868680"/>
          </a:xfrm>
          <a:prstGeom prst="rect">
            <a:avLst/>
          </a:prstGeom>
          <a:solidFill>
            <a:srgbClr val="7FA8D6"/>
          </a:solidFill>
          <a:ln w="22225">
            <a:solidFill>
              <a:srgbClr val="4A2027"/>
            </a:solidFill>
          </a:ln>
          <a:effectLst/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s-MX" sz="16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MO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2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Modelo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722111" y="950976"/>
            <a:ext cx="3033775" cy="868680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5685535" y="914400"/>
            <a:ext cx="3033775" cy="868680"/>
          </a:xfrm>
          <a:prstGeom prst="rect">
            <a:avLst/>
          </a:prstGeom>
          <a:solidFill>
            <a:srgbClr val="7FA8D6"/>
          </a:solidFill>
          <a:ln w="22225">
            <a:solidFill>
              <a:srgbClr val="4A2027"/>
            </a:solidFill>
          </a:ln>
          <a:effectLst/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s-MX" sz="16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PRO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2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Procesos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8865615" y="950976"/>
            <a:ext cx="3033775" cy="868680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8829039" y="914400"/>
            <a:ext cx="3033775" cy="868680"/>
          </a:xfrm>
          <a:prstGeom prst="rect">
            <a:avLst/>
          </a:prstGeom>
          <a:solidFill>
            <a:srgbClr val="7FA8D6"/>
          </a:solidFill>
          <a:ln w="22225">
            <a:solidFill>
              <a:srgbClr val="4A2027"/>
            </a:solidFill>
          </a:ln>
          <a:effectLst/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s-MX" sz="16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SOFT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2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Software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2542032" y="1856231"/>
            <a:ext cx="9320783" cy="713232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MoProSoft = Modelo de Procesos para la Industria del Software. Es un modelo mexicano para mejorar y evaluar los procesos de desarrollo y mantenimiento de software, pensado para empresas pequeñas.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2587752" y="2688335"/>
            <a:ext cx="9320783" cy="59253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2542032" y="2642615"/>
            <a:ext cx="9320783" cy="592531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18288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Creado por Hanna Oktaba y su equipo en la Facultad de Ciencias de la UNAM.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2587752" y="3335731"/>
            <a:ext cx="9320783" cy="59253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ctangle 260"/>
          <p:cNvSpPr/>
          <p:nvPr/>
        </p:nvSpPr>
        <p:spPr>
          <a:xfrm>
            <a:off x="2542032" y="3290011"/>
            <a:ext cx="9320783" cy="592531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18288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Impulsado por la Secretaría de Economía dentro del programa PROSOFT.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587752" y="3983126"/>
            <a:ext cx="9320783" cy="59253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2542032" y="3937406"/>
            <a:ext cx="9320783" cy="592531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18288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Con apoyo de la Asociación Mexicana para la Calidad en Ingeniería de Software (AMCIS).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587752" y="4630521"/>
            <a:ext cx="9320783" cy="59253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2542032" y="4584801"/>
            <a:ext cx="9320783" cy="592531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18288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Norma mexicana NMX-I-059-NYCE-2005, publicada en el DOF el 15 de agosto de 2005.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2587752" y="5277916"/>
            <a:ext cx="9320783" cy="59253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2542032" y="5232196"/>
            <a:ext cx="9320783" cy="592531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18288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El nombre correcto es MoProSoft; "MaProSoft" es una variante de escritura.</a:t>
            </a:r>
          </a:p>
        </p:txBody>
      </p:sp>
      <p:sp>
        <p:nvSpPr>
          <p:cNvPr id="268" name="Rectangle 267">
            <a:hlinkClick r:id="rId2" action="ppaction://hlinksldjump"/>
          </p:cNvPr>
          <p:cNvSpPr/>
          <p:nvPr/>
        </p:nvSpPr>
        <p:spPr>
          <a:xfrm>
            <a:off x="2391156" y="6057899"/>
            <a:ext cx="481583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>
            <a:hlinkClick r:id="rId2" action="ppaction://hlinksldjump"/>
          </p:cNvPr>
          <p:cNvSpPr/>
          <p:nvPr/>
        </p:nvSpPr>
        <p:spPr>
          <a:xfrm>
            <a:off x="2340864" y="6007607"/>
            <a:ext cx="481583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INDICE</a:t>
            </a:r>
          </a:p>
        </p:txBody>
      </p:sp>
      <p:sp>
        <p:nvSpPr>
          <p:cNvPr id="270" name="Rectangle 269">
            <a:hlinkClick r:id="rId4" action="ppaction://hlinksldjump"/>
          </p:cNvPr>
          <p:cNvSpPr/>
          <p:nvPr/>
        </p:nvSpPr>
        <p:spPr>
          <a:xfrm>
            <a:off x="7298435" y="6057899"/>
            <a:ext cx="481583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270">
            <a:hlinkClick r:id="rId4" action="ppaction://hlinksldjump"/>
          </p:cNvPr>
          <p:cNvSpPr/>
          <p:nvPr/>
        </p:nvSpPr>
        <p:spPr>
          <a:xfrm>
            <a:off x="7248143" y="6007607"/>
            <a:ext cx="4815839" cy="420624"/>
          </a:xfrm>
          <a:prstGeom prst="rect">
            <a:avLst/>
          </a:prstGeom>
          <a:solidFill>
            <a:srgbClr val="7FA8D6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SIGUIENTE 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214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0817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3619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420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9222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4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4825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7627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042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3230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8833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163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4436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7238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284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5643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8444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1246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6849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9651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2452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525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8056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0857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3659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6460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9262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20639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4865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7667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0468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32703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6071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8873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16751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4476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72783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79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28815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65683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784847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1286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040879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6889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96911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424927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5294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68095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80897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36991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6500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9302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32103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449055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7707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050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3310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96112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08913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2171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34516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47318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0120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7292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85723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98524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11326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2412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36929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49731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62532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7533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88136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100937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13739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26540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139342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52144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64945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77747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90548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203350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2161520" y="0"/>
            <a:ext cx="30479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2801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5603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8404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1206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4008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6809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9611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02412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5214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28016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40817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53619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66420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79222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92024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04825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17627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3042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43230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56032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8833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8163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94436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238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20040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3284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45643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58444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71246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8404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96849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409651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22452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3525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48056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60857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73659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86460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499262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120639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24865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37667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50468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5632703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76071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88873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016751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14476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272783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40079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528815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65683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7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91286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040879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16889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7296911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424927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55294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68095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80897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936991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06500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19302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32103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449055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57707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7050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83310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96112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08913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2171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34516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47318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960120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97292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985723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98524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11326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02412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036929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49731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062532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07533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088136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100937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113739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126540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1139342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1152144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1164945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1177747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1190548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1203350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2161520" y="6501383"/>
            <a:ext cx="30479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201168" y="6565392"/>
            <a:ext cx="786384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DIAP. 04  ·  NIVEL 2/12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74479" y="6565392"/>
            <a:ext cx="278892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HECHO POR RUM</a:t>
            </a:r>
          </a:p>
        </p:txBody>
      </p:sp>
      <p:sp>
        <p:nvSpPr>
          <p:cNvPr id="197" name="Rectangle 196">
            <a:hlinkClick r:id="rId2" action="ppaction://hlinksldjump"/>
          </p:cNvPr>
          <p:cNvSpPr/>
          <p:nvPr/>
        </p:nvSpPr>
        <p:spPr>
          <a:xfrm>
            <a:off x="109728" y="128016"/>
            <a:ext cx="2139696" cy="365760"/>
          </a:xfrm>
          <a:prstGeom prst="rect">
            <a:avLst/>
          </a:prstGeom>
          <a:solidFill>
            <a:srgbClr val="4A2027"/>
          </a:solidFill>
          <a:ln w="25400">
            <a:solidFill>
              <a:srgbClr val="FFFFFF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MAPA</a:t>
            </a:r>
          </a:p>
        </p:txBody>
      </p:sp>
      <p:sp>
        <p:nvSpPr>
          <p:cNvPr id="198" name="Rectangle 197">
            <a:hlinkClick r:id="rId3" action="ppaction://hlinksldjump"/>
          </p:cNvPr>
          <p:cNvSpPr/>
          <p:nvPr/>
        </p:nvSpPr>
        <p:spPr>
          <a:xfrm>
            <a:off x="137160" y="57607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>
            <a:hlinkClick r:id="rId3" action="ppaction://hlinksldjump"/>
          </p:cNvPr>
          <p:cNvSpPr/>
          <p:nvPr/>
        </p:nvSpPr>
        <p:spPr>
          <a:xfrm>
            <a:off x="109728" y="54864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>
            <a:hlinkClick r:id="rId3" action="ppaction://hlinksldjump"/>
          </p:cNvPr>
          <p:cNvSpPr/>
          <p:nvPr/>
        </p:nvSpPr>
        <p:spPr>
          <a:xfrm>
            <a:off x="155448" y="64179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</p:txBody>
      </p:sp>
      <p:sp>
        <p:nvSpPr>
          <p:cNvPr id="201" name="TextBox 200">
            <a:hlinkClick r:id="rId3" action="ppaction://hlinksldjump"/>
          </p:cNvPr>
          <p:cNvSpPr txBox="1"/>
          <p:nvPr/>
        </p:nvSpPr>
        <p:spPr>
          <a:xfrm>
            <a:off x="530352" y="54864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¿Qué es?</a:t>
            </a:r>
          </a:p>
        </p:txBody>
      </p:sp>
      <p:sp>
        <p:nvSpPr>
          <p:cNvPr id="202" name="Rectangle 201">
            <a:hlinkClick r:id="rId4" action="ppaction://hlinksldjump"/>
          </p:cNvPr>
          <p:cNvSpPr/>
          <p:nvPr/>
        </p:nvSpPr>
        <p:spPr>
          <a:xfrm>
            <a:off x="137160" y="106870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>
            <a:hlinkClick r:id="rId4" action="ppaction://hlinksldjump"/>
          </p:cNvPr>
          <p:cNvSpPr/>
          <p:nvPr/>
        </p:nvSpPr>
        <p:spPr>
          <a:xfrm>
            <a:off x="109728" y="1041273"/>
            <a:ext cx="2139696" cy="460629"/>
          </a:xfrm>
          <a:prstGeom prst="rect">
            <a:avLst/>
          </a:prstGeom>
          <a:solidFill>
            <a:srgbClr val="9B6B72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>
            <a:hlinkClick r:id="rId4" action="ppaction://hlinksldjump"/>
          </p:cNvPr>
          <p:cNvSpPr/>
          <p:nvPr/>
        </p:nvSpPr>
        <p:spPr>
          <a:xfrm>
            <a:off x="155448" y="1134427"/>
            <a:ext cx="329184" cy="274320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</p:txBody>
      </p:sp>
      <p:sp>
        <p:nvSpPr>
          <p:cNvPr id="205" name="TextBox 204">
            <a:hlinkClick r:id="rId4" action="ppaction://hlinksldjump"/>
          </p:cNvPr>
          <p:cNvSpPr txBox="1"/>
          <p:nvPr/>
        </p:nvSpPr>
        <p:spPr>
          <a:xfrm>
            <a:off x="530352" y="104127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Historia</a:t>
            </a:r>
          </a:p>
        </p:txBody>
      </p:sp>
      <p:sp>
        <p:nvSpPr>
          <p:cNvPr id="206" name="Rectangle 205">
            <a:hlinkClick r:id="rId5" action="ppaction://hlinksldjump"/>
          </p:cNvPr>
          <p:cNvSpPr/>
          <p:nvPr/>
        </p:nvSpPr>
        <p:spPr>
          <a:xfrm>
            <a:off x="137160" y="1561338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>
            <a:hlinkClick r:id="rId5" action="ppaction://hlinksldjump"/>
          </p:cNvPr>
          <p:cNvSpPr/>
          <p:nvPr/>
        </p:nvSpPr>
        <p:spPr>
          <a:xfrm>
            <a:off x="109728" y="1533906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>
            <a:hlinkClick r:id="rId5" action="ppaction://hlinksldjump"/>
          </p:cNvPr>
          <p:cNvSpPr/>
          <p:nvPr/>
        </p:nvSpPr>
        <p:spPr>
          <a:xfrm>
            <a:off x="155448" y="1627060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</p:txBody>
      </p:sp>
      <p:sp>
        <p:nvSpPr>
          <p:cNvPr id="209" name="TextBox 208">
            <a:hlinkClick r:id="rId5" action="ppaction://hlinksldjump"/>
          </p:cNvPr>
          <p:cNvSpPr txBox="1"/>
          <p:nvPr/>
        </p:nvSpPr>
        <p:spPr>
          <a:xfrm>
            <a:off x="530352" y="1533906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Objetivos</a:t>
            </a:r>
          </a:p>
        </p:txBody>
      </p:sp>
      <p:sp>
        <p:nvSpPr>
          <p:cNvPr id="210" name="Rectangle 209">
            <a:hlinkClick r:id="rId6" action="ppaction://hlinksldjump"/>
          </p:cNvPr>
          <p:cNvSpPr/>
          <p:nvPr/>
        </p:nvSpPr>
        <p:spPr>
          <a:xfrm>
            <a:off x="137160" y="2053971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>
            <a:hlinkClick r:id="rId6" action="ppaction://hlinksldjump"/>
          </p:cNvPr>
          <p:cNvSpPr/>
          <p:nvPr/>
        </p:nvSpPr>
        <p:spPr>
          <a:xfrm>
            <a:off x="109728" y="2026539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>
            <a:hlinkClick r:id="rId6" action="ppaction://hlinksldjump"/>
          </p:cNvPr>
          <p:cNvSpPr/>
          <p:nvPr/>
        </p:nvSpPr>
        <p:spPr>
          <a:xfrm>
            <a:off x="155448" y="2119693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</p:txBody>
      </p:sp>
      <p:sp>
        <p:nvSpPr>
          <p:cNvPr id="213" name="TextBox 212">
            <a:hlinkClick r:id="rId6" action="ppaction://hlinksldjump"/>
          </p:cNvPr>
          <p:cNvSpPr txBox="1"/>
          <p:nvPr/>
        </p:nvSpPr>
        <p:spPr>
          <a:xfrm>
            <a:off x="530352" y="2026539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Estructura</a:t>
            </a:r>
          </a:p>
        </p:txBody>
      </p:sp>
      <p:sp>
        <p:nvSpPr>
          <p:cNvPr id="214" name="Rectangle 213">
            <a:hlinkClick r:id="rId7" action="ppaction://hlinksldjump"/>
          </p:cNvPr>
          <p:cNvSpPr/>
          <p:nvPr/>
        </p:nvSpPr>
        <p:spPr>
          <a:xfrm>
            <a:off x="137160" y="2546604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>
            <a:hlinkClick r:id="rId7" action="ppaction://hlinksldjump"/>
          </p:cNvPr>
          <p:cNvSpPr/>
          <p:nvPr/>
        </p:nvSpPr>
        <p:spPr>
          <a:xfrm>
            <a:off x="109728" y="2519172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>
            <a:hlinkClick r:id="rId7" action="ppaction://hlinksldjump"/>
          </p:cNvPr>
          <p:cNvSpPr/>
          <p:nvPr/>
        </p:nvSpPr>
        <p:spPr>
          <a:xfrm>
            <a:off x="155448" y="2612326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05</a:t>
            </a:r>
          </a:p>
        </p:txBody>
      </p:sp>
      <p:sp>
        <p:nvSpPr>
          <p:cNvPr id="217" name="TextBox 216">
            <a:hlinkClick r:id="rId7" action="ppaction://hlinksldjump"/>
          </p:cNvPr>
          <p:cNvSpPr txBox="1"/>
          <p:nvPr/>
        </p:nvSpPr>
        <p:spPr>
          <a:xfrm>
            <a:off x="530352" y="2519172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9 procesos</a:t>
            </a:r>
          </a:p>
        </p:txBody>
      </p:sp>
      <p:sp>
        <p:nvSpPr>
          <p:cNvPr id="218" name="Rectangle 217">
            <a:hlinkClick r:id="rId8" action="ppaction://hlinksldjump"/>
          </p:cNvPr>
          <p:cNvSpPr/>
          <p:nvPr/>
        </p:nvSpPr>
        <p:spPr>
          <a:xfrm>
            <a:off x="137160" y="3039237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hlinkClick r:id="rId8" action="ppaction://hlinksldjump"/>
          </p:cNvPr>
          <p:cNvSpPr/>
          <p:nvPr/>
        </p:nvSpPr>
        <p:spPr>
          <a:xfrm>
            <a:off x="109728" y="3011805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>
            <a:hlinkClick r:id="rId8" action="ppaction://hlinksldjump"/>
          </p:cNvPr>
          <p:cNvSpPr/>
          <p:nvPr/>
        </p:nvSpPr>
        <p:spPr>
          <a:xfrm>
            <a:off x="155448" y="3104959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06</a:t>
            </a:r>
          </a:p>
        </p:txBody>
      </p:sp>
      <p:sp>
        <p:nvSpPr>
          <p:cNvPr id="221" name="TextBox 220">
            <a:hlinkClick r:id="rId8" action="ppaction://hlinksldjump"/>
          </p:cNvPr>
          <p:cNvSpPr txBox="1"/>
          <p:nvPr/>
        </p:nvSpPr>
        <p:spPr>
          <a:xfrm>
            <a:off x="530352" y="3011805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Anatomía</a:t>
            </a:r>
          </a:p>
        </p:txBody>
      </p:sp>
      <p:sp>
        <p:nvSpPr>
          <p:cNvPr id="222" name="Rectangle 221">
            <a:hlinkClick r:id="rId9" action="ppaction://hlinksldjump"/>
          </p:cNvPr>
          <p:cNvSpPr/>
          <p:nvPr/>
        </p:nvSpPr>
        <p:spPr>
          <a:xfrm>
            <a:off x="137160" y="3531870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>
            <a:hlinkClick r:id="rId9" action="ppaction://hlinksldjump"/>
          </p:cNvPr>
          <p:cNvSpPr/>
          <p:nvPr/>
        </p:nvSpPr>
        <p:spPr>
          <a:xfrm>
            <a:off x="109728" y="3504438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>
            <a:hlinkClick r:id="rId9" action="ppaction://hlinksldjump"/>
          </p:cNvPr>
          <p:cNvSpPr/>
          <p:nvPr/>
        </p:nvSpPr>
        <p:spPr>
          <a:xfrm>
            <a:off x="155448" y="3597592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07</a:t>
            </a:r>
          </a:p>
        </p:txBody>
      </p:sp>
      <p:sp>
        <p:nvSpPr>
          <p:cNvPr id="225" name="TextBox 224">
            <a:hlinkClick r:id="rId9" action="ppaction://hlinksldjump"/>
          </p:cNvPr>
          <p:cNvSpPr txBox="1"/>
          <p:nvPr/>
        </p:nvSpPr>
        <p:spPr>
          <a:xfrm>
            <a:off x="530352" y="3504438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Ciclo DMS</a:t>
            </a:r>
          </a:p>
        </p:txBody>
      </p:sp>
      <p:sp>
        <p:nvSpPr>
          <p:cNvPr id="226" name="Rectangle 225">
            <a:hlinkClick r:id="rId10" action="ppaction://hlinksldjump"/>
          </p:cNvPr>
          <p:cNvSpPr/>
          <p:nvPr/>
        </p:nvSpPr>
        <p:spPr>
          <a:xfrm>
            <a:off x="137160" y="4024503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>
            <a:hlinkClick r:id="rId10" action="ppaction://hlinksldjump"/>
          </p:cNvPr>
          <p:cNvSpPr/>
          <p:nvPr/>
        </p:nvSpPr>
        <p:spPr>
          <a:xfrm>
            <a:off x="109728" y="3997071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>
            <a:hlinkClick r:id="rId10" action="ppaction://hlinksldjump"/>
          </p:cNvPr>
          <p:cNvSpPr/>
          <p:nvPr/>
        </p:nvSpPr>
        <p:spPr>
          <a:xfrm>
            <a:off x="155448" y="4090225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08</a:t>
            </a:r>
          </a:p>
        </p:txBody>
      </p:sp>
      <p:sp>
        <p:nvSpPr>
          <p:cNvPr id="229" name="TextBox 228">
            <a:hlinkClick r:id="rId10" action="ppaction://hlinksldjump"/>
          </p:cNvPr>
          <p:cNvSpPr txBox="1"/>
          <p:nvPr/>
        </p:nvSpPr>
        <p:spPr>
          <a:xfrm>
            <a:off x="530352" y="3997071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Roles</a:t>
            </a:r>
          </a:p>
        </p:txBody>
      </p:sp>
      <p:sp>
        <p:nvSpPr>
          <p:cNvPr id="230" name="Rectangle 229">
            <a:hlinkClick r:id="rId11" action="ppaction://hlinksldjump"/>
          </p:cNvPr>
          <p:cNvSpPr/>
          <p:nvPr/>
        </p:nvSpPr>
        <p:spPr>
          <a:xfrm>
            <a:off x="137160" y="4517136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>
            <a:hlinkClick r:id="rId11" action="ppaction://hlinksldjump"/>
          </p:cNvPr>
          <p:cNvSpPr/>
          <p:nvPr/>
        </p:nvSpPr>
        <p:spPr>
          <a:xfrm>
            <a:off x="109728" y="4489704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>
            <a:hlinkClick r:id="rId11" action="ppaction://hlinksldjump"/>
          </p:cNvPr>
          <p:cNvSpPr/>
          <p:nvPr/>
        </p:nvSpPr>
        <p:spPr>
          <a:xfrm>
            <a:off x="155448" y="4582858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09</a:t>
            </a:r>
          </a:p>
        </p:txBody>
      </p:sp>
      <p:sp>
        <p:nvSpPr>
          <p:cNvPr id="233" name="TextBox 232">
            <a:hlinkClick r:id="rId11" action="ppaction://hlinksldjump"/>
          </p:cNvPr>
          <p:cNvSpPr txBox="1"/>
          <p:nvPr/>
        </p:nvSpPr>
        <p:spPr>
          <a:xfrm>
            <a:off x="530352" y="4489704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Capacidad</a:t>
            </a:r>
          </a:p>
        </p:txBody>
      </p:sp>
      <p:sp>
        <p:nvSpPr>
          <p:cNvPr id="234" name="Rectangle 233">
            <a:hlinkClick r:id="rId12" action="ppaction://hlinksldjump"/>
          </p:cNvPr>
          <p:cNvSpPr/>
          <p:nvPr/>
        </p:nvSpPr>
        <p:spPr>
          <a:xfrm>
            <a:off x="137160" y="5009769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>
            <a:hlinkClick r:id="rId12" action="ppaction://hlinksldjump"/>
          </p:cNvPr>
          <p:cNvSpPr/>
          <p:nvPr/>
        </p:nvSpPr>
        <p:spPr>
          <a:xfrm>
            <a:off x="109728" y="4982337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>
            <a:hlinkClick r:id="rId12" action="ppaction://hlinksldjump"/>
          </p:cNvPr>
          <p:cNvSpPr/>
          <p:nvPr/>
        </p:nvSpPr>
        <p:spPr>
          <a:xfrm>
            <a:off x="155448" y="5075491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10</a:t>
            </a:r>
          </a:p>
        </p:txBody>
      </p:sp>
      <p:sp>
        <p:nvSpPr>
          <p:cNvPr id="237" name="TextBox 236">
            <a:hlinkClick r:id="rId12" action="ppaction://hlinksldjump"/>
          </p:cNvPr>
          <p:cNvSpPr txBox="1"/>
          <p:nvPr/>
        </p:nvSpPr>
        <p:spPr>
          <a:xfrm>
            <a:off x="530352" y="4982337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EvalProSoft</a:t>
            </a:r>
          </a:p>
        </p:txBody>
      </p:sp>
      <p:sp>
        <p:nvSpPr>
          <p:cNvPr id="238" name="Rectangle 237">
            <a:hlinkClick r:id="rId13" action="ppaction://hlinksldjump"/>
          </p:cNvPr>
          <p:cNvSpPr/>
          <p:nvPr/>
        </p:nvSpPr>
        <p:spPr>
          <a:xfrm>
            <a:off x="137160" y="550240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>
            <a:hlinkClick r:id="rId13" action="ppaction://hlinksldjump"/>
          </p:cNvPr>
          <p:cNvSpPr/>
          <p:nvPr/>
        </p:nvSpPr>
        <p:spPr>
          <a:xfrm>
            <a:off x="109728" y="547497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>
            <a:hlinkClick r:id="rId13" action="ppaction://hlinksldjump"/>
          </p:cNvPr>
          <p:cNvSpPr/>
          <p:nvPr/>
        </p:nvSpPr>
        <p:spPr>
          <a:xfrm>
            <a:off x="155448" y="556812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11</a:t>
            </a:r>
          </a:p>
        </p:txBody>
      </p:sp>
      <p:sp>
        <p:nvSpPr>
          <p:cNvPr id="241" name="TextBox 240">
            <a:hlinkClick r:id="rId13" action="ppaction://hlinksldjump"/>
          </p:cNvPr>
          <p:cNvSpPr txBox="1"/>
          <p:nvPr/>
        </p:nvSpPr>
        <p:spPr>
          <a:xfrm>
            <a:off x="530352" y="547497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Modelos</a:t>
            </a:r>
          </a:p>
        </p:txBody>
      </p:sp>
      <p:sp>
        <p:nvSpPr>
          <p:cNvPr id="242" name="Rectangle 241">
            <a:hlinkClick r:id="rId14" action="ppaction://hlinksldjump"/>
          </p:cNvPr>
          <p:cNvSpPr/>
          <p:nvPr/>
        </p:nvSpPr>
        <p:spPr>
          <a:xfrm>
            <a:off x="137160" y="599503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>
            <a:hlinkClick r:id="rId14" action="ppaction://hlinksldjump"/>
          </p:cNvPr>
          <p:cNvSpPr/>
          <p:nvPr/>
        </p:nvSpPr>
        <p:spPr>
          <a:xfrm>
            <a:off x="109728" y="596760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>
            <a:hlinkClick r:id="rId14" action="ppaction://hlinksldjump"/>
          </p:cNvPr>
          <p:cNvSpPr/>
          <p:nvPr/>
        </p:nvSpPr>
        <p:spPr>
          <a:xfrm>
            <a:off x="155448" y="606075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12</a:t>
            </a:r>
          </a:p>
        </p:txBody>
      </p:sp>
      <p:sp>
        <p:nvSpPr>
          <p:cNvPr id="245" name="TextBox 244">
            <a:hlinkClick r:id="rId14" action="ppaction://hlinksldjump"/>
          </p:cNvPr>
          <p:cNvSpPr txBox="1"/>
          <p:nvPr/>
        </p:nvSpPr>
        <p:spPr>
          <a:xfrm>
            <a:off x="530352" y="596760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Glosario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404872" y="210312"/>
            <a:ext cx="9723119" cy="578815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2340864" y="146304"/>
            <a:ext cx="9723119" cy="5788151"/>
          </a:xfrm>
          <a:prstGeom prst="rect">
            <a:avLst/>
          </a:prstGeom>
          <a:solidFill>
            <a:srgbClr val="FFFFFF"/>
          </a:solidFill>
          <a:ln w="317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2450592" y="256032"/>
            <a:ext cx="9503663" cy="56692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2505456" y="256032"/>
            <a:ext cx="530352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🕰️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054096" y="256032"/>
            <a:ext cx="8790431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5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NIVEL 2: Contexto e historia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2587752" y="960120"/>
            <a:ext cx="9320783" cy="1172717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2542032" y="914400"/>
            <a:ext cx="9320783" cy="1172717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2633472" y="1281303"/>
            <a:ext cx="640080" cy="438912"/>
          </a:xfrm>
          <a:prstGeom prst="rect">
            <a:avLst/>
          </a:prstGeom>
          <a:solidFill>
            <a:srgbClr val="7FA8D6"/>
          </a:solidFill>
          <a:ln w="19050">
            <a:solidFill>
              <a:srgbClr val="4A2027"/>
            </a:solidFill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2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3410712" y="969264"/>
            <a:ext cx="8269223" cy="310896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PROSOFT (2002)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410712" y="1280160"/>
            <a:ext cx="8269223" cy="733805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Programa federal para elevar la competitividad de la industria mexicana del software.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2587752" y="2205989"/>
            <a:ext cx="9320783" cy="1172717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ctangle 256"/>
          <p:cNvSpPr/>
          <p:nvPr/>
        </p:nvSpPr>
        <p:spPr>
          <a:xfrm>
            <a:off x="2542032" y="2160270"/>
            <a:ext cx="9320783" cy="1172717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2633472" y="2527173"/>
            <a:ext cx="640080" cy="438912"/>
          </a:xfrm>
          <a:prstGeom prst="rect">
            <a:avLst/>
          </a:prstGeom>
          <a:solidFill>
            <a:srgbClr val="7FA8D6"/>
          </a:solidFill>
          <a:ln w="19050">
            <a:solidFill>
              <a:srgbClr val="4A2027"/>
            </a:solidFill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2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3410712" y="2215134"/>
            <a:ext cx="8269223" cy="310896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Problema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3410712" y="2526029"/>
            <a:ext cx="8269223" cy="733805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Modelos como CMMI eran costosos y complejos para empresas de pocas personas.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587752" y="3451859"/>
            <a:ext cx="9320783" cy="1172717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2542032" y="3406139"/>
            <a:ext cx="9320783" cy="1172717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2633472" y="3773043"/>
            <a:ext cx="640080" cy="438912"/>
          </a:xfrm>
          <a:prstGeom prst="rect">
            <a:avLst/>
          </a:prstGeom>
          <a:solidFill>
            <a:srgbClr val="7FA8D6"/>
          </a:solidFill>
          <a:ln w="19050">
            <a:solidFill>
              <a:srgbClr val="4A2027"/>
            </a:solidFill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2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3410712" y="3461003"/>
            <a:ext cx="8269223" cy="310896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2002-2005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3410712" y="3771900"/>
            <a:ext cx="8269223" cy="733805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Diseño del modelo, pruebas piloto en empresas y publicación de la norma.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2587752" y="4697729"/>
            <a:ext cx="9320783" cy="1172717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2542032" y="4652009"/>
            <a:ext cx="9320783" cy="1172717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2633472" y="5018913"/>
            <a:ext cx="640080" cy="438912"/>
          </a:xfrm>
          <a:prstGeom prst="rect">
            <a:avLst/>
          </a:prstGeom>
          <a:solidFill>
            <a:srgbClr val="7FA8D6"/>
          </a:solidFill>
          <a:ln w="19050">
            <a:solidFill>
              <a:srgbClr val="4A2027"/>
            </a:solidFill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2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3410712" y="4706873"/>
            <a:ext cx="8269223" cy="310896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Después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3410712" y="5017770"/>
            <a:ext cx="8269223" cy="733805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Sus ideas alimentaron COMPETISOFT (proyecto iberoamericano) y la norma internacional ISO/IEC 29110 para entidades muy pequeñas.</a:t>
            </a:r>
          </a:p>
        </p:txBody>
      </p:sp>
      <p:sp>
        <p:nvSpPr>
          <p:cNvPr id="271" name="Rectangle 270">
            <a:hlinkClick r:id="rId2" action="ppaction://hlinksldjump"/>
          </p:cNvPr>
          <p:cNvSpPr/>
          <p:nvPr/>
        </p:nvSpPr>
        <p:spPr>
          <a:xfrm>
            <a:off x="2391156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Rectangle 271">
            <a:hlinkClick r:id="rId2" action="ppaction://hlinksldjump"/>
          </p:cNvPr>
          <p:cNvSpPr/>
          <p:nvPr/>
        </p:nvSpPr>
        <p:spPr>
          <a:xfrm>
            <a:off x="2340864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INDICE</a:t>
            </a:r>
          </a:p>
        </p:txBody>
      </p:sp>
      <p:sp>
        <p:nvSpPr>
          <p:cNvPr id="273" name="Rectangle 272">
            <a:hlinkClick r:id="rId3" action="ppaction://hlinksldjump"/>
          </p:cNvPr>
          <p:cNvSpPr/>
          <p:nvPr/>
        </p:nvSpPr>
        <p:spPr>
          <a:xfrm>
            <a:off x="566267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Rectangle 273">
            <a:hlinkClick r:id="rId3" action="ppaction://hlinksldjump"/>
          </p:cNvPr>
          <p:cNvSpPr/>
          <p:nvPr/>
        </p:nvSpPr>
        <p:spPr>
          <a:xfrm>
            <a:off x="5612383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◀ ANTERIOR</a:t>
            </a:r>
          </a:p>
        </p:txBody>
      </p:sp>
      <p:sp>
        <p:nvSpPr>
          <p:cNvPr id="275" name="Rectangle 274">
            <a:hlinkClick r:id="rId5" action="ppaction://hlinksldjump"/>
          </p:cNvPr>
          <p:cNvSpPr/>
          <p:nvPr/>
        </p:nvSpPr>
        <p:spPr>
          <a:xfrm>
            <a:off x="893419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Rectangle 275">
            <a:hlinkClick r:id="rId5" action="ppaction://hlinksldjump"/>
          </p:cNvPr>
          <p:cNvSpPr/>
          <p:nvPr/>
        </p:nvSpPr>
        <p:spPr>
          <a:xfrm>
            <a:off x="8883903" y="6007607"/>
            <a:ext cx="3180079" cy="420624"/>
          </a:xfrm>
          <a:prstGeom prst="rect">
            <a:avLst/>
          </a:prstGeom>
          <a:solidFill>
            <a:srgbClr val="7FA8D6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SIGUIENTE 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214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0817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3619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420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9222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4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4825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7627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042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3230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8833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163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4436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7238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284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5643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8444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1246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6849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9651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2452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525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8056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0857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3659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6460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9262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20639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4865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7667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0468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32703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6071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8873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16751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4476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72783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79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28815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65683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784847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1286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040879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6889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96911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424927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5294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68095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80897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36991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6500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9302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32103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449055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7707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050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3310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96112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08913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2171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34516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47318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0120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7292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85723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98524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11326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2412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36929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49731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62532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7533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88136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100937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13739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26540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139342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52144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64945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77747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90548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203350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2161520" y="0"/>
            <a:ext cx="30479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2801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5603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8404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1206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4008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6809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9611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02412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5214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28016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40817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53619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66420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79222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92024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04825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17627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3042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43230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56032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8833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8163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94436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238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20040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3284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45643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58444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71246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8404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96849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409651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22452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3525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48056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60857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73659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86460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499262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120639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24865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37667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50468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5632703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76071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88873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016751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14476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272783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40079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528815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65683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7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91286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040879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16889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7296911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424927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55294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68095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80897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936991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06500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19302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32103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449055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57707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7050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83310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96112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08913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2171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34516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47318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960120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97292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985723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98524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11326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02412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036929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49731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062532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07533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088136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100937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113739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126540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1139342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1152144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1164945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1177747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1190548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1203350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2161520" y="6501383"/>
            <a:ext cx="30479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201168" y="6565392"/>
            <a:ext cx="786384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DIAP. 05  ·  NIVEL 3/12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74479" y="6565392"/>
            <a:ext cx="278892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HECHO POR RUM</a:t>
            </a:r>
          </a:p>
        </p:txBody>
      </p:sp>
      <p:sp>
        <p:nvSpPr>
          <p:cNvPr id="197" name="Rectangle 196">
            <a:hlinkClick r:id="rId2" action="ppaction://hlinksldjump"/>
          </p:cNvPr>
          <p:cNvSpPr/>
          <p:nvPr/>
        </p:nvSpPr>
        <p:spPr>
          <a:xfrm>
            <a:off x="109728" y="128016"/>
            <a:ext cx="2139696" cy="365760"/>
          </a:xfrm>
          <a:prstGeom prst="rect">
            <a:avLst/>
          </a:prstGeom>
          <a:solidFill>
            <a:srgbClr val="4A2027"/>
          </a:solidFill>
          <a:ln w="25400">
            <a:solidFill>
              <a:srgbClr val="FFFFFF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MAPA</a:t>
            </a:r>
          </a:p>
        </p:txBody>
      </p:sp>
      <p:sp>
        <p:nvSpPr>
          <p:cNvPr id="198" name="Rectangle 197">
            <a:hlinkClick r:id="rId3" action="ppaction://hlinksldjump"/>
          </p:cNvPr>
          <p:cNvSpPr/>
          <p:nvPr/>
        </p:nvSpPr>
        <p:spPr>
          <a:xfrm>
            <a:off x="137160" y="57607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>
            <a:hlinkClick r:id="rId3" action="ppaction://hlinksldjump"/>
          </p:cNvPr>
          <p:cNvSpPr/>
          <p:nvPr/>
        </p:nvSpPr>
        <p:spPr>
          <a:xfrm>
            <a:off x="109728" y="54864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>
            <a:hlinkClick r:id="rId3" action="ppaction://hlinksldjump"/>
          </p:cNvPr>
          <p:cNvSpPr/>
          <p:nvPr/>
        </p:nvSpPr>
        <p:spPr>
          <a:xfrm>
            <a:off x="155448" y="64179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</p:txBody>
      </p:sp>
      <p:sp>
        <p:nvSpPr>
          <p:cNvPr id="201" name="TextBox 200">
            <a:hlinkClick r:id="rId3" action="ppaction://hlinksldjump"/>
          </p:cNvPr>
          <p:cNvSpPr txBox="1"/>
          <p:nvPr/>
        </p:nvSpPr>
        <p:spPr>
          <a:xfrm>
            <a:off x="530352" y="54864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¿Qué es?</a:t>
            </a:r>
          </a:p>
        </p:txBody>
      </p:sp>
      <p:sp>
        <p:nvSpPr>
          <p:cNvPr id="202" name="Rectangle 201">
            <a:hlinkClick r:id="rId4" action="ppaction://hlinksldjump"/>
          </p:cNvPr>
          <p:cNvSpPr/>
          <p:nvPr/>
        </p:nvSpPr>
        <p:spPr>
          <a:xfrm>
            <a:off x="137160" y="106870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>
            <a:hlinkClick r:id="rId4" action="ppaction://hlinksldjump"/>
          </p:cNvPr>
          <p:cNvSpPr/>
          <p:nvPr/>
        </p:nvSpPr>
        <p:spPr>
          <a:xfrm>
            <a:off x="109728" y="104127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>
            <a:hlinkClick r:id="rId4" action="ppaction://hlinksldjump"/>
          </p:cNvPr>
          <p:cNvSpPr/>
          <p:nvPr/>
        </p:nvSpPr>
        <p:spPr>
          <a:xfrm>
            <a:off x="155448" y="113442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</p:txBody>
      </p:sp>
      <p:sp>
        <p:nvSpPr>
          <p:cNvPr id="205" name="TextBox 204">
            <a:hlinkClick r:id="rId4" action="ppaction://hlinksldjump"/>
          </p:cNvPr>
          <p:cNvSpPr txBox="1"/>
          <p:nvPr/>
        </p:nvSpPr>
        <p:spPr>
          <a:xfrm>
            <a:off x="530352" y="104127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Historia</a:t>
            </a:r>
          </a:p>
        </p:txBody>
      </p:sp>
      <p:sp>
        <p:nvSpPr>
          <p:cNvPr id="206" name="Rectangle 205">
            <a:hlinkClick r:id="rId5" action="ppaction://hlinksldjump"/>
          </p:cNvPr>
          <p:cNvSpPr/>
          <p:nvPr/>
        </p:nvSpPr>
        <p:spPr>
          <a:xfrm>
            <a:off x="137160" y="1561338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>
            <a:hlinkClick r:id="rId5" action="ppaction://hlinksldjump"/>
          </p:cNvPr>
          <p:cNvSpPr/>
          <p:nvPr/>
        </p:nvSpPr>
        <p:spPr>
          <a:xfrm>
            <a:off x="109728" y="1533906"/>
            <a:ext cx="2139696" cy="460629"/>
          </a:xfrm>
          <a:prstGeom prst="rect">
            <a:avLst/>
          </a:prstGeom>
          <a:solidFill>
            <a:srgbClr val="9B6B72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>
            <a:hlinkClick r:id="rId5" action="ppaction://hlinksldjump"/>
          </p:cNvPr>
          <p:cNvSpPr/>
          <p:nvPr/>
        </p:nvSpPr>
        <p:spPr>
          <a:xfrm>
            <a:off x="155448" y="1627060"/>
            <a:ext cx="329184" cy="274320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</p:txBody>
      </p:sp>
      <p:sp>
        <p:nvSpPr>
          <p:cNvPr id="209" name="TextBox 208">
            <a:hlinkClick r:id="rId5" action="ppaction://hlinksldjump"/>
          </p:cNvPr>
          <p:cNvSpPr txBox="1"/>
          <p:nvPr/>
        </p:nvSpPr>
        <p:spPr>
          <a:xfrm>
            <a:off x="530352" y="1533906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Objetivos</a:t>
            </a:r>
          </a:p>
        </p:txBody>
      </p:sp>
      <p:sp>
        <p:nvSpPr>
          <p:cNvPr id="210" name="Rectangle 209">
            <a:hlinkClick r:id="rId6" action="ppaction://hlinksldjump"/>
          </p:cNvPr>
          <p:cNvSpPr/>
          <p:nvPr/>
        </p:nvSpPr>
        <p:spPr>
          <a:xfrm>
            <a:off x="137160" y="2053971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>
            <a:hlinkClick r:id="rId6" action="ppaction://hlinksldjump"/>
          </p:cNvPr>
          <p:cNvSpPr/>
          <p:nvPr/>
        </p:nvSpPr>
        <p:spPr>
          <a:xfrm>
            <a:off x="109728" y="2026539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>
            <a:hlinkClick r:id="rId6" action="ppaction://hlinksldjump"/>
          </p:cNvPr>
          <p:cNvSpPr/>
          <p:nvPr/>
        </p:nvSpPr>
        <p:spPr>
          <a:xfrm>
            <a:off x="155448" y="2119693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</p:txBody>
      </p:sp>
      <p:sp>
        <p:nvSpPr>
          <p:cNvPr id="213" name="TextBox 212">
            <a:hlinkClick r:id="rId6" action="ppaction://hlinksldjump"/>
          </p:cNvPr>
          <p:cNvSpPr txBox="1"/>
          <p:nvPr/>
        </p:nvSpPr>
        <p:spPr>
          <a:xfrm>
            <a:off x="530352" y="2026539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Estructura</a:t>
            </a:r>
          </a:p>
        </p:txBody>
      </p:sp>
      <p:sp>
        <p:nvSpPr>
          <p:cNvPr id="214" name="Rectangle 213">
            <a:hlinkClick r:id="rId7" action="ppaction://hlinksldjump"/>
          </p:cNvPr>
          <p:cNvSpPr/>
          <p:nvPr/>
        </p:nvSpPr>
        <p:spPr>
          <a:xfrm>
            <a:off x="137160" y="2546604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>
            <a:hlinkClick r:id="rId7" action="ppaction://hlinksldjump"/>
          </p:cNvPr>
          <p:cNvSpPr/>
          <p:nvPr/>
        </p:nvSpPr>
        <p:spPr>
          <a:xfrm>
            <a:off x="109728" y="2519172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>
            <a:hlinkClick r:id="rId7" action="ppaction://hlinksldjump"/>
          </p:cNvPr>
          <p:cNvSpPr/>
          <p:nvPr/>
        </p:nvSpPr>
        <p:spPr>
          <a:xfrm>
            <a:off x="155448" y="2612326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05</a:t>
            </a:r>
          </a:p>
        </p:txBody>
      </p:sp>
      <p:sp>
        <p:nvSpPr>
          <p:cNvPr id="217" name="TextBox 216">
            <a:hlinkClick r:id="rId7" action="ppaction://hlinksldjump"/>
          </p:cNvPr>
          <p:cNvSpPr txBox="1"/>
          <p:nvPr/>
        </p:nvSpPr>
        <p:spPr>
          <a:xfrm>
            <a:off x="530352" y="2519172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9 procesos</a:t>
            </a:r>
          </a:p>
        </p:txBody>
      </p:sp>
      <p:sp>
        <p:nvSpPr>
          <p:cNvPr id="218" name="Rectangle 217">
            <a:hlinkClick r:id="rId8" action="ppaction://hlinksldjump"/>
          </p:cNvPr>
          <p:cNvSpPr/>
          <p:nvPr/>
        </p:nvSpPr>
        <p:spPr>
          <a:xfrm>
            <a:off x="137160" y="3039237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hlinkClick r:id="rId8" action="ppaction://hlinksldjump"/>
          </p:cNvPr>
          <p:cNvSpPr/>
          <p:nvPr/>
        </p:nvSpPr>
        <p:spPr>
          <a:xfrm>
            <a:off x="109728" y="3011805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>
            <a:hlinkClick r:id="rId8" action="ppaction://hlinksldjump"/>
          </p:cNvPr>
          <p:cNvSpPr/>
          <p:nvPr/>
        </p:nvSpPr>
        <p:spPr>
          <a:xfrm>
            <a:off x="155448" y="3104959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06</a:t>
            </a:r>
          </a:p>
        </p:txBody>
      </p:sp>
      <p:sp>
        <p:nvSpPr>
          <p:cNvPr id="221" name="TextBox 220">
            <a:hlinkClick r:id="rId8" action="ppaction://hlinksldjump"/>
          </p:cNvPr>
          <p:cNvSpPr txBox="1"/>
          <p:nvPr/>
        </p:nvSpPr>
        <p:spPr>
          <a:xfrm>
            <a:off x="530352" y="3011805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Anatomía</a:t>
            </a:r>
          </a:p>
        </p:txBody>
      </p:sp>
      <p:sp>
        <p:nvSpPr>
          <p:cNvPr id="222" name="Rectangle 221">
            <a:hlinkClick r:id="rId9" action="ppaction://hlinksldjump"/>
          </p:cNvPr>
          <p:cNvSpPr/>
          <p:nvPr/>
        </p:nvSpPr>
        <p:spPr>
          <a:xfrm>
            <a:off x="137160" y="3531870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>
            <a:hlinkClick r:id="rId9" action="ppaction://hlinksldjump"/>
          </p:cNvPr>
          <p:cNvSpPr/>
          <p:nvPr/>
        </p:nvSpPr>
        <p:spPr>
          <a:xfrm>
            <a:off x="109728" y="3504438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>
            <a:hlinkClick r:id="rId9" action="ppaction://hlinksldjump"/>
          </p:cNvPr>
          <p:cNvSpPr/>
          <p:nvPr/>
        </p:nvSpPr>
        <p:spPr>
          <a:xfrm>
            <a:off x="155448" y="3597592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07</a:t>
            </a:r>
          </a:p>
        </p:txBody>
      </p:sp>
      <p:sp>
        <p:nvSpPr>
          <p:cNvPr id="225" name="TextBox 224">
            <a:hlinkClick r:id="rId9" action="ppaction://hlinksldjump"/>
          </p:cNvPr>
          <p:cNvSpPr txBox="1"/>
          <p:nvPr/>
        </p:nvSpPr>
        <p:spPr>
          <a:xfrm>
            <a:off x="530352" y="3504438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Ciclo DMS</a:t>
            </a:r>
          </a:p>
        </p:txBody>
      </p:sp>
      <p:sp>
        <p:nvSpPr>
          <p:cNvPr id="226" name="Rectangle 225">
            <a:hlinkClick r:id="rId10" action="ppaction://hlinksldjump"/>
          </p:cNvPr>
          <p:cNvSpPr/>
          <p:nvPr/>
        </p:nvSpPr>
        <p:spPr>
          <a:xfrm>
            <a:off x="137160" y="4024503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>
            <a:hlinkClick r:id="rId10" action="ppaction://hlinksldjump"/>
          </p:cNvPr>
          <p:cNvSpPr/>
          <p:nvPr/>
        </p:nvSpPr>
        <p:spPr>
          <a:xfrm>
            <a:off x="109728" y="3997071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>
            <a:hlinkClick r:id="rId10" action="ppaction://hlinksldjump"/>
          </p:cNvPr>
          <p:cNvSpPr/>
          <p:nvPr/>
        </p:nvSpPr>
        <p:spPr>
          <a:xfrm>
            <a:off x="155448" y="4090225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08</a:t>
            </a:r>
          </a:p>
        </p:txBody>
      </p:sp>
      <p:sp>
        <p:nvSpPr>
          <p:cNvPr id="229" name="TextBox 228">
            <a:hlinkClick r:id="rId10" action="ppaction://hlinksldjump"/>
          </p:cNvPr>
          <p:cNvSpPr txBox="1"/>
          <p:nvPr/>
        </p:nvSpPr>
        <p:spPr>
          <a:xfrm>
            <a:off x="530352" y="3997071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Roles</a:t>
            </a:r>
          </a:p>
        </p:txBody>
      </p:sp>
      <p:sp>
        <p:nvSpPr>
          <p:cNvPr id="230" name="Rectangle 229">
            <a:hlinkClick r:id="rId11" action="ppaction://hlinksldjump"/>
          </p:cNvPr>
          <p:cNvSpPr/>
          <p:nvPr/>
        </p:nvSpPr>
        <p:spPr>
          <a:xfrm>
            <a:off x="137160" y="4517136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>
            <a:hlinkClick r:id="rId11" action="ppaction://hlinksldjump"/>
          </p:cNvPr>
          <p:cNvSpPr/>
          <p:nvPr/>
        </p:nvSpPr>
        <p:spPr>
          <a:xfrm>
            <a:off x="109728" y="4489704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>
            <a:hlinkClick r:id="rId11" action="ppaction://hlinksldjump"/>
          </p:cNvPr>
          <p:cNvSpPr/>
          <p:nvPr/>
        </p:nvSpPr>
        <p:spPr>
          <a:xfrm>
            <a:off x="155448" y="4582858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09</a:t>
            </a:r>
          </a:p>
        </p:txBody>
      </p:sp>
      <p:sp>
        <p:nvSpPr>
          <p:cNvPr id="233" name="TextBox 232">
            <a:hlinkClick r:id="rId11" action="ppaction://hlinksldjump"/>
          </p:cNvPr>
          <p:cNvSpPr txBox="1"/>
          <p:nvPr/>
        </p:nvSpPr>
        <p:spPr>
          <a:xfrm>
            <a:off x="530352" y="4489704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Capacidad</a:t>
            </a:r>
          </a:p>
        </p:txBody>
      </p:sp>
      <p:sp>
        <p:nvSpPr>
          <p:cNvPr id="234" name="Rectangle 233">
            <a:hlinkClick r:id="rId12" action="ppaction://hlinksldjump"/>
          </p:cNvPr>
          <p:cNvSpPr/>
          <p:nvPr/>
        </p:nvSpPr>
        <p:spPr>
          <a:xfrm>
            <a:off x="137160" y="5009769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>
            <a:hlinkClick r:id="rId12" action="ppaction://hlinksldjump"/>
          </p:cNvPr>
          <p:cNvSpPr/>
          <p:nvPr/>
        </p:nvSpPr>
        <p:spPr>
          <a:xfrm>
            <a:off x="109728" y="4982337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>
            <a:hlinkClick r:id="rId12" action="ppaction://hlinksldjump"/>
          </p:cNvPr>
          <p:cNvSpPr/>
          <p:nvPr/>
        </p:nvSpPr>
        <p:spPr>
          <a:xfrm>
            <a:off x="155448" y="5075491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10</a:t>
            </a:r>
          </a:p>
        </p:txBody>
      </p:sp>
      <p:sp>
        <p:nvSpPr>
          <p:cNvPr id="237" name="TextBox 236">
            <a:hlinkClick r:id="rId12" action="ppaction://hlinksldjump"/>
          </p:cNvPr>
          <p:cNvSpPr txBox="1"/>
          <p:nvPr/>
        </p:nvSpPr>
        <p:spPr>
          <a:xfrm>
            <a:off x="530352" y="4982337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EvalProSoft</a:t>
            </a:r>
          </a:p>
        </p:txBody>
      </p:sp>
      <p:sp>
        <p:nvSpPr>
          <p:cNvPr id="238" name="Rectangle 237">
            <a:hlinkClick r:id="rId13" action="ppaction://hlinksldjump"/>
          </p:cNvPr>
          <p:cNvSpPr/>
          <p:nvPr/>
        </p:nvSpPr>
        <p:spPr>
          <a:xfrm>
            <a:off x="137160" y="550240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>
            <a:hlinkClick r:id="rId13" action="ppaction://hlinksldjump"/>
          </p:cNvPr>
          <p:cNvSpPr/>
          <p:nvPr/>
        </p:nvSpPr>
        <p:spPr>
          <a:xfrm>
            <a:off x="109728" y="547497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>
            <a:hlinkClick r:id="rId13" action="ppaction://hlinksldjump"/>
          </p:cNvPr>
          <p:cNvSpPr/>
          <p:nvPr/>
        </p:nvSpPr>
        <p:spPr>
          <a:xfrm>
            <a:off x="155448" y="556812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11</a:t>
            </a:r>
          </a:p>
        </p:txBody>
      </p:sp>
      <p:sp>
        <p:nvSpPr>
          <p:cNvPr id="241" name="TextBox 240">
            <a:hlinkClick r:id="rId13" action="ppaction://hlinksldjump"/>
          </p:cNvPr>
          <p:cNvSpPr txBox="1"/>
          <p:nvPr/>
        </p:nvSpPr>
        <p:spPr>
          <a:xfrm>
            <a:off x="530352" y="547497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Modelos</a:t>
            </a:r>
          </a:p>
        </p:txBody>
      </p:sp>
      <p:sp>
        <p:nvSpPr>
          <p:cNvPr id="242" name="Rectangle 241">
            <a:hlinkClick r:id="rId14" action="ppaction://hlinksldjump"/>
          </p:cNvPr>
          <p:cNvSpPr/>
          <p:nvPr/>
        </p:nvSpPr>
        <p:spPr>
          <a:xfrm>
            <a:off x="137160" y="599503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>
            <a:hlinkClick r:id="rId14" action="ppaction://hlinksldjump"/>
          </p:cNvPr>
          <p:cNvSpPr/>
          <p:nvPr/>
        </p:nvSpPr>
        <p:spPr>
          <a:xfrm>
            <a:off x="109728" y="596760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>
            <a:hlinkClick r:id="rId14" action="ppaction://hlinksldjump"/>
          </p:cNvPr>
          <p:cNvSpPr/>
          <p:nvPr/>
        </p:nvSpPr>
        <p:spPr>
          <a:xfrm>
            <a:off x="155448" y="606075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12</a:t>
            </a:r>
          </a:p>
        </p:txBody>
      </p:sp>
      <p:sp>
        <p:nvSpPr>
          <p:cNvPr id="245" name="TextBox 244">
            <a:hlinkClick r:id="rId14" action="ppaction://hlinksldjump"/>
          </p:cNvPr>
          <p:cNvSpPr txBox="1"/>
          <p:nvPr/>
        </p:nvSpPr>
        <p:spPr>
          <a:xfrm>
            <a:off x="530352" y="596760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Glosario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404872" y="210312"/>
            <a:ext cx="9723119" cy="578815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2340864" y="146304"/>
            <a:ext cx="9723119" cy="5788151"/>
          </a:xfrm>
          <a:prstGeom prst="rect">
            <a:avLst/>
          </a:prstGeom>
          <a:solidFill>
            <a:srgbClr val="FFFFFF"/>
          </a:solidFill>
          <a:ln w="317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2450592" y="256032"/>
            <a:ext cx="9503663" cy="56692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2505456" y="256032"/>
            <a:ext cx="530352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🎯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054096" y="256032"/>
            <a:ext cx="8790431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5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NIVEL 3: Objetivos y alcance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2587752" y="960120"/>
            <a:ext cx="9320783" cy="923543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2542032" y="914400"/>
            <a:ext cx="9320783" cy="923543"/>
          </a:xfrm>
          <a:prstGeom prst="rect">
            <a:avLst/>
          </a:prstGeom>
          <a:solidFill>
            <a:srgbClr val="C9DFF5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18288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Dar a las pequeñas y medianas empresas un modelo ligero y fácil de adoptar.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2587752" y="1956815"/>
            <a:ext cx="9320783" cy="923543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2542032" y="1911095"/>
            <a:ext cx="9320783" cy="923543"/>
          </a:xfrm>
          <a:prstGeom prst="rect">
            <a:avLst/>
          </a:prstGeom>
          <a:solidFill>
            <a:srgbClr val="C9DFF5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18288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Mejorar la calidad del producto, la predictibilidad de costos y tiempos y la satisfacción del cliente.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2587752" y="2953511"/>
            <a:ext cx="9320783" cy="923543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2542032" y="2907791"/>
            <a:ext cx="9320783" cy="923543"/>
          </a:xfrm>
          <a:prstGeom prst="rect">
            <a:avLst/>
          </a:prstGeom>
          <a:solidFill>
            <a:srgbClr val="C9DFF5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18288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Servir como guía de qué procesos tener, no de cómo programar.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2587752" y="3950207"/>
            <a:ext cx="9320783" cy="923543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2542032" y="3904487"/>
            <a:ext cx="9320783" cy="923543"/>
          </a:xfrm>
          <a:prstGeom prst="rect">
            <a:avLst/>
          </a:prstGeom>
          <a:solidFill>
            <a:srgbClr val="C9DFF5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18288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Permitir evaluar la capacidad de los procesos y certificarla.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2587752" y="4946903"/>
            <a:ext cx="9320783" cy="923543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2542032" y="4901183"/>
            <a:ext cx="9320783" cy="923543"/>
          </a:xfrm>
          <a:prstGeom prst="rect">
            <a:avLst/>
          </a:prstGeom>
          <a:solidFill>
            <a:srgbClr val="C9DFF5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18288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Se apoya en ISO/IEC 12207, ISO/IEC 15504, CMMI, PMBOK y SWEBOK.</a:t>
            </a:r>
          </a:p>
        </p:txBody>
      </p:sp>
      <p:sp>
        <p:nvSpPr>
          <p:cNvPr id="261" name="Rectangle 260">
            <a:hlinkClick r:id="rId2" action="ppaction://hlinksldjump"/>
          </p:cNvPr>
          <p:cNvSpPr/>
          <p:nvPr/>
        </p:nvSpPr>
        <p:spPr>
          <a:xfrm>
            <a:off x="2391156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ectangle 261">
            <a:hlinkClick r:id="rId2" action="ppaction://hlinksldjump"/>
          </p:cNvPr>
          <p:cNvSpPr/>
          <p:nvPr/>
        </p:nvSpPr>
        <p:spPr>
          <a:xfrm>
            <a:off x="2340864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INDICE</a:t>
            </a:r>
          </a:p>
        </p:txBody>
      </p:sp>
      <p:sp>
        <p:nvSpPr>
          <p:cNvPr id="263" name="Rectangle 262">
            <a:hlinkClick r:id="rId4" action="ppaction://hlinksldjump"/>
          </p:cNvPr>
          <p:cNvSpPr/>
          <p:nvPr/>
        </p:nvSpPr>
        <p:spPr>
          <a:xfrm>
            <a:off x="566267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Rectangle 263">
            <a:hlinkClick r:id="rId4" action="ppaction://hlinksldjump"/>
          </p:cNvPr>
          <p:cNvSpPr/>
          <p:nvPr/>
        </p:nvSpPr>
        <p:spPr>
          <a:xfrm>
            <a:off x="5612383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◀ ANTERIOR</a:t>
            </a:r>
          </a:p>
        </p:txBody>
      </p:sp>
      <p:sp>
        <p:nvSpPr>
          <p:cNvPr id="265" name="Rectangle 264">
            <a:hlinkClick r:id="rId6" action="ppaction://hlinksldjump"/>
          </p:cNvPr>
          <p:cNvSpPr/>
          <p:nvPr/>
        </p:nvSpPr>
        <p:spPr>
          <a:xfrm>
            <a:off x="893419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Rectangle 265">
            <a:hlinkClick r:id="rId6" action="ppaction://hlinksldjump"/>
          </p:cNvPr>
          <p:cNvSpPr/>
          <p:nvPr/>
        </p:nvSpPr>
        <p:spPr>
          <a:xfrm>
            <a:off x="8883903" y="6007607"/>
            <a:ext cx="3180079" cy="420624"/>
          </a:xfrm>
          <a:prstGeom prst="rect">
            <a:avLst/>
          </a:prstGeom>
          <a:solidFill>
            <a:srgbClr val="7FA8D6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SIGUIENTE 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214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0817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3619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420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9222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4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4825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7627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042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3230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8833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163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4436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7238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284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5643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8444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1246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6849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9651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2452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525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8056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0857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3659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6460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9262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20639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4865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7667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0468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32703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6071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8873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16751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4476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72783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79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28815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65683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784847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1286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040879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6889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96911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424927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5294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68095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80897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36991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6500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9302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32103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449055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7707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050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3310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96112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08913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2171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34516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47318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0120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7292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85723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98524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11326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2412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36929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49731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62532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7533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88136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100937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13739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26540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139342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52144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64945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77747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90548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203350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2161520" y="0"/>
            <a:ext cx="30479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2801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5603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8404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1206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4008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6809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9611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02412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5214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28016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40817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53619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66420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79222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92024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04825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17627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3042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43230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56032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8833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8163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94436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238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20040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3284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45643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58444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71246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8404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96849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409651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22452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3525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48056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60857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73659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86460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499262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120639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24865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37667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50468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5632703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76071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88873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016751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14476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272783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40079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528815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65683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7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91286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040879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16889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7296911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424927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55294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68095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80897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936991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06500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19302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32103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449055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57707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7050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83310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96112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08913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2171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34516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47318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960120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97292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985723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98524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11326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02412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036929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49731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062532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07533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088136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100937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113739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126540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1139342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1152144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1164945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1177747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1190548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1203350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2161520" y="6501383"/>
            <a:ext cx="30479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201168" y="6565392"/>
            <a:ext cx="786384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DIAP. 06  ·  NIVEL 4/12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74479" y="6565392"/>
            <a:ext cx="278892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HECHO POR RUM</a:t>
            </a:r>
          </a:p>
        </p:txBody>
      </p:sp>
      <p:sp>
        <p:nvSpPr>
          <p:cNvPr id="197" name="Rectangle 196">
            <a:hlinkClick r:id="rId2" action="ppaction://hlinksldjump"/>
          </p:cNvPr>
          <p:cNvSpPr/>
          <p:nvPr/>
        </p:nvSpPr>
        <p:spPr>
          <a:xfrm>
            <a:off x="109728" y="128016"/>
            <a:ext cx="2139696" cy="365760"/>
          </a:xfrm>
          <a:prstGeom prst="rect">
            <a:avLst/>
          </a:prstGeom>
          <a:solidFill>
            <a:srgbClr val="4A2027"/>
          </a:solidFill>
          <a:ln w="25400">
            <a:solidFill>
              <a:srgbClr val="FFFFFF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MAPA</a:t>
            </a:r>
          </a:p>
        </p:txBody>
      </p:sp>
      <p:sp>
        <p:nvSpPr>
          <p:cNvPr id="198" name="Rectangle 197">
            <a:hlinkClick r:id="rId3" action="ppaction://hlinksldjump"/>
          </p:cNvPr>
          <p:cNvSpPr/>
          <p:nvPr/>
        </p:nvSpPr>
        <p:spPr>
          <a:xfrm>
            <a:off x="137160" y="57607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>
            <a:hlinkClick r:id="rId3" action="ppaction://hlinksldjump"/>
          </p:cNvPr>
          <p:cNvSpPr/>
          <p:nvPr/>
        </p:nvSpPr>
        <p:spPr>
          <a:xfrm>
            <a:off x="109728" y="54864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>
            <a:hlinkClick r:id="rId3" action="ppaction://hlinksldjump"/>
          </p:cNvPr>
          <p:cNvSpPr/>
          <p:nvPr/>
        </p:nvSpPr>
        <p:spPr>
          <a:xfrm>
            <a:off x="155448" y="64179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</p:txBody>
      </p:sp>
      <p:sp>
        <p:nvSpPr>
          <p:cNvPr id="201" name="TextBox 200">
            <a:hlinkClick r:id="rId3" action="ppaction://hlinksldjump"/>
          </p:cNvPr>
          <p:cNvSpPr txBox="1"/>
          <p:nvPr/>
        </p:nvSpPr>
        <p:spPr>
          <a:xfrm>
            <a:off x="530352" y="54864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¿Qué es?</a:t>
            </a:r>
          </a:p>
        </p:txBody>
      </p:sp>
      <p:sp>
        <p:nvSpPr>
          <p:cNvPr id="202" name="Rectangle 201">
            <a:hlinkClick r:id="rId4" action="ppaction://hlinksldjump"/>
          </p:cNvPr>
          <p:cNvSpPr/>
          <p:nvPr/>
        </p:nvSpPr>
        <p:spPr>
          <a:xfrm>
            <a:off x="137160" y="106870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>
            <a:hlinkClick r:id="rId4" action="ppaction://hlinksldjump"/>
          </p:cNvPr>
          <p:cNvSpPr/>
          <p:nvPr/>
        </p:nvSpPr>
        <p:spPr>
          <a:xfrm>
            <a:off x="109728" y="104127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>
            <a:hlinkClick r:id="rId4" action="ppaction://hlinksldjump"/>
          </p:cNvPr>
          <p:cNvSpPr/>
          <p:nvPr/>
        </p:nvSpPr>
        <p:spPr>
          <a:xfrm>
            <a:off x="155448" y="113442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</p:txBody>
      </p:sp>
      <p:sp>
        <p:nvSpPr>
          <p:cNvPr id="205" name="TextBox 204">
            <a:hlinkClick r:id="rId4" action="ppaction://hlinksldjump"/>
          </p:cNvPr>
          <p:cNvSpPr txBox="1"/>
          <p:nvPr/>
        </p:nvSpPr>
        <p:spPr>
          <a:xfrm>
            <a:off x="530352" y="104127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Historia</a:t>
            </a:r>
          </a:p>
        </p:txBody>
      </p:sp>
      <p:sp>
        <p:nvSpPr>
          <p:cNvPr id="206" name="Rectangle 205">
            <a:hlinkClick r:id="rId5" action="ppaction://hlinksldjump"/>
          </p:cNvPr>
          <p:cNvSpPr/>
          <p:nvPr/>
        </p:nvSpPr>
        <p:spPr>
          <a:xfrm>
            <a:off x="137160" y="1561338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>
            <a:hlinkClick r:id="rId5" action="ppaction://hlinksldjump"/>
          </p:cNvPr>
          <p:cNvSpPr/>
          <p:nvPr/>
        </p:nvSpPr>
        <p:spPr>
          <a:xfrm>
            <a:off x="109728" y="1533906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>
            <a:hlinkClick r:id="rId5" action="ppaction://hlinksldjump"/>
          </p:cNvPr>
          <p:cNvSpPr/>
          <p:nvPr/>
        </p:nvSpPr>
        <p:spPr>
          <a:xfrm>
            <a:off x="155448" y="1627060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</p:txBody>
      </p:sp>
      <p:sp>
        <p:nvSpPr>
          <p:cNvPr id="209" name="TextBox 208">
            <a:hlinkClick r:id="rId5" action="ppaction://hlinksldjump"/>
          </p:cNvPr>
          <p:cNvSpPr txBox="1"/>
          <p:nvPr/>
        </p:nvSpPr>
        <p:spPr>
          <a:xfrm>
            <a:off x="530352" y="1533906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Objetivos</a:t>
            </a:r>
          </a:p>
        </p:txBody>
      </p:sp>
      <p:sp>
        <p:nvSpPr>
          <p:cNvPr id="210" name="Rectangle 209">
            <a:hlinkClick r:id="rId6" action="ppaction://hlinksldjump"/>
          </p:cNvPr>
          <p:cNvSpPr/>
          <p:nvPr/>
        </p:nvSpPr>
        <p:spPr>
          <a:xfrm>
            <a:off x="137160" y="2053971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>
            <a:hlinkClick r:id="rId6" action="ppaction://hlinksldjump"/>
          </p:cNvPr>
          <p:cNvSpPr/>
          <p:nvPr/>
        </p:nvSpPr>
        <p:spPr>
          <a:xfrm>
            <a:off x="109728" y="2026539"/>
            <a:ext cx="2139696" cy="460629"/>
          </a:xfrm>
          <a:prstGeom prst="rect">
            <a:avLst/>
          </a:prstGeom>
          <a:solidFill>
            <a:srgbClr val="9B6B72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>
            <a:hlinkClick r:id="rId6" action="ppaction://hlinksldjump"/>
          </p:cNvPr>
          <p:cNvSpPr/>
          <p:nvPr/>
        </p:nvSpPr>
        <p:spPr>
          <a:xfrm>
            <a:off x="155448" y="2119693"/>
            <a:ext cx="329184" cy="274320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</p:txBody>
      </p:sp>
      <p:sp>
        <p:nvSpPr>
          <p:cNvPr id="213" name="TextBox 212">
            <a:hlinkClick r:id="rId6" action="ppaction://hlinksldjump"/>
          </p:cNvPr>
          <p:cNvSpPr txBox="1"/>
          <p:nvPr/>
        </p:nvSpPr>
        <p:spPr>
          <a:xfrm>
            <a:off x="530352" y="2026539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Estructura</a:t>
            </a:r>
          </a:p>
        </p:txBody>
      </p:sp>
      <p:sp>
        <p:nvSpPr>
          <p:cNvPr id="214" name="Rectangle 213">
            <a:hlinkClick r:id="rId7" action="ppaction://hlinksldjump"/>
          </p:cNvPr>
          <p:cNvSpPr/>
          <p:nvPr/>
        </p:nvSpPr>
        <p:spPr>
          <a:xfrm>
            <a:off x="137160" y="2546604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>
            <a:hlinkClick r:id="rId7" action="ppaction://hlinksldjump"/>
          </p:cNvPr>
          <p:cNvSpPr/>
          <p:nvPr/>
        </p:nvSpPr>
        <p:spPr>
          <a:xfrm>
            <a:off x="109728" y="2519172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>
            <a:hlinkClick r:id="rId7" action="ppaction://hlinksldjump"/>
          </p:cNvPr>
          <p:cNvSpPr/>
          <p:nvPr/>
        </p:nvSpPr>
        <p:spPr>
          <a:xfrm>
            <a:off x="155448" y="2612326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05</a:t>
            </a:r>
          </a:p>
        </p:txBody>
      </p:sp>
      <p:sp>
        <p:nvSpPr>
          <p:cNvPr id="217" name="TextBox 216">
            <a:hlinkClick r:id="rId7" action="ppaction://hlinksldjump"/>
          </p:cNvPr>
          <p:cNvSpPr txBox="1"/>
          <p:nvPr/>
        </p:nvSpPr>
        <p:spPr>
          <a:xfrm>
            <a:off x="530352" y="2519172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9 procesos</a:t>
            </a:r>
          </a:p>
        </p:txBody>
      </p:sp>
      <p:sp>
        <p:nvSpPr>
          <p:cNvPr id="218" name="Rectangle 217">
            <a:hlinkClick r:id="rId8" action="ppaction://hlinksldjump"/>
          </p:cNvPr>
          <p:cNvSpPr/>
          <p:nvPr/>
        </p:nvSpPr>
        <p:spPr>
          <a:xfrm>
            <a:off x="137160" y="3039237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hlinkClick r:id="rId8" action="ppaction://hlinksldjump"/>
          </p:cNvPr>
          <p:cNvSpPr/>
          <p:nvPr/>
        </p:nvSpPr>
        <p:spPr>
          <a:xfrm>
            <a:off x="109728" y="3011805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>
            <a:hlinkClick r:id="rId8" action="ppaction://hlinksldjump"/>
          </p:cNvPr>
          <p:cNvSpPr/>
          <p:nvPr/>
        </p:nvSpPr>
        <p:spPr>
          <a:xfrm>
            <a:off x="155448" y="3104959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06</a:t>
            </a:r>
          </a:p>
        </p:txBody>
      </p:sp>
      <p:sp>
        <p:nvSpPr>
          <p:cNvPr id="221" name="TextBox 220">
            <a:hlinkClick r:id="rId8" action="ppaction://hlinksldjump"/>
          </p:cNvPr>
          <p:cNvSpPr txBox="1"/>
          <p:nvPr/>
        </p:nvSpPr>
        <p:spPr>
          <a:xfrm>
            <a:off x="530352" y="3011805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Anatomía</a:t>
            </a:r>
          </a:p>
        </p:txBody>
      </p:sp>
      <p:sp>
        <p:nvSpPr>
          <p:cNvPr id="222" name="Rectangle 221">
            <a:hlinkClick r:id="rId9" action="ppaction://hlinksldjump"/>
          </p:cNvPr>
          <p:cNvSpPr/>
          <p:nvPr/>
        </p:nvSpPr>
        <p:spPr>
          <a:xfrm>
            <a:off x="137160" y="3531870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>
            <a:hlinkClick r:id="rId9" action="ppaction://hlinksldjump"/>
          </p:cNvPr>
          <p:cNvSpPr/>
          <p:nvPr/>
        </p:nvSpPr>
        <p:spPr>
          <a:xfrm>
            <a:off x="109728" y="3504438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>
            <a:hlinkClick r:id="rId9" action="ppaction://hlinksldjump"/>
          </p:cNvPr>
          <p:cNvSpPr/>
          <p:nvPr/>
        </p:nvSpPr>
        <p:spPr>
          <a:xfrm>
            <a:off x="155448" y="3597592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07</a:t>
            </a:r>
          </a:p>
        </p:txBody>
      </p:sp>
      <p:sp>
        <p:nvSpPr>
          <p:cNvPr id="225" name="TextBox 224">
            <a:hlinkClick r:id="rId9" action="ppaction://hlinksldjump"/>
          </p:cNvPr>
          <p:cNvSpPr txBox="1"/>
          <p:nvPr/>
        </p:nvSpPr>
        <p:spPr>
          <a:xfrm>
            <a:off x="530352" y="3504438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Ciclo DMS</a:t>
            </a:r>
          </a:p>
        </p:txBody>
      </p:sp>
      <p:sp>
        <p:nvSpPr>
          <p:cNvPr id="226" name="Rectangle 225">
            <a:hlinkClick r:id="rId10" action="ppaction://hlinksldjump"/>
          </p:cNvPr>
          <p:cNvSpPr/>
          <p:nvPr/>
        </p:nvSpPr>
        <p:spPr>
          <a:xfrm>
            <a:off x="137160" y="4024503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>
            <a:hlinkClick r:id="rId10" action="ppaction://hlinksldjump"/>
          </p:cNvPr>
          <p:cNvSpPr/>
          <p:nvPr/>
        </p:nvSpPr>
        <p:spPr>
          <a:xfrm>
            <a:off x="109728" y="3997071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>
            <a:hlinkClick r:id="rId10" action="ppaction://hlinksldjump"/>
          </p:cNvPr>
          <p:cNvSpPr/>
          <p:nvPr/>
        </p:nvSpPr>
        <p:spPr>
          <a:xfrm>
            <a:off x="155448" y="4090225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08</a:t>
            </a:r>
          </a:p>
        </p:txBody>
      </p:sp>
      <p:sp>
        <p:nvSpPr>
          <p:cNvPr id="229" name="TextBox 228">
            <a:hlinkClick r:id="rId10" action="ppaction://hlinksldjump"/>
          </p:cNvPr>
          <p:cNvSpPr txBox="1"/>
          <p:nvPr/>
        </p:nvSpPr>
        <p:spPr>
          <a:xfrm>
            <a:off x="530352" y="3997071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Roles</a:t>
            </a:r>
          </a:p>
        </p:txBody>
      </p:sp>
      <p:sp>
        <p:nvSpPr>
          <p:cNvPr id="230" name="Rectangle 229">
            <a:hlinkClick r:id="rId11" action="ppaction://hlinksldjump"/>
          </p:cNvPr>
          <p:cNvSpPr/>
          <p:nvPr/>
        </p:nvSpPr>
        <p:spPr>
          <a:xfrm>
            <a:off x="137160" y="4517136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>
            <a:hlinkClick r:id="rId11" action="ppaction://hlinksldjump"/>
          </p:cNvPr>
          <p:cNvSpPr/>
          <p:nvPr/>
        </p:nvSpPr>
        <p:spPr>
          <a:xfrm>
            <a:off x="109728" y="4489704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>
            <a:hlinkClick r:id="rId11" action="ppaction://hlinksldjump"/>
          </p:cNvPr>
          <p:cNvSpPr/>
          <p:nvPr/>
        </p:nvSpPr>
        <p:spPr>
          <a:xfrm>
            <a:off x="155448" y="4582858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09</a:t>
            </a:r>
          </a:p>
        </p:txBody>
      </p:sp>
      <p:sp>
        <p:nvSpPr>
          <p:cNvPr id="233" name="TextBox 232">
            <a:hlinkClick r:id="rId11" action="ppaction://hlinksldjump"/>
          </p:cNvPr>
          <p:cNvSpPr txBox="1"/>
          <p:nvPr/>
        </p:nvSpPr>
        <p:spPr>
          <a:xfrm>
            <a:off x="530352" y="4489704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Capacidad</a:t>
            </a:r>
          </a:p>
        </p:txBody>
      </p:sp>
      <p:sp>
        <p:nvSpPr>
          <p:cNvPr id="234" name="Rectangle 233">
            <a:hlinkClick r:id="rId12" action="ppaction://hlinksldjump"/>
          </p:cNvPr>
          <p:cNvSpPr/>
          <p:nvPr/>
        </p:nvSpPr>
        <p:spPr>
          <a:xfrm>
            <a:off x="137160" y="5009769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>
            <a:hlinkClick r:id="rId12" action="ppaction://hlinksldjump"/>
          </p:cNvPr>
          <p:cNvSpPr/>
          <p:nvPr/>
        </p:nvSpPr>
        <p:spPr>
          <a:xfrm>
            <a:off x="109728" y="4982337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>
            <a:hlinkClick r:id="rId12" action="ppaction://hlinksldjump"/>
          </p:cNvPr>
          <p:cNvSpPr/>
          <p:nvPr/>
        </p:nvSpPr>
        <p:spPr>
          <a:xfrm>
            <a:off x="155448" y="5075491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10</a:t>
            </a:r>
          </a:p>
        </p:txBody>
      </p:sp>
      <p:sp>
        <p:nvSpPr>
          <p:cNvPr id="237" name="TextBox 236">
            <a:hlinkClick r:id="rId12" action="ppaction://hlinksldjump"/>
          </p:cNvPr>
          <p:cNvSpPr txBox="1"/>
          <p:nvPr/>
        </p:nvSpPr>
        <p:spPr>
          <a:xfrm>
            <a:off x="530352" y="4982337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EvalProSoft</a:t>
            </a:r>
          </a:p>
        </p:txBody>
      </p:sp>
      <p:sp>
        <p:nvSpPr>
          <p:cNvPr id="238" name="Rectangle 237">
            <a:hlinkClick r:id="rId13" action="ppaction://hlinksldjump"/>
          </p:cNvPr>
          <p:cNvSpPr/>
          <p:nvPr/>
        </p:nvSpPr>
        <p:spPr>
          <a:xfrm>
            <a:off x="137160" y="550240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>
            <a:hlinkClick r:id="rId13" action="ppaction://hlinksldjump"/>
          </p:cNvPr>
          <p:cNvSpPr/>
          <p:nvPr/>
        </p:nvSpPr>
        <p:spPr>
          <a:xfrm>
            <a:off x="109728" y="547497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>
            <a:hlinkClick r:id="rId13" action="ppaction://hlinksldjump"/>
          </p:cNvPr>
          <p:cNvSpPr/>
          <p:nvPr/>
        </p:nvSpPr>
        <p:spPr>
          <a:xfrm>
            <a:off x="155448" y="556812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11</a:t>
            </a:r>
          </a:p>
        </p:txBody>
      </p:sp>
      <p:sp>
        <p:nvSpPr>
          <p:cNvPr id="241" name="TextBox 240">
            <a:hlinkClick r:id="rId13" action="ppaction://hlinksldjump"/>
          </p:cNvPr>
          <p:cNvSpPr txBox="1"/>
          <p:nvPr/>
        </p:nvSpPr>
        <p:spPr>
          <a:xfrm>
            <a:off x="530352" y="547497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Modelos</a:t>
            </a:r>
          </a:p>
        </p:txBody>
      </p:sp>
      <p:sp>
        <p:nvSpPr>
          <p:cNvPr id="242" name="Rectangle 241">
            <a:hlinkClick r:id="rId14" action="ppaction://hlinksldjump"/>
          </p:cNvPr>
          <p:cNvSpPr/>
          <p:nvPr/>
        </p:nvSpPr>
        <p:spPr>
          <a:xfrm>
            <a:off x="137160" y="599503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>
            <a:hlinkClick r:id="rId14" action="ppaction://hlinksldjump"/>
          </p:cNvPr>
          <p:cNvSpPr/>
          <p:nvPr/>
        </p:nvSpPr>
        <p:spPr>
          <a:xfrm>
            <a:off x="109728" y="596760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>
            <a:hlinkClick r:id="rId14" action="ppaction://hlinksldjump"/>
          </p:cNvPr>
          <p:cNvSpPr/>
          <p:nvPr/>
        </p:nvSpPr>
        <p:spPr>
          <a:xfrm>
            <a:off x="155448" y="606075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12</a:t>
            </a:r>
          </a:p>
        </p:txBody>
      </p:sp>
      <p:sp>
        <p:nvSpPr>
          <p:cNvPr id="245" name="TextBox 244">
            <a:hlinkClick r:id="rId14" action="ppaction://hlinksldjump"/>
          </p:cNvPr>
          <p:cNvSpPr txBox="1"/>
          <p:nvPr/>
        </p:nvSpPr>
        <p:spPr>
          <a:xfrm>
            <a:off x="530352" y="596760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Glosario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404872" y="210312"/>
            <a:ext cx="9723119" cy="578815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2340864" y="146304"/>
            <a:ext cx="9723119" cy="5788151"/>
          </a:xfrm>
          <a:prstGeom prst="rect">
            <a:avLst/>
          </a:prstGeom>
          <a:solidFill>
            <a:srgbClr val="FFFFFF"/>
          </a:solidFill>
          <a:ln w="317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2450592" y="256032"/>
            <a:ext cx="9503663" cy="56692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2505456" y="256032"/>
            <a:ext cx="530352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🏰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054096" y="256032"/>
            <a:ext cx="8790431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5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NIVEL 4: Estructura: 3 categorías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542032" y="914400"/>
            <a:ext cx="9320783" cy="329184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MoProSoft organiza 9 procesos en tres categorías, como los pisos de un castillo.</a:t>
            </a:r>
          </a:p>
        </p:txBody>
      </p:sp>
      <p:sp>
        <p:nvSpPr>
          <p:cNvPr id="252" name="Isosceles Triangle 251"/>
          <p:cNvSpPr/>
          <p:nvPr/>
        </p:nvSpPr>
        <p:spPr>
          <a:xfrm>
            <a:off x="6124941" y="1298448"/>
            <a:ext cx="2154965" cy="274320"/>
          </a:xfrm>
          <a:prstGeom prst="triangle">
            <a:avLst/>
          </a:prstGeom>
          <a:solidFill>
            <a:srgbClr val="4A2027"/>
          </a:solidFill>
          <a:ln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4033357" y="1572768"/>
            <a:ext cx="6338132" cy="1061618"/>
          </a:xfrm>
          <a:prstGeom prst="rect">
            <a:avLst/>
          </a:prstGeom>
          <a:solidFill>
            <a:srgbClr val="4A2027"/>
          </a:solidFill>
          <a:ln w="22225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4143085" y="1591056"/>
            <a:ext cx="6118676" cy="360950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ALTA DIRECCIÓN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4143085" y="1912485"/>
            <a:ext cx="6118676" cy="318485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Estrategia y negocio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124797" y="2230971"/>
            <a:ext cx="6155252" cy="360950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GN  Gestión de Negocio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3287694" y="2689250"/>
            <a:ext cx="7829458" cy="1167780"/>
          </a:xfrm>
          <a:prstGeom prst="rect">
            <a:avLst/>
          </a:prstGeom>
          <a:solidFill>
            <a:srgbClr val="9B6B72"/>
          </a:solidFill>
          <a:ln w="22225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3397422" y="2707538"/>
            <a:ext cx="7610002" cy="397045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GERENCIA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3397422" y="3062940"/>
            <a:ext cx="7610002" cy="350334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Gestiona procesos, proyectos y recursos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3379134" y="3413274"/>
            <a:ext cx="7646578" cy="397045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GPR, GPY, GRE (RHAT, BSI, CO)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542032" y="3911894"/>
            <a:ext cx="9320783" cy="1309329"/>
          </a:xfrm>
          <a:prstGeom prst="rect">
            <a:avLst/>
          </a:prstGeom>
          <a:solidFill>
            <a:srgbClr val="7FA8D6"/>
          </a:solidFill>
          <a:ln w="22225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2651760" y="3930182"/>
            <a:ext cx="9101327" cy="445171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OPERACIÓN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651760" y="4330880"/>
            <a:ext cx="9101327" cy="39279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Hace el trabajo de software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2633472" y="4723678"/>
            <a:ext cx="9137903" cy="445171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APE, DMS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2542032" y="5294375"/>
            <a:ext cx="9320783" cy="530352"/>
          </a:xfrm>
          <a:prstGeom prst="rect">
            <a:avLst/>
          </a:prstGeom>
          <a:solidFill>
            <a:srgbClr val="C9DFF5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36576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La Alta Dirección fija objetivos, la Gerencia da recursos y procesos, la Operación entrega productos y reporta hacia arriba.</a:t>
            </a:r>
          </a:p>
        </p:txBody>
      </p:sp>
      <p:sp>
        <p:nvSpPr>
          <p:cNvPr id="266" name="Rectangle 265">
            <a:hlinkClick r:id="rId2" action="ppaction://hlinksldjump"/>
          </p:cNvPr>
          <p:cNvSpPr/>
          <p:nvPr/>
        </p:nvSpPr>
        <p:spPr>
          <a:xfrm>
            <a:off x="2391156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>
            <a:hlinkClick r:id="rId2" action="ppaction://hlinksldjump"/>
          </p:cNvPr>
          <p:cNvSpPr/>
          <p:nvPr/>
        </p:nvSpPr>
        <p:spPr>
          <a:xfrm>
            <a:off x="2340864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INDICE</a:t>
            </a:r>
          </a:p>
        </p:txBody>
      </p:sp>
      <p:sp>
        <p:nvSpPr>
          <p:cNvPr id="268" name="Rectangle 267">
            <a:hlinkClick r:id="rId5" action="ppaction://hlinksldjump"/>
          </p:cNvPr>
          <p:cNvSpPr/>
          <p:nvPr/>
        </p:nvSpPr>
        <p:spPr>
          <a:xfrm>
            <a:off x="566267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>
            <a:hlinkClick r:id="rId5" action="ppaction://hlinksldjump"/>
          </p:cNvPr>
          <p:cNvSpPr/>
          <p:nvPr/>
        </p:nvSpPr>
        <p:spPr>
          <a:xfrm>
            <a:off x="5612383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◀ ANTERIOR</a:t>
            </a:r>
          </a:p>
        </p:txBody>
      </p:sp>
      <p:sp>
        <p:nvSpPr>
          <p:cNvPr id="270" name="Rectangle 269">
            <a:hlinkClick r:id="rId7" action="ppaction://hlinksldjump"/>
          </p:cNvPr>
          <p:cNvSpPr/>
          <p:nvPr/>
        </p:nvSpPr>
        <p:spPr>
          <a:xfrm>
            <a:off x="893419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270">
            <a:hlinkClick r:id="rId7" action="ppaction://hlinksldjump"/>
          </p:cNvPr>
          <p:cNvSpPr/>
          <p:nvPr/>
        </p:nvSpPr>
        <p:spPr>
          <a:xfrm>
            <a:off x="8883903" y="6007607"/>
            <a:ext cx="3180079" cy="420624"/>
          </a:xfrm>
          <a:prstGeom prst="rect">
            <a:avLst/>
          </a:prstGeom>
          <a:solidFill>
            <a:srgbClr val="7FA8D6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SIGUIENTE 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214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0817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3619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420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9222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4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4825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7627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042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3230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8833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163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4436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7238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284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5643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8444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1246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6849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9651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2452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525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8056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0857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3659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6460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9262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20639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4865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7667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0468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32703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6071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8873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16751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4476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72783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79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28815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65683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784847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1286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040879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6889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96911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424927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5294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68095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80897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36991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6500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9302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32103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449055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7707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050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3310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96112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08913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2171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34516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47318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0120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7292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85723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98524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11326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2412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36929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49731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62532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7533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88136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100937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13739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26540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139342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52144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64945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77747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90548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203350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2161520" y="0"/>
            <a:ext cx="30479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2801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5603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8404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1206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4008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6809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9611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02412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5214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28016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40817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53619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66420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79222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92024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04825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17627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3042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43230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56032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8833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8163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94436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238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20040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3284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45643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58444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71246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8404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96849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409651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22452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3525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48056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60857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73659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86460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499262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120639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24865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37667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50468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5632703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76071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88873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016751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14476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272783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40079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528815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65683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7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91286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040879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16889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7296911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424927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55294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68095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80897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936991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06500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19302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32103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449055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57707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7050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83310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96112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08913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2171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34516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47318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960120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97292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985723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98524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11326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02412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036929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49731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062532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07533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088136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100937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113739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126540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1139342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1152144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1164945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1177747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1190548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1203350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2161520" y="6501383"/>
            <a:ext cx="30479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201168" y="6565392"/>
            <a:ext cx="786384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DIAP. 07  ·  NIVEL 5/12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74479" y="6565392"/>
            <a:ext cx="278892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HECHO POR RUM</a:t>
            </a:r>
          </a:p>
        </p:txBody>
      </p:sp>
      <p:sp>
        <p:nvSpPr>
          <p:cNvPr id="197" name="Rectangle 196">
            <a:hlinkClick r:id="rId2" action="ppaction://hlinksldjump"/>
          </p:cNvPr>
          <p:cNvSpPr/>
          <p:nvPr/>
        </p:nvSpPr>
        <p:spPr>
          <a:xfrm>
            <a:off x="109728" y="128016"/>
            <a:ext cx="2139696" cy="365760"/>
          </a:xfrm>
          <a:prstGeom prst="rect">
            <a:avLst/>
          </a:prstGeom>
          <a:solidFill>
            <a:srgbClr val="4A2027"/>
          </a:solidFill>
          <a:ln w="25400">
            <a:solidFill>
              <a:srgbClr val="FFFFFF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MAPA</a:t>
            </a:r>
          </a:p>
        </p:txBody>
      </p:sp>
      <p:sp>
        <p:nvSpPr>
          <p:cNvPr id="198" name="Rectangle 197">
            <a:hlinkClick r:id="rId3" action="ppaction://hlinksldjump"/>
          </p:cNvPr>
          <p:cNvSpPr/>
          <p:nvPr/>
        </p:nvSpPr>
        <p:spPr>
          <a:xfrm>
            <a:off x="137160" y="57607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>
            <a:hlinkClick r:id="rId3" action="ppaction://hlinksldjump"/>
          </p:cNvPr>
          <p:cNvSpPr/>
          <p:nvPr/>
        </p:nvSpPr>
        <p:spPr>
          <a:xfrm>
            <a:off x="109728" y="54864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>
            <a:hlinkClick r:id="rId3" action="ppaction://hlinksldjump"/>
          </p:cNvPr>
          <p:cNvSpPr/>
          <p:nvPr/>
        </p:nvSpPr>
        <p:spPr>
          <a:xfrm>
            <a:off x="155448" y="64179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</p:txBody>
      </p:sp>
      <p:sp>
        <p:nvSpPr>
          <p:cNvPr id="201" name="TextBox 200">
            <a:hlinkClick r:id="rId3" action="ppaction://hlinksldjump"/>
          </p:cNvPr>
          <p:cNvSpPr txBox="1"/>
          <p:nvPr/>
        </p:nvSpPr>
        <p:spPr>
          <a:xfrm>
            <a:off x="530352" y="54864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¿Qué es?</a:t>
            </a:r>
          </a:p>
        </p:txBody>
      </p:sp>
      <p:sp>
        <p:nvSpPr>
          <p:cNvPr id="202" name="Rectangle 201">
            <a:hlinkClick r:id="rId4" action="ppaction://hlinksldjump"/>
          </p:cNvPr>
          <p:cNvSpPr/>
          <p:nvPr/>
        </p:nvSpPr>
        <p:spPr>
          <a:xfrm>
            <a:off x="137160" y="106870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>
            <a:hlinkClick r:id="rId4" action="ppaction://hlinksldjump"/>
          </p:cNvPr>
          <p:cNvSpPr/>
          <p:nvPr/>
        </p:nvSpPr>
        <p:spPr>
          <a:xfrm>
            <a:off x="109728" y="104127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>
            <a:hlinkClick r:id="rId4" action="ppaction://hlinksldjump"/>
          </p:cNvPr>
          <p:cNvSpPr/>
          <p:nvPr/>
        </p:nvSpPr>
        <p:spPr>
          <a:xfrm>
            <a:off x="155448" y="113442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</p:txBody>
      </p:sp>
      <p:sp>
        <p:nvSpPr>
          <p:cNvPr id="205" name="TextBox 204">
            <a:hlinkClick r:id="rId4" action="ppaction://hlinksldjump"/>
          </p:cNvPr>
          <p:cNvSpPr txBox="1"/>
          <p:nvPr/>
        </p:nvSpPr>
        <p:spPr>
          <a:xfrm>
            <a:off x="530352" y="104127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Historia</a:t>
            </a:r>
          </a:p>
        </p:txBody>
      </p:sp>
      <p:sp>
        <p:nvSpPr>
          <p:cNvPr id="206" name="Rectangle 205">
            <a:hlinkClick r:id="rId5" action="ppaction://hlinksldjump"/>
          </p:cNvPr>
          <p:cNvSpPr/>
          <p:nvPr/>
        </p:nvSpPr>
        <p:spPr>
          <a:xfrm>
            <a:off x="137160" y="1561338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>
            <a:hlinkClick r:id="rId5" action="ppaction://hlinksldjump"/>
          </p:cNvPr>
          <p:cNvSpPr/>
          <p:nvPr/>
        </p:nvSpPr>
        <p:spPr>
          <a:xfrm>
            <a:off x="109728" y="1533906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>
            <a:hlinkClick r:id="rId5" action="ppaction://hlinksldjump"/>
          </p:cNvPr>
          <p:cNvSpPr/>
          <p:nvPr/>
        </p:nvSpPr>
        <p:spPr>
          <a:xfrm>
            <a:off x="155448" y="1627060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</p:txBody>
      </p:sp>
      <p:sp>
        <p:nvSpPr>
          <p:cNvPr id="209" name="TextBox 208">
            <a:hlinkClick r:id="rId5" action="ppaction://hlinksldjump"/>
          </p:cNvPr>
          <p:cNvSpPr txBox="1"/>
          <p:nvPr/>
        </p:nvSpPr>
        <p:spPr>
          <a:xfrm>
            <a:off x="530352" y="1533906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Objetivos</a:t>
            </a:r>
          </a:p>
        </p:txBody>
      </p:sp>
      <p:sp>
        <p:nvSpPr>
          <p:cNvPr id="210" name="Rectangle 209">
            <a:hlinkClick r:id="rId6" action="ppaction://hlinksldjump"/>
          </p:cNvPr>
          <p:cNvSpPr/>
          <p:nvPr/>
        </p:nvSpPr>
        <p:spPr>
          <a:xfrm>
            <a:off x="137160" y="2053971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>
            <a:hlinkClick r:id="rId6" action="ppaction://hlinksldjump"/>
          </p:cNvPr>
          <p:cNvSpPr/>
          <p:nvPr/>
        </p:nvSpPr>
        <p:spPr>
          <a:xfrm>
            <a:off x="109728" y="2026539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>
            <a:hlinkClick r:id="rId6" action="ppaction://hlinksldjump"/>
          </p:cNvPr>
          <p:cNvSpPr/>
          <p:nvPr/>
        </p:nvSpPr>
        <p:spPr>
          <a:xfrm>
            <a:off x="155448" y="2119693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</p:txBody>
      </p:sp>
      <p:sp>
        <p:nvSpPr>
          <p:cNvPr id="213" name="TextBox 212">
            <a:hlinkClick r:id="rId6" action="ppaction://hlinksldjump"/>
          </p:cNvPr>
          <p:cNvSpPr txBox="1"/>
          <p:nvPr/>
        </p:nvSpPr>
        <p:spPr>
          <a:xfrm>
            <a:off x="530352" y="2026539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Estructura</a:t>
            </a:r>
          </a:p>
        </p:txBody>
      </p:sp>
      <p:sp>
        <p:nvSpPr>
          <p:cNvPr id="214" name="Rectangle 213">
            <a:hlinkClick r:id="rId7" action="ppaction://hlinksldjump"/>
          </p:cNvPr>
          <p:cNvSpPr/>
          <p:nvPr/>
        </p:nvSpPr>
        <p:spPr>
          <a:xfrm>
            <a:off x="137160" y="2546604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>
            <a:hlinkClick r:id="rId7" action="ppaction://hlinksldjump"/>
          </p:cNvPr>
          <p:cNvSpPr/>
          <p:nvPr/>
        </p:nvSpPr>
        <p:spPr>
          <a:xfrm>
            <a:off x="109728" y="2519172"/>
            <a:ext cx="2139696" cy="460629"/>
          </a:xfrm>
          <a:prstGeom prst="rect">
            <a:avLst/>
          </a:prstGeom>
          <a:solidFill>
            <a:srgbClr val="9B6B72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>
            <a:hlinkClick r:id="rId7" action="ppaction://hlinksldjump"/>
          </p:cNvPr>
          <p:cNvSpPr/>
          <p:nvPr/>
        </p:nvSpPr>
        <p:spPr>
          <a:xfrm>
            <a:off x="155448" y="2612326"/>
            <a:ext cx="329184" cy="274320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05</a:t>
            </a:r>
          </a:p>
        </p:txBody>
      </p:sp>
      <p:sp>
        <p:nvSpPr>
          <p:cNvPr id="217" name="TextBox 216">
            <a:hlinkClick r:id="rId7" action="ppaction://hlinksldjump"/>
          </p:cNvPr>
          <p:cNvSpPr txBox="1"/>
          <p:nvPr/>
        </p:nvSpPr>
        <p:spPr>
          <a:xfrm>
            <a:off x="530352" y="2519172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9 procesos</a:t>
            </a:r>
          </a:p>
        </p:txBody>
      </p:sp>
      <p:sp>
        <p:nvSpPr>
          <p:cNvPr id="218" name="Rectangle 217">
            <a:hlinkClick r:id="rId8" action="ppaction://hlinksldjump"/>
          </p:cNvPr>
          <p:cNvSpPr/>
          <p:nvPr/>
        </p:nvSpPr>
        <p:spPr>
          <a:xfrm>
            <a:off x="137160" y="3039237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hlinkClick r:id="rId8" action="ppaction://hlinksldjump"/>
          </p:cNvPr>
          <p:cNvSpPr/>
          <p:nvPr/>
        </p:nvSpPr>
        <p:spPr>
          <a:xfrm>
            <a:off x="109728" y="3011805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>
            <a:hlinkClick r:id="rId8" action="ppaction://hlinksldjump"/>
          </p:cNvPr>
          <p:cNvSpPr/>
          <p:nvPr/>
        </p:nvSpPr>
        <p:spPr>
          <a:xfrm>
            <a:off x="155448" y="3104959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06</a:t>
            </a:r>
          </a:p>
        </p:txBody>
      </p:sp>
      <p:sp>
        <p:nvSpPr>
          <p:cNvPr id="221" name="TextBox 220">
            <a:hlinkClick r:id="rId8" action="ppaction://hlinksldjump"/>
          </p:cNvPr>
          <p:cNvSpPr txBox="1"/>
          <p:nvPr/>
        </p:nvSpPr>
        <p:spPr>
          <a:xfrm>
            <a:off x="530352" y="3011805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Anatomía</a:t>
            </a:r>
          </a:p>
        </p:txBody>
      </p:sp>
      <p:sp>
        <p:nvSpPr>
          <p:cNvPr id="222" name="Rectangle 221">
            <a:hlinkClick r:id="rId9" action="ppaction://hlinksldjump"/>
          </p:cNvPr>
          <p:cNvSpPr/>
          <p:nvPr/>
        </p:nvSpPr>
        <p:spPr>
          <a:xfrm>
            <a:off x="137160" y="3531870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>
            <a:hlinkClick r:id="rId9" action="ppaction://hlinksldjump"/>
          </p:cNvPr>
          <p:cNvSpPr/>
          <p:nvPr/>
        </p:nvSpPr>
        <p:spPr>
          <a:xfrm>
            <a:off x="109728" y="3504438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>
            <a:hlinkClick r:id="rId9" action="ppaction://hlinksldjump"/>
          </p:cNvPr>
          <p:cNvSpPr/>
          <p:nvPr/>
        </p:nvSpPr>
        <p:spPr>
          <a:xfrm>
            <a:off x="155448" y="3597592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07</a:t>
            </a:r>
          </a:p>
        </p:txBody>
      </p:sp>
      <p:sp>
        <p:nvSpPr>
          <p:cNvPr id="225" name="TextBox 224">
            <a:hlinkClick r:id="rId9" action="ppaction://hlinksldjump"/>
          </p:cNvPr>
          <p:cNvSpPr txBox="1"/>
          <p:nvPr/>
        </p:nvSpPr>
        <p:spPr>
          <a:xfrm>
            <a:off x="530352" y="3504438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Ciclo DMS</a:t>
            </a:r>
          </a:p>
        </p:txBody>
      </p:sp>
      <p:sp>
        <p:nvSpPr>
          <p:cNvPr id="226" name="Rectangle 225">
            <a:hlinkClick r:id="rId10" action="ppaction://hlinksldjump"/>
          </p:cNvPr>
          <p:cNvSpPr/>
          <p:nvPr/>
        </p:nvSpPr>
        <p:spPr>
          <a:xfrm>
            <a:off x="137160" y="4024503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>
            <a:hlinkClick r:id="rId10" action="ppaction://hlinksldjump"/>
          </p:cNvPr>
          <p:cNvSpPr/>
          <p:nvPr/>
        </p:nvSpPr>
        <p:spPr>
          <a:xfrm>
            <a:off x="109728" y="3997071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>
            <a:hlinkClick r:id="rId10" action="ppaction://hlinksldjump"/>
          </p:cNvPr>
          <p:cNvSpPr/>
          <p:nvPr/>
        </p:nvSpPr>
        <p:spPr>
          <a:xfrm>
            <a:off x="155448" y="4090225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08</a:t>
            </a:r>
          </a:p>
        </p:txBody>
      </p:sp>
      <p:sp>
        <p:nvSpPr>
          <p:cNvPr id="229" name="TextBox 228">
            <a:hlinkClick r:id="rId10" action="ppaction://hlinksldjump"/>
          </p:cNvPr>
          <p:cNvSpPr txBox="1"/>
          <p:nvPr/>
        </p:nvSpPr>
        <p:spPr>
          <a:xfrm>
            <a:off x="530352" y="3997071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Roles</a:t>
            </a:r>
          </a:p>
        </p:txBody>
      </p:sp>
      <p:sp>
        <p:nvSpPr>
          <p:cNvPr id="230" name="Rectangle 229">
            <a:hlinkClick r:id="rId11" action="ppaction://hlinksldjump"/>
          </p:cNvPr>
          <p:cNvSpPr/>
          <p:nvPr/>
        </p:nvSpPr>
        <p:spPr>
          <a:xfrm>
            <a:off x="137160" y="4517136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>
            <a:hlinkClick r:id="rId11" action="ppaction://hlinksldjump"/>
          </p:cNvPr>
          <p:cNvSpPr/>
          <p:nvPr/>
        </p:nvSpPr>
        <p:spPr>
          <a:xfrm>
            <a:off x="109728" y="4489704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>
            <a:hlinkClick r:id="rId11" action="ppaction://hlinksldjump"/>
          </p:cNvPr>
          <p:cNvSpPr/>
          <p:nvPr/>
        </p:nvSpPr>
        <p:spPr>
          <a:xfrm>
            <a:off x="155448" y="4582858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09</a:t>
            </a:r>
          </a:p>
        </p:txBody>
      </p:sp>
      <p:sp>
        <p:nvSpPr>
          <p:cNvPr id="233" name="TextBox 232">
            <a:hlinkClick r:id="rId11" action="ppaction://hlinksldjump"/>
          </p:cNvPr>
          <p:cNvSpPr txBox="1"/>
          <p:nvPr/>
        </p:nvSpPr>
        <p:spPr>
          <a:xfrm>
            <a:off x="530352" y="4489704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Capacidad</a:t>
            </a:r>
          </a:p>
        </p:txBody>
      </p:sp>
      <p:sp>
        <p:nvSpPr>
          <p:cNvPr id="234" name="Rectangle 233">
            <a:hlinkClick r:id="rId12" action="ppaction://hlinksldjump"/>
          </p:cNvPr>
          <p:cNvSpPr/>
          <p:nvPr/>
        </p:nvSpPr>
        <p:spPr>
          <a:xfrm>
            <a:off x="137160" y="5009769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>
            <a:hlinkClick r:id="rId12" action="ppaction://hlinksldjump"/>
          </p:cNvPr>
          <p:cNvSpPr/>
          <p:nvPr/>
        </p:nvSpPr>
        <p:spPr>
          <a:xfrm>
            <a:off x="109728" y="4982337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>
            <a:hlinkClick r:id="rId12" action="ppaction://hlinksldjump"/>
          </p:cNvPr>
          <p:cNvSpPr/>
          <p:nvPr/>
        </p:nvSpPr>
        <p:spPr>
          <a:xfrm>
            <a:off x="155448" y="5075491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10</a:t>
            </a:r>
          </a:p>
        </p:txBody>
      </p:sp>
      <p:sp>
        <p:nvSpPr>
          <p:cNvPr id="237" name="TextBox 236">
            <a:hlinkClick r:id="rId12" action="ppaction://hlinksldjump"/>
          </p:cNvPr>
          <p:cNvSpPr txBox="1"/>
          <p:nvPr/>
        </p:nvSpPr>
        <p:spPr>
          <a:xfrm>
            <a:off x="530352" y="4982337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EvalProSoft</a:t>
            </a:r>
          </a:p>
        </p:txBody>
      </p:sp>
      <p:sp>
        <p:nvSpPr>
          <p:cNvPr id="238" name="Rectangle 237">
            <a:hlinkClick r:id="rId13" action="ppaction://hlinksldjump"/>
          </p:cNvPr>
          <p:cNvSpPr/>
          <p:nvPr/>
        </p:nvSpPr>
        <p:spPr>
          <a:xfrm>
            <a:off x="137160" y="550240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>
            <a:hlinkClick r:id="rId13" action="ppaction://hlinksldjump"/>
          </p:cNvPr>
          <p:cNvSpPr/>
          <p:nvPr/>
        </p:nvSpPr>
        <p:spPr>
          <a:xfrm>
            <a:off x="109728" y="547497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>
            <a:hlinkClick r:id="rId13" action="ppaction://hlinksldjump"/>
          </p:cNvPr>
          <p:cNvSpPr/>
          <p:nvPr/>
        </p:nvSpPr>
        <p:spPr>
          <a:xfrm>
            <a:off x="155448" y="556812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11</a:t>
            </a:r>
          </a:p>
        </p:txBody>
      </p:sp>
      <p:sp>
        <p:nvSpPr>
          <p:cNvPr id="241" name="TextBox 240">
            <a:hlinkClick r:id="rId13" action="ppaction://hlinksldjump"/>
          </p:cNvPr>
          <p:cNvSpPr txBox="1"/>
          <p:nvPr/>
        </p:nvSpPr>
        <p:spPr>
          <a:xfrm>
            <a:off x="530352" y="547497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Modelos</a:t>
            </a:r>
          </a:p>
        </p:txBody>
      </p:sp>
      <p:sp>
        <p:nvSpPr>
          <p:cNvPr id="242" name="Rectangle 241">
            <a:hlinkClick r:id="rId14" action="ppaction://hlinksldjump"/>
          </p:cNvPr>
          <p:cNvSpPr/>
          <p:nvPr/>
        </p:nvSpPr>
        <p:spPr>
          <a:xfrm>
            <a:off x="137160" y="599503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>
            <a:hlinkClick r:id="rId14" action="ppaction://hlinksldjump"/>
          </p:cNvPr>
          <p:cNvSpPr/>
          <p:nvPr/>
        </p:nvSpPr>
        <p:spPr>
          <a:xfrm>
            <a:off x="109728" y="596760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>
            <a:hlinkClick r:id="rId14" action="ppaction://hlinksldjump"/>
          </p:cNvPr>
          <p:cNvSpPr/>
          <p:nvPr/>
        </p:nvSpPr>
        <p:spPr>
          <a:xfrm>
            <a:off x="155448" y="606075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12</a:t>
            </a:r>
          </a:p>
        </p:txBody>
      </p:sp>
      <p:sp>
        <p:nvSpPr>
          <p:cNvPr id="245" name="TextBox 244">
            <a:hlinkClick r:id="rId14" action="ppaction://hlinksldjump"/>
          </p:cNvPr>
          <p:cNvSpPr txBox="1"/>
          <p:nvPr/>
        </p:nvSpPr>
        <p:spPr>
          <a:xfrm>
            <a:off x="530352" y="596760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Glosario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404872" y="210312"/>
            <a:ext cx="9723119" cy="578815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2340864" y="146304"/>
            <a:ext cx="9723119" cy="5788151"/>
          </a:xfrm>
          <a:prstGeom prst="rect">
            <a:avLst/>
          </a:prstGeom>
          <a:solidFill>
            <a:srgbClr val="FFFFFF"/>
          </a:solidFill>
          <a:ln w="317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2450592" y="256032"/>
            <a:ext cx="9503663" cy="56692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2505456" y="256032"/>
            <a:ext cx="530352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🗺️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054096" y="256032"/>
            <a:ext cx="8790431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5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NIVEL 5: Los 9 procesos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2542032" y="914400"/>
            <a:ext cx="932078" cy="340601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SIGLA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3474110" y="914400"/>
            <a:ext cx="3075858" cy="340601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PROCESO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549968" y="914400"/>
            <a:ext cx="1677741" cy="340601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CATEGORÍA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8227710" y="914400"/>
            <a:ext cx="3635105" cy="340601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PROPÓSITO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2542032" y="1255001"/>
            <a:ext cx="932078" cy="676516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GN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3474110" y="1255001"/>
            <a:ext cx="3075858" cy="676516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Gestión de Negocio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6549968" y="1255001"/>
            <a:ext cx="1677741" cy="676516"/>
          </a:xfrm>
          <a:prstGeom prst="rect">
            <a:avLst/>
          </a:prstGeom>
          <a:solidFill>
            <a:srgbClr val="4A2027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Alta Dirección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227710" y="1255001"/>
            <a:ext cx="3635105" cy="676516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Define la razón de ser, visión, estrategia y objetivos; vigila el negocio y el portafolio de proyectos.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2542032" y="1931517"/>
            <a:ext cx="932078" cy="486651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GPR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3474110" y="1931517"/>
            <a:ext cx="3075858" cy="486651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Gestión de Procesos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6549968" y="1931517"/>
            <a:ext cx="1677741" cy="486651"/>
          </a:xfrm>
          <a:prstGeom prst="rect">
            <a:avLst/>
          </a:prstGeom>
          <a:solidFill>
            <a:srgbClr val="9B6B72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Gerencia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8227710" y="1931517"/>
            <a:ext cx="3635105" cy="486651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Define, mantiene y mejora los procesos de la organización y su base de activos.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542032" y="2418168"/>
            <a:ext cx="932078" cy="486651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GPY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3474110" y="2418168"/>
            <a:ext cx="3075858" cy="486651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Gestión de Proyectos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6549968" y="2418168"/>
            <a:ext cx="1677741" cy="486651"/>
          </a:xfrm>
          <a:prstGeom prst="rect">
            <a:avLst/>
          </a:prstGeom>
          <a:solidFill>
            <a:srgbClr val="9B6B72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Gerencia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8227710" y="2418168"/>
            <a:ext cx="3635105" cy="486651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Asegura que cada proyecto se planee y ejecute cumpliendo tiempo, costo y alcance.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2542032" y="2904820"/>
            <a:ext cx="932078" cy="486651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GRE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3474110" y="2904820"/>
            <a:ext cx="3075858" cy="486651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Gestión de Recursos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6549968" y="2904820"/>
            <a:ext cx="1677741" cy="486651"/>
          </a:xfrm>
          <a:prstGeom prst="rect">
            <a:avLst/>
          </a:prstGeom>
          <a:solidFill>
            <a:srgbClr val="9B6B72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Gerencia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8227710" y="2904820"/>
            <a:ext cx="3635105" cy="486651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Provee personas, bienes, servicios, infraestructura y conocimiento; incluye 3 subprocesos.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2542032" y="3391471"/>
            <a:ext cx="932078" cy="486651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RHAT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3474110" y="3391471"/>
            <a:ext cx="3075858" cy="486651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Recursos Humanos y Ambiente de Trabajo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6549968" y="3391471"/>
            <a:ext cx="1677741" cy="486651"/>
          </a:xfrm>
          <a:prstGeom prst="rect">
            <a:avLst/>
          </a:prstGeom>
          <a:solidFill>
            <a:srgbClr val="9B6B72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Gerencia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8227710" y="3391471"/>
            <a:ext cx="3635105" cy="486651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Subproceso de GRE: personal competente y buen ambiente laboral.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2542032" y="3878122"/>
            <a:ext cx="932078" cy="486651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BSI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3474110" y="3878122"/>
            <a:ext cx="3075858" cy="486651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Bienes, Servicios e Infraestructura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6549968" y="3878122"/>
            <a:ext cx="1677741" cy="486651"/>
          </a:xfrm>
          <a:prstGeom prst="rect">
            <a:avLst/>
          </a:prstGeom>
          <a:solidFill>
            <a:srgbClr val="9B6B72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Gerencia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8227710" y="3878122"/>
            <a:ext cx="3635105" cy="486651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Subproceso de GRE: adquisición y mantenimiento de bienes, servicios e infraestructura.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2542032" y="4364774"/>
            <a:ext cx="932078" cy="486651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CO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3474110" y="4364774"/>
            <a:ext cx="3075858" cy="486651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Conocimiento de la Organización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6549968" y="4364774"/>
            <a:ext cx="1677741" cy="486651"/>
          </a:xfrm>
          <a:prstGeom prst="rect">
            <a:avLst/>
          </a:prstGeom>
          <a:solidFill>
            <a:srgbClr val="9B6B72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Gerencia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8227710" y="4364774"/>
            <a:ext cx="3635105" cy="486651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Subproceso de GRE: guarda y comparte el conocimiento y los activos de la empresa.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2542032" y="4851425"/>
            <a:ext cx="932078" cy="486651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APE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3474110" y="4851425"/>
            <a:ext cx="3075858" cy="486651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Administración de Proyectos Específicos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6549968" y="4851425"/>
            <a:ext cx="1677741" cy="486651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Operación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227710" y="4851425"/>
            <a:ext cx="3635105" cy="486651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Planea, realiza, evalúa y cierra cada proyecto de desarrollo o mantenimiento.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2542032" y="5338076"/>
            <a:ext cx="932078" cy="486651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DMS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3474110" y="5338076"/>
            <a:ext cx="3075858" cy="486651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Desarrollo y Mantenimiento de Software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6549968" y="5338076"/>
            <a:ext cx="1677741" cy="486651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Operación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8227710" y="5338076"/>
            <a:ext cx="3635105" cy="486651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3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Construye o modifica el software: requerimientos, diseño, construcción, pruebas y entrega.</a:t>
            </a:r>
          </a:p>
        </p:txBody>
      </p:sp>
      <p:sp>
        <p:nvSpPr>
          <p:cNvPr id="291" name="Rectangle 290">
            <a:hlinkClick r:id="rId2" action="ppaction://hlinksldjump"/>
          </p:cNvPr>
          <p:cNvSpPr/>
          <p:nvPr/>
        </p:nvSpPr>
        <p:spPr>
          <a:xfrm>
            <a:off x="2391156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Rectangle 291">
            <a:hlinkClick r:id="rId2" action="ppaction://hlinksldjump"/>
          </p:cNvPr>
          <p:cNvSpPr/>
          <p:nvPr/>
        </p:nvSpPr>
        <p:spPr>
          <a:xfrm>
            <a:off x="2340864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INDICE</a:t>
            </a:r>
          </a:p>
        </p:txBody>
      </p:sp>
      <p:sp>
        <p:nvSpPr>
          <p:cNvPr id="293" name="Rectangle 292">
            <a:hlinkClick r:id="rId6" action="ppaction://hlinksldjump"/>
          </p:cNvPr>
          <p:cNvSpPr/>
          <p:nvPr/>
        </p:nvSpPr>
        <p:spPr>
          <a:xfrm>
            <a:off x="566267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Rectangle 293">
            <a:hlinkClick r:id="rId6" action="ppaction://hlinksldjump"/>
          </p:cNvPr>
          <p:cNvSpPr/>
          <p:nvPr/>
        </p:nvSpPr>
        <p:spPr>
          <a:xfrm>
            <a:off x="5612383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◀ ANTERIOR</a:t>
            </a:r>
          </a:p>
        </p:txBody>
      </p:sp>
      <p:sp>
        <p:nvSpPr>
          <p:cNvPr id="295" name="Rectangle 294">
            <a:hlinkClick r:id="rId8" action="ppaction://hlinksldjump"/>
          </p:cNvPr>
          <p:cNvSpPr/>
          <p:nvPr/>
        </p:nvSpPr>
        <p:spPr>
          <a:xfrm>
            <a:off x="893419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Rectangle 295">
            <a:hlinkClick r:id="rId8" action="ppaction://hlinksldjump"/>
          </p:cNvPr>
          <p:cNvSpPr/>
          <p:nvPr/>
        </p:nvSpPr>
        <p:spPr>
          <a:xfrm>
            <a:off x="8883903" y="6007607"/>
            <a:ext cx="3180079" cy="420624"/>
          </a:xfrm>
          <a:prstGeom prst="rect">
            <a:avLst/>
          </a:prstGeom>
          <a:solidFill>
            <a:srgbClr val="7FA8D6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SIGUIENTE 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214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0817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3619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420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9222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4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4825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7627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042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3230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8833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163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4436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7238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284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5643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8444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1246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6849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9651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2452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525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8056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0857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3659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6460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9262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20639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4865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7667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0468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32703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6071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8873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16751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4476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72783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79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28815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65683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784847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1286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040879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6889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96911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424927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5294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68095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80897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36991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6500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9302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32103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449055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7707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050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3310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96112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08913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2171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34516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47318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0120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7292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85723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98524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11326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2412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36929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49731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62532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7533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88136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100937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13739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26540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139342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52144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64945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77747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90548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203350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2161520" y="0"/>
            <a:ext cx="30479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2801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5603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8404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1206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4008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6809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9611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02412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5214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28016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40817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53619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66420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79222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92024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04825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17627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3042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43230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56032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8833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8163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94436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238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20040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3284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45643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58444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71246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8404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96849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409651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22452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3525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48056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60857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73659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86460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499262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120639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24865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37667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50468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5632703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76071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88873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016751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14476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272783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40079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528815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65683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7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91286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040879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16889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7296911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424927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55294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68095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80897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936991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06500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19302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32103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449055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57707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7050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83310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96112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08913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2171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34516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47318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960120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97292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985723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98524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11326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02412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036929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49731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062532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07533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088136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100937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113739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126540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1139342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1152144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1164945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1177747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1190548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1203350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2161520" y="6501383"/>
            <a:ext cx="30479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201168" y="6565392"/>
            <a:ext cx="786384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DIAP. 08  ·  NIVEL 6/12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74479" y="6565392"/>
            <a:ext cx="278892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HECHO POR RUM</a:t>
            </a:r>
          </a:p>
        </p:txBody>
      </p:sp>
      <p:sp>
        <p:nvSpPr>
          <p:cNvPr id="197" name="Rectangle 196">
            <a:hlinkClick r:id="rId2" action="ppaction://hlinksldjump"/>
          </p:cNvPr>
          <p:cNvSpPr/>
          <p:nvPr/>
        </p:nvSpPr>
        <p:spPr>
          <a:xfrm>
            <a:off x="109728" y="128016"/>
            <a:ext cx="2139696" cy="365760"/>
          </a:xfrm>
          <a:prstGeom prst="rect">
            <a:avLst/>
          </a:prstGeom>
          <a:solidFill>
            <a:srgbClr val="4A2027"/>
          </a:solidFill>
          <a:ln w="25400">
            <a:solidFill>
              <a:srgbClr val="FFFFFF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MAPA</a:t>
            </a:r>
          </a:p>
        </p:txBody>
      </p:sp>
      <p:sp>
        <p:nvSpPr>
          <p:cNvPr id="198" name="Rectangle 197">
            <a:hlinkClick r:id="rId3" action="ppaction://hlinksldjump"/>
          </p:cNvPr>
          <p:cNvSpPr/>
          <p:nvPr/>
        </p:nvSpPr>
        <p:spPr>
          <a:xfrm>
            <a:off x="137160" y="57607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>
            <a:hlinkClick r:id="rId3" action="ppaction://hlinksldjump"/>
          </p:cNvPr>
          <p:cNvSpPr/>
          <p:nvPr/>
        </p:nvSpPr>
        <p:spPr>
          <a:xfrm>
            <a:off x="109728" y="54864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>
            <a:hlinkClick r:id="rId3" action="ppaction://hlinksldjump"/>
          </p:cNvPr>
          <p:cNvSpPr/>
          <p:nvPr/>
        </p:nvSpPr>
        <p:spPr>
          <a:xfrm>
            <a:off x="155448" y="64179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</p:txBody>
      </p:sp>
      <p:sp>
        <p:nvSpPr>
          <p:cNvPr id="201" name="TextBox 200">
            <a:hlinkClick r:id="rId3" action="ppaction://hlinksldjump"/>
          </p:cNvPr>
          <p:cNvSpPr txBox="1"/>
          <p:nvPr/>
        </p:nvSpPr>
        <p:spPr>
          <a:xfrm>
            <a:off x="530352" y="54864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¿Qué es?</a:t>
            </a:r>
          </a:p>
        </p:txBody>
      </p:sp>
      <p:sp>
        <p:nvSpPr>
          <p:cNvPr id="202" name="Rectangle 201">
            <a:hlinkClick r:id="rId4" action="ppaction://hlinksldjump"/>
          </p:cNvPr>
          <p:cNvSpPr/>
          <p:nvPr/>
        </p:nvSpPr>
        <p:spPr>
          <a:xfrm>
            <a:off x="137160" y="106870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>
            <a:hlinkClick r:id="rId4" action="ppaction://hlinksldjump"/>
          </p:cNvPr>
          <p:cNvSpPr/>
          <p:nvPr/>
        </p:nvSpPr>
        <p:spPr>
          <a:xfrm>
            <a:off x="109728" y="104127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>
            <a:hlinkClick r:id="rId4" action="ppaction://hlinksldjump"/>
          </p:cNvPr>
          <p:cNvSpPr/>
          <p:nvPr/>
        </p:nvSpPr>
        <p:spPr>
          <a:xfrm>
            <a:off x="155448" y="113442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</p:txBody>
      </p:sp>
      <p:sp>
        <p:nvSpPr>
          <p:cNvPr id="205" name="TextBox 204">
            <a:hlinkClick r:id="rId4" action="ppaction://hlinksldjump"/>
          </p:cNvPr>
          <p:cNvSpPr txBox="1"/>
          <p:nvPr/>
        </p:nvSpPr>
        <p:spPr>
          <a:xfrm>
            <a:off x="530352" y="104127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Historia</a:t>
            </a:r>
          </a:p>
        </p:txBody>
      </p:sp>
      <p:sp>
        <p:nvSpPr>
          <p:cNvPr id="206" name="Rectangle 205">
            <a:hlinkClick r:id="rId5" action="ppaction://hlinksldjump"/>
          </p:cNvPr>
          <p:cNvSpPr/>
          <p:nvPr/>
        </p:nvSpPr>
        <p:spPr>
          <a:xfrm>
            <a:off x="137160" y="1561338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>
            <a:hlinkClick r:id="rId5" action="ppaction://hlinksldjump"/>
          </p:cNvPr>
          <p:cNvSpPr/>
          <p:nvPr/>
        </p:nvSpPr>
        <p:spPr>
          <a:xfrm>
            <a:off x="109728" y="1533906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>
            <a:hlinkClick r:id="rId5" action="ppaction://hlinksldjump"/>
          </p:cNvPr>
          <p:cNvSpPr/>
          <p:nvPr/>
        </p:nvSpPr>
        <p:spPr>
          <a:xfrm>
            <a:off x="155448" y="1627060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</p:txBody>
      </p:sp>
      <p:sp>
        <p:nvSpPr>
          <p:cNvPr id="209" name="TextBox 208">
            <a:hlinkClick r:id="rId5" action="ppaction://hlinksldjump"/>
          </p:cNvPr>
          <p:cNvSpPr txBox="1"/>
          <p:nvPr/>
        </p:nvSpPr>
        <p:spPr>
          <a:xfrm>
            <a:off x="530352" y="1533906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Objetivos</a:t>
            </a:r>
          </a:p>
        </p:txBody>
      </p:sp>
      <p:sp>
        <p:nvSpPr>
          <p:cNvPr id="210" name="Rectangle 209">
            <a:hlinkClick r:id="rId6" action="ppaction://hlinksldjump"/>
          </p:cNvPr>
          <p:cNvSpPr/>
          <p:nvPr/>
        </p:nvSpPr>
        <p:spPr>
          <a:xfrm>
            <a:off x="137160" y="2053971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>
            <a:hlinkClick r:id="rId6" action="ppaction://hlinksldjump"/>
          </p:cNvPr>
          <p:cNvSpPr/>
          <p:nvPr/>
        </p:nvSpPr>
        <p:spPr>
          <a:xfrm>
            <a:off x="109728" y="2026539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>
            <a:hlinkClick r:id="rId6" action="ppaction://hlinksldjump"/>
          </p:cNvPr>
          <p:cNvSpPr/>
          <p:nvPr/>
        </p:nvSpPr>
        <p:spPr>
          <a:xfrm>
            <a:off x="155448" y="2119693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</p:txBody>
      </p:sp>
      <p:sp>
        <p:nvSpPr>
          <p:cNvPr id="213" name="TextBox 212">
            <a:hlinkClick r:id="rId6" action="ppaction://hlinksldjump"/>
          </p:cNvPr>
          <p:cNvSpPr txBox="1"/>
          <p:nvPr/>
        </p:nvSpPr>
        <p:spPr>
          <a:xfrm>
            <a:off x="530352" y="2026539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Estructura</a:t>
            </a:r>
          </a:p>
        </p:txBody>
      </p:sp>
      <p:sp>
        <p:nvSpPr>
          <p:cNvPr id="214" name="Rectangle 213">
            <a:hlinkClick r:id="rId7" action="ppaction://hlinksldjump"/>
          </p:cNvPr>
          <p:cNvSpPr/>
          <p:nvPr/>
        </p:nvSpPr>
        <p:spPr>
          <a:xfrm>
            <a:off x="137160" y="2546604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>
            <a:hlinkClick r:id="rId7" action="ppaction://hlinksldjump"/>
          </p:cNvPr>
          <p:cNvSpPr/>
          <p:nvPr/>
        </p:nvSpPr>
        <p:spPr>
          <a:xfrm>
            <a:off x="109728" y="2519172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>
            <a:hlinkClick r:id="rId7" action="ppaction://hlinksldjump"/>
          </p:cNvPr>
          <p:cNvSpPr/>
          <p:nvPr/>
        </p:nvSpPr>
        <p:spPr>
          <a:xfrm>
            <a:off x="155448" y="2612326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05</a:t>
            </a:r>
          </a:p>
        </p:txBody>
      </p:sp>
      <p:sp>
        <p:nvSpPr>
          <p:cNvPr id="217" name="TextBox 216">
            <a:hlinkClick r:id="rId7" action="ppaction://hlinksldjump"/>
          </p:cNvPr>
          <p:cNvSpPr txBox="1"/>
          <p:nvPr/>
        </p:nvSpPr>
        <p:spPr>
          <a:xfrm>
            <a:off x="530352" y="2519172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9 procesos</a:t>
            </a:r>
          </a:p>
        </p:txBody>
      </p:sp>
      <p:sp>
        <p:nvSpPr>
          <p:cNvPr id="218" name="Rectangle 217">
            <a:hlinkClick r:id="rId8" action="ppaction://hlinksldjump"/>
          </p:cNvPr>
          <p:cNvSpPr/>
          <p:nvPr/>
        </p:nvSpPr>
        <p:spPr>
          <a:xfrm>
            <a:off x="137160" y="3039237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hlinkClick r:id="rId8" action="ppaction://hlinksldjump"/>
          </p:cNvPr>
          <p:cNvSpPr/>
          <p:nvPr/>
        </p:nvSpPr>
        <p:spPr>
          <a:xfrm>
            <a:off x="109728" y="3011805"/>
            <a:ext cx="2139696" cy="460629"/>
          </a:xfrm>
          <a:prstGeom prst="rect">
            <a:avLst/>
          </a:prstGeom>
          <a:solidFill>
            <a:srgbClr val="9B6B72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>
            <a:hlinkClick r:id="rId8" action="ppaction://hlinksldjump"/>
          </p:cNvPr>
          <p:cNvSpPr/>
          <p:nvPr/>
        </p:nvSpPr>
        <p:spPr>
          <a:xfrm>
            <a:off x="155448" y="3104959"/>
            <a:ext cx="329184" cy="274320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06</a:t>
            </a:r>
          </a:p>
        </p:txBody>
      </p:sp>
      <p:sp>
        <p:nvSpPr>
          <p:cNvPr id="221" name="TextBox 220">
            <a:hlinkClick r:id="rId8" action="ppaction://hlinksldjump"/>
          </p:cNvPr>
          <p:cNvSpPr txBox="1"/>
          <p:nvPr/>
        </p:nvSpPr>
        <p:spPr>
          <a:xfrm>
            <a:off x="530352" y="3011805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Anatomía</a:t>
            </a:r>
          </a:p>
        </p:txBody>
      </p:sp>
      <p:sp>
        <p:nvSpPr>
          <p:cNvPr id="222" name="Rectangle 221">
            <a:hlinkClick r:id="rId9" action="ppaction://hlinksldjump"/>
          </p:cNvPr>
          <p:cNvSpPr/>
          <p:nvPr/>
        </p:nvSpPr>
        <p:spPr>
          <a:xfrm>
            <a:off x="137160" y="3531870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>
            <a:hlinkClick r:id="rId9" action="ppaction://hlinksldjump"/>
          </p:cNvPr>
          <p:cNvSpPr/>
          <p:nvPr/>
        </p:nvSpPr>
        <p:spPr>
          <a:xfrm>
            <a:off x="109728" y="3504438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>
            <a:hlinkClick r:id="rId9" action="ppaction://hlinksldjump"/>
          </p:cNvPr>
          <p:cNvSpPr/>
          <p:nvPr/>
        </p:nvSpPr>
        <p:spPr>
          <a:xfrm>
            <a:off x="155448" y="3597592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07</a:t>
            </a:r>
          </a:p>
        </p:txBody>
      </p:sp>
      <p:sp>
        <p:nvSpPr>
          <p:cNvPr id="225" name="TextBox 224">
            <a:hlinkClick r:id="rId9" action="ppaction://hlinksldjump"/>
          </p:cNvPr>
          <p:cNvSpPr txBox="1"/>
          <p:nvPr/>
        </p:nvSpPr>
        <p:spPr>
          <a:xfrm>
            <a:off x="530352" y="3504438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Ciclo DMS</a:t>
            </a:r>
          </a:p>
        </p:txBody>
      </p:sp>
      <p:sp>
        <p:nvSpPr>
          <p:cNvPr id="226" name="Rectangle 225">
            <a:hlinkClick r:id="rId10" action="ppaction://hlinksldjump"/>
          </p:cNvPr>
          <p:cNvSpPr/>
          <p:nvPr/>
        </p:nvSpPr>
        <p:spPr>
          <a:xfrm>
            <a:off x="137160" y="4024503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>
            <a:hlinkClick r:id="rId10" action="ppaction://hlinksldjump"/>
          </p:cNvPr>
          <p:cNvSpPr/>
          <p:nvPr/>
        </p:nvSpPr>
        <p:spPr>
          <a:xfrm>
            <a:off x="109728" y="3997071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>
            <a:hlinkClick r:id="rId10" action="ppaction://hlinksldjump"/>
          </p:cNvPr>
          <p:cNvSpPr/>
          <p:nvPr/>
        </p:nvSpPr>
        <p:spPr>
          <a:xfrm>
            <a:off x="155448" y="4090225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08</a:t>
            </a:r>
          </a:p>
        </p:txBody>
      </p:sp>
      <p:sp>
        <p:nvSpPr>
          <p:cNvPr id="229" name="TextBox 228">
            <a:hlinkClick r:id="rId10" action="ppaction://hlinksldjump"/>
          </p:cNvPr>
          <p:cNvSpPr txBox="1"/>
          <p:nvPr/>
        </p:nvSpPr>
        <p:spPr>
          <a:xfrm>
            <a:off x="530352" y="3997071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Roles</a:t>
            </a:r>
          </a:p>
        </p:txBody>
      </p:sp>
      <p:sp>
        <p:nvSpPr>
          <p:cNvPr id="230" name="Rectangle 229">
            <a:hlinkClick r:id="rId11" action="ppaction://hlinksldjump"/>
          </p:cNvPr>
          <p:cNvSpPr/>
          <p:nvPr/>
        </p:nvSpPr>
        <p:spPr>
          <a:xfrm>
            <a:off x="137160" y="4517136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>
            <a:hlinkClick r:id="rId11" action="ppaction://hlinksldjump"/>
          </p:cNvPr>
          <p:cNvSpPr/>
          <p:nvPr/>
        </p:nvSpPr>
        <p:spPr>
          <a:xfrm>
            <a:off x="109728" y="4489704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>
            <a:hlinkClick r:id="rId11" action="ppaction://hlinksldjump"/>
          </p:cNvPr>
          <p:cNvSpPr/>
          <p:nvPr/>
        </p:nvSpPr>
        <p:spPr>
          <a:xfrm>
            <a:off x="155448" y="4582858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09</a:t>
            </a:r>
          </a:p>
        </p:txBody>
      </p:sp>
      <p:sp>
        <p:nvSpPr>
          <p:cNvPr id="233" name="TextBox 232">
            <a:hlinkClick r:id="rId11" action="ppaction://hlinksldjump"/>
          </p:cNvPr>
          <p:cNvSpPr txBox="1"/>
          <p:nvPr/>
        </p:nvSpPr>
        <p:spPr>
          <a:xfrm>
            <a:off x="530352" y="4489704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Capacidad</a:t>
            </a:r>
          </a:p>
        </p:txBody>
      </p:sp>
      <p:sp>
        <p:nvSpPr>
          <p:cNvPr id="234" name="Rectangle 233">
            <a:hlinkClick r:id="rId12" action="ppaction://hlinksldjump"/>
          </p:cNvPr>
          <p:cNvSpPr/>
          <p:nvPr/>
        </p:nvSpPr>
        <p:spPr>
          <a:xfrm>
            <a:off x="137160" y="5009769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>
            <a:hlinkClick r:id="rId12" action="ppaction://hlinksldjump"/>
          </p:cNvPr>
          <p:cNvSpPr/>
          <p:nvPr/>
        </p:nvSpPr>
        <p:spPr>
          <a:xfrm>
            <a:off x="109728" y="4982337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>
            <a:hlinkClick r:id="rId12" action="ppaction://hlinksldjump"/>
          </p:cNvPr>
          <p:cNvSpPr/>
          <p:nvPr/>
        </p:nvSpPr>
        <p:spPr>
          <a:xfrm>
            <a:off x="155448" y="5075491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10</a:t>
            </a:r>
          </a:p>
        </p:txBody>
      </p:sp>
      <p:sp>
        <p:nvSpPr>
          <p:cNvPr id="237" name="TextBox 236">
            <a:hlinkClick r:id="rId12" action="ppaction://hlinksldjump"/>
          </p:cNvPr>
          <p:cNvSpPr txBox="1"/>
          <p:nvPr/>
        </p:nvSpPr>
        <p:spPr>
          <a:xfrm>
            <a:off x="530352" y="4982337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EvalProSoft</a:t>
            </a:r>
          </a:p>
        </p:txBody>
      </p:sp>
      <p:sp>
        <p:nvSpPr>
          <p:cNvPr id="238" name="Rectangle 237">
            <a:hlinkClick r:id="rId13" action="ppaction://hlinksldjump"/>
          </p:cNvPr>
          <p:cNvSpPr/>
          <p:nvPr/>
        </p:nvSpPr>
        <p:spPr>
          <a:xfrm>
            <a:off x="137160" y="550240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>
            <a:hlinkClick r:id="rId13" action="ppaction://hlinksldjump"/>
          </p:cNvPr>
          <p:cNvSpPr/>
          <p:nvPr/>
        </p:nvSpPr>
        <p:spPr>
          <a:xfrm>
            <a:off x="109728" y="547497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>
            <a:hlinkClick r:id="rId13" action="ppaction://hlinksldjump"/>
          </p:cNvPr>
          <p:cNvSpPr/>
          <p:nvPr/>
        </p:nvSpPr>
        <p:spPr>
          <a:xfrm>
            <a:off x="155448" y="556812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11</a:t>
            </a:r>
          </a:p>
        </p:txBody>
      </p:sp>
      <p:sp>
        <p:nvSpPr>
          <p:cNvPr id="241" name="TextBox 240">
            <a:hlinkClick r:id="rId13" action="ppaction://hlinksldjump"/>
          </p:cNvPr>
          <p:cNvSpPr txBox="1"/>
          <p:nvPr/>
        </p:nvSpPr>
        <p:spPr>
          <a:xfrm>
            <a:off x="530352" y="547497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Modelos</a:t>
            </a:r>
          </a:p>
        </p:txBody>
      </p:sp>
      <p:sp>
        <p:nvSpPr>
          <p:cNvPr id="242" name="Rectangle 241">
            <a:hlinkClick r:id="rId14" action="ppaction://hlinksldjump"/>
          </p:cNvPr>
          <p:cNvSpPr/>
          <p:nvPr/>
        </p:nvSpPr>
        <p:spPr>
          <a:xfrm>
            <a:off x="137160" y="599503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>
            <a:hlinkClick r:id="rId14" action="ppaction://hlinksldjump"/>
          </p:cNvPr>
          <p:cNvSpPr/>
          <p:nvPr/>
        </p:nvSpPr>
        <p:spPr>
          <a:xfrm>
            <a:off x="109728" y="596760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>
            <a:hlinkClick r:id="rId14" action="ppaction://hlinksldjump"/>
          </p:cNvPr>
          <p:cNvSpPr/>
          <p:nvPr/>
        </p:nvSpPr>
        <p:spPr>
          <a:xfrm>
            <a:off x="155448" y="606075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12</a:t>
            </a:r>
          </a:p>
        </p:txBody>
      </p:sp>
      <p:sp>
        <p:nvSpPr>
          <p:cNvPr id="245" name="TextBox 244">
            <a:hlinkClick r:id="rId14" action="ppaction://hlinksldjump"/>
          </p:cNvPr>
          <p:cNvSpPr txBox="1"/>
          <p:nvPr/>
        </p:nvSpPr>
        <p:spPr>
          <a:xfrm>
            <a:off x="530352" y="596760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Glosario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404872" y="210312"/>
            <a:ext cx="9723119" cy="578815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2340864" y="146304"/>
            <a:ext cx="9723119" cy="5788151"/>
          </a:xfrm>
          <a:prstGeom prst="rect">
            <a:avLst/>
          </a:prstGeom>
          <a:solidFill>
            <a:srgbClr val="FFFFFF"/>
          </a:solidFill>
          <a:ln w="317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2450592" y="256032"/>
            <a:ext cx="9503663" cy="56692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2505456" y="256032"/>
            <a:ext cx="530352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📦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054096" y="256032"/>
            <a:ext cx="8790431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5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NIVEL 6: Anatomía de un proceso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542032" y="914400"/>
            <a:ext cx="9320783" cy="310896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Cada proceso se documenta con una estructura fija.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2578608" y="1316736"/>
            <a:ext cx="9320783" cy="610035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2542032" y="1280160"/>
            <a:ext cx="9320783" cy="610035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2615184" y="1347433"/>
            <a:ext cx="475488" cy="475488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9144" tIns="0" rIns="9144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182112" y="1280160"/>
            <a:ext cx="3728313" cy="610035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Definición general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983577" y="1280160"/>
            <a:ext cx="4751222" cy="610035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Categoría, propósito, descripción, objetivos e indicadores.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2578608" y="1972491"/>
            <a:ext cx="9320783" cy="610035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2542032" y="1935915"/>
            <a:ext cx="9320783" cy="610035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2615184" y="2003189"/>
            <a:ext cx="475488" cy="475488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9144" tIns="0" rIns="9144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3182112" y="1935915"/>
            <a:ext cx="3728313" cy="610035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Entradas, salidas y productos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6983577" y="1935915"/>
            <a:ext cx="4751222" cy="610035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Con su estado.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578608" y="2628246"/>
            <a:ext cx="9320783" cy="610035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2542032" y="2591670"/>
            <a:ext cx="9320783" cy="610035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2615184" y="2658944"/>
            <a:ext cx="475488" cy="475488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9144" tIns="0" rIns="9144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3182112" y="2591670"/>
            <a:ext cx="3728313" cy="610035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Prácticas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6983577" y="2591670"/>
            <a:ext cx="4751222" cy="610035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Actividades por rol, con flujo de trabajo.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2578608" y="3284002"/>
            <a:ext cx="9320783" cy="610035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2542032" y="3247426"/>
            <a:ext cx="9320783" cy="610035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2615184" y="3314699"/>
            <a:ext cx="475488" cy="475488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9144" tIns="0" rIns="9144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3182112" y="3247426"/>
            <a:ext cx="3728313" cy="610035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Roles y capacitación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6983577" y="3247426"/>
            <a:ext cx="4751222" cy="610035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Los que el proceso requiere.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2578608" y="3939757"/>
            <a:ext cx="9320783" cy="610035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ctangle 272"/>
          <p:cNvSpPr/>
          <p:nvPr/>
        </p:nvSpPr>
        <p:spPr>
          <a:xfrm>
            <a:off x="2542032" y="3903181"/>
            <a:ext cx="9320783" cy="610035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Rectangle 273"/>
          <p:cNvSpPr/>
          <p:nvPr/>
        </p:nvSpPr>
        <p:spPr>
          <a:xfrm>
            <a:off x="2615184" y="3970455"/>
            <a:ext cx="475488" cy="475488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9144" tIns="0" rIns="9144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05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3182112" y="3903181"/>
            <a:ext cx="3728313" cy="610035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Verificaciones y validaciones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983577" y="3903181"/>
            <a:ext cx="4751222" cy="610035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Controles de calidad.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578608" y="4595513"/>
            <a:ext cx="9320783" cy="610035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2542032" y="4558937"/>
            <a:ext cx="9320783" cy="610035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2615184" y="4626210"/>
            <a:ext cx="475488" cy="475488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9144" tIns="0" rIns="9144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06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3182112" y="4558937"/>
            <a:ext cx="3728313" cy="610035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Guías de ajuste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6983577" y="4558937"/>
            <a:ext cx="4751222" cy="610035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Cómo adaptar el proceso a la empresa.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2578608" y="5251268"/>
            <a:ext cx="9320783" cy="610035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Rectangle 282"/>
          <p:cNvSpPr/>
          <p:nvPr/>
        </p:nvSpPr>
        <p:spPr>
          <a:xfrm>
            <a:off x="2542032" y="5214692"/>
            <a:ext cx="9320783" cy="610035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Rectangle 283"/>
          <p:cNvSpPr/>
          <p:nvPr/>
        </p:nvSpPr>
        <p:spPr>
          <a:xfrm>
            <a:off x="2615184" y="5281966"/>
            <a:ext cx="475488" cy="475488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9144" tIns="0" rIns="9144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07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3182112" y="5214692"/>
            <a:ext cx="3728313" cy="610035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Referencias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6983577" y="5214692"/>
            <a:ext cx="4751222" cy="610035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Otros modelos y estándares.</a:t>
            </a:r>
          </a:p>
        </p:txBody>
      </p:sp>
      <p:sp>
        <p:nvSpPr>
          <p:cNvPr id="287" name="Rectangle 286">
            <a:hlinkClick r:id="rId2" action="ppaction://hlinksldjump"/>
          </p:cNvPr>
          <p:cNvSpPr/>
          <p:nvPr/>
        </p:nvSpPr>
        <p:spPr>
          <a:xfrm>
            <a:off x="2391156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Rectangle 287">
            <a:hlinkClick r:id="rId2" action="ppaction://hlinksldjump"/>
          </p:cNvPr>
          <p:cNvSpPr/>
          <p:nvPr/>
        </p:nvSpPr>
        <p:spPr>
          <a:xfrm>
            <a:off x="2340864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INDICE</a:t>
            </a:r>
          </a:p>
        </p:txBody>
      </p:sp>
      <p:sp>
        <p:nvSpPr>
          <p:cNvPr id="289" name="Rectangle 288">
            <a:hlinkClick r:id="rId7" action="ppaction://hlinksldjump"/>
          </p:cNvPr>
          <p:cNvSpPr/>
          <p:nvPr/>
        </p:nvSpPr>
        <p:spPr>
          <a:xfrm>
            <a:off x="566267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Rectangle 289">
            <a:hlinkClick r:id="rId7" action="ppaction://hlinksldjump"/>
          </p:cNvPr>
          <p:cNvSpPr/>
          <p:nvPr/>
        </p:nvSpPr>
        <p:spPr>
          <a:xfrm>
            <a:off x="5612383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◀ ANTERIOR</a:t>
            </a:r>
          </a:p>
        </p:txBody>
      </p:sp>
      <p:sp>
        <p:nvSpPr>
          <p:cNvPr id="291" name="Rectangle 290">
            <a:hlinkClick r:id="rId9" action="ppaction://hlinksldjump"/>
          </p:cNvPr>
          <p:cNvSpPr/>
          <p:nvPr/>
        </p:nvSpPr>
        <p:spPr>
          <a:xfrm>
            <a:off x="893419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Rectangle 291">
            <a:hlinkClick r:id="rId9" action="ppaction://hlinksldjump"/>
          </p:cNvPr>
          <p:cNvSpPr/>
          <p:nvPr/>
        </p:nvSpPr>
        <p:spPr>
          <a:xfrm>
            <a:off x="8883903" y="6007607"/>
            <a:ext cx="3180079" cy="420624"/>
          </a:xfrm>
          <a:prstGeom prst="rect">
            <a:avLst/>
          </a:prstGeom>
          <a:solidFill>
            <a:srgbClr val="7FA8D6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SIGUIENTE 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214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0817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3619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420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9222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4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4825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7627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042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3230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8833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163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4436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7238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284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5643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8444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1246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6849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9651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2452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525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8056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0857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3659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6460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9262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20639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4865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7667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0468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32703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6071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8873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16751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4476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72783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79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28815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65683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784847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1286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040879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6889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96911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424927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5294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68095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80897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36991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6500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9302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32103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449055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7707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050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3310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96112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08913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2171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34516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47318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0120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7292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85723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98524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11326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2412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36929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49731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62532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7533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88136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100937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13739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26540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139342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52144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64945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77747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90548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203350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2161520" y="0"/>
            <a:ext cx="30479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2801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5603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8404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1206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4008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6809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9611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02412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5214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28016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40817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53619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66420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79222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92024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04825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17627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3042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43230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56032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8833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8163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94436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238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20040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3284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45643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58444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71246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8404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96849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409651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22452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3525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48056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60857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73659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86460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499262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120639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24865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37667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50468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5632703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76071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88873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016751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14476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272783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40079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528815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65683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7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91286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040879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16889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7296911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424927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55294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68095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80897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936991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06500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19302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32103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449055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57707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7050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83310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96112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08913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2171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34516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47318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960120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97292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985723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98524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11326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02412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036929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49731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062532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07533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088136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100937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113739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126540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1139342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1152144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1164945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1177747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1190548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1203350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2161520" y="6501383"/>
            <a:ext cx="30479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201168" y="6565392"/>
            <a:ext cx="786384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DIAP. 09  ·  NIVEL 7/12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74479" y="6565392"/>
            <a:ext cx="278892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HECHO POR RUM</a:t>
            </a:r>
          </a:p>
        </p:txBody>
      </p:sp>
      <p:sp>
        <p:nvSpPr>
          <p:cNvPr id="197" name="Rectangle 196">
            <a:hlinkClick r:id="rId2" action="ppaction://hlinksldjump"/>
          </p:cNvPr>
          <p:cNvSpPr/>
          <p:nvPr/>
        </p:nvSpPr>
        <p:spPr>
          <a:xfrm>
            <a:off x="109728" y="128016"/>
            <a:ext cx="2139696" cy="365760"/>
          </a:xfrm>
          <a:prstGeom prst="rect">
            <a:avLst/>
          </a:prstGeom>
          <a:solidFill>
            <a:srgbClr val="4A2027"/>
          </a:solidFill>
          <a:ln w="25400">
            <a:solidFill>
              <a:srgbClr val="FFFFFF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MAPA</a:t>
            </a:r>
          </a:p>
        </p:txBody>
      </p:sp>
      <p:sp>
        <p:nvSpPr>
          <p:cNvPr id="198" name="Rectangle 197">
            <a:hlinkClick r:id="rId3" action="ppaction://hlinksldjump"/>
          </p:cNvPr>
          <p:cNvSpPr/>
          <p:nvPr/>
        </p:nvSpPr>
        <p:spPr>
          <a:xfrm>
            <a:off x="137160" y="57607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>
            <a:hlinkClick r:id="rId3" action="ppaction://hlinksldjump"/>
          </p:cNvPr>
          <p:cNvSpPr/>
          <p:nvPr/>
        </p:nvSpPr>
        <p:spPr>
          <a:xfrm>
            <a:off x="109728" y="54864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>
            <a:hlinkClick r:id="rId3" action="ppaction://hlinksldjump"/>
          </p:cNvPr>
          <p:cNvSpPr/>
          <p:nvPr/>
        </p:nvSpPr>
        <p:spPr>
          <a:xfrm>
            <a:off x="155448" y="64179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</p:txBody>
      </p:sp>
      <p:sp>
        <p:nvSpPr>
          <p:cNvPr id="201" name="TextBox 200">
            <a:hlinkClick r:id="rId3" action="ppaction://hlinksldjump"/>
          </p:cNvPr>
          <p:cNvSpPr txBox="1"/>
          <p:nvPr/>
        </p:nvSpPr>
        <p:spPr>
          <a:xfrm>
            <a:off x="530352" y="54864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¿Qué es?</a:t>
            </a:r>
          </a:p>
        </p:txBody>
      </p:sp>
      <p:sp>
        <p:nvSpPr>
          <p:cNvPr id="202" name="Rectangle 201">
            <a:hlinkClick r:id="rId4" action="ppaction://hlinksldjump"/>
          </p:cNvPr>
          <p:cNvSpPr/>
          <p:nvPr/>
        </p:nvSpPr>
        <p:spPr>
          <a:xfrm>
            <a:off x="137160" y="106870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>
            <a:hlinkClick r:id="rId4" action="ppaction://hlinksldjump"/>
          </p:cNvPr>
          <p:cNvSpPr/>
          <p:nvPr/>
        </p:nvSpPr>
        <p:spPr>
          <a:xfrm>
            <a:off x="109728" y="104127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>
            <a:hlinkClick r:id="rId4" action="ppaction://hlinksldjump"/>
          </p:cNvPr>
          <p:cNvSpPr/>
          <p:nvPr/>
        </p:nvSpPr>
        <p:spPr>
          <a:xfrm>
            <a:off x="155448" y="113442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</p:txBody>
      </p:sp>
      <p:sp>
        <p:nvSpPr>
          <p:cNvPr id="205" name="TextBox 204">
            <a:hlinkClick r:id="rId4" action="ppaction://hlinksldjump"/>
          </p:cNvPr>
          <p:cNvSpPr txBox="1"/>
          <p:nvPr/>
        </p:nvSpPr>
        <p:spPr>
          <a:xfrm>
            <a:off x="530352" y="104127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Historia</a:t>
            </a:r>
          </a:p>
        </p:txBody>
      </p:sp>
      <p:sp>
        <p:nvSpPr>
          <p:cNvPr id="206" name="Rectangle 205">
            <a:hlinkClick r:id="rId5" action="ppaction://hlinksldjump"/>
          </p:cNvPr>
          <p:cNvSpPr/>
          <p:nvPr/>
        </p:nvSpPr>
        <p:spPr>
          <a:xfrm>
            <a:off x="137160" y="1561338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>
            <a:hlinkClick r:id="rId5" action="ppaction://hlinksldjump"/>
          </p:cNvPr>
          <p:cNvSpPr/>
          <p:nvPr/>
        </p:nvSpPr>
        <p:spPr>
          <a:xfrm>
            <a:off x="109728" y="1533906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>
            <a:hlinkClick r:id="rId5" action="ppaction://hlinksldjump"/>
          </p:cNvPr>
          <p:cNvSpPr/>
          <p:nvPr/>
        </p:nvSpPr>
        <p:spPr>
          <a:xfrm>
            <a:off x="155448" y="1627060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</p:txBody>
      </p:sp>
      <p:sp>
        <p:nvSpPr>
          <p:cNvPr id="209" name="TextBox 208">
            <a:hlinkClick r:id="rId5" action="ppaction://hlinksldjump"/>
          </p:cNvPr>
          <p:cNvSpPr txBox="1"/>
          <p:nvPr/>
        </p:nvSpPr>
        <p:spPr>
          <a:xfrm>
            <a:off x="530352" y="1533906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Objetivos</a:t>
            </a:r>
          </a:p>
        </p:txBody>
      </p:sp>
      <p:sp>
        <p:nvSpPr>
          <p:cNvPr id="210" name="Rectangle 209">
            <a:hlinkClick r:id="rId6" action="ppaction://hlinksldjump"/>
          </p:cNvPr>
          <p:cNvSpPr/>
          <p:nvPr/>
        </p:nvSpPr>
        <p:spPr>
          <a:xfrm>
            <a:off x="137160" y="2053971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>
            <a:hlinkClick r:id="rId6" action="ppaction://hlinksldjump"/>
          </p:cNvPr>
          <p:cNvSpPr/>
          <p:nvPr/>
        </p:nvSpPr>
        <p:spPr>
          <a:xfrm>
            <a:off x="109728" y="2026539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>
            <a:hlinkClick r:id="rId6" action="ppaction://hlinksldjump"/>
          </p:cNvPr>
          <p:cNvSpPr/>
          <p:nvPr/>
        </p:nvSpPr>
        <p:spPr>
          <a:xfrm>
            <a:off x="155448" y="2119693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</p:txBody>
      </p:sp>
      <p:sp>
        <p:nvSpPr>
          <p:cNvPr id="213" name="TextBox 212">
            <a:hlinkClick r:id="rId6" action="ppaction://hlinksldjump"/>
          </p:cNvPr>
          <p:cNvSpPr txBox="1"/>
          <p:nvPr/>
        </p:nvSpPr>
        <p:spPr>
          <a:xfrm>
            <a:off x="530352" y="2026539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Estructura</a:t>
            </a:r>
          </a:p>
        </p:txBody>
      </p:sp>
      <p:sp>
        <p:nvSpPr>
          <p:cNvPr id="214" name="Rectangle 213">
            <a:hlinkClick r:id="rId7" action="ppaction://hlinksldjump"/>
          </p:cNvPr>
          <p:cNvSpPr/>
          <p:nvPr/>
        </p:nvSpPr>
        <p:spPr>
          <a:xfrm>
            <a:off x="137160" y="2546604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>
            <a:hlinkClick r:id="rId7" action="ppaction://hlinksldjump"/>
          </p:cNvPr>
          <p:cNvSpPr/>
          <p:nvPr/>
        </p:nvSpPr>
        <p:spPr>
          <a:xfrm>
            <a:off x="109728" y="2519172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>
            <a:hlinkClick r:id="rId7" action="ppaction://hlinksldjump"/>
          </p:cNvPr>
          <p:cNvSpPr/>
          <p:nvPr/>
        </p:nvSpPr>
        <p:spPr>
          <a:xfrm>
            <a:off x="155448" y="2612326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05</a:t>
            </a:r>
          </a:p>
        </p:txBody>
      </p:sp>
      <p:sp>
        <p:nvSpPr>
          <p:cNvPr id="217" name="TextBox 216">
            <a:hlinkClick r:id="rId7" action="ppaction://hlinksldjump"/>
          </p:cNvPr>
          <p:cNvSpPr txBox="1"/>
          <p:nvPr/>
        </p:nvSpPr>
        <p:spPr>
          <a:xfrm>
            <a:off x="530352" y="2519172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9 procesos</a:t>
            </a:r>
          </a:p>
        </p:txBody>
      </p:sp>
      <p:sp>
        <p:nvSpPr>
          <p:cNvPr id="218" name="Rectangle 217">
            <a:hlinkClick r:id="rId8" action="ppaction://hlinksldjump"/>
          </p:cNvPr>
          <p:cNvSpPr/>
          <p:nvPr/>
        </p:nvSpPr>
        <p:spPr>
          <a:xfrm>
            <a:off x="137160" y="3039237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hlinkClick r:id="rId8" action="ppaction://hlinksldjump"/>
          </p:cNvPr>
          <p:cNvSpPr/>
          <p:nvPr/>
        </p:nvSpPr>
        <p:spPr>
          <a:xfrm>
            <a:off x="109728" y="3011805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>
            <a:hlinkClick r:id="rId8" action="ppaction://hlinksldjump"/>
          </p:cNvPr>
          <p:cNvSpPr/>
          <p:nvPr/>
        </p:nvSpPr>
        <p:spPr>
          <a:xfrm>
            <a:off x="155448" y="3104959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06</a:t>
            </a:r>
          </a:p>
        </p:txBody>
      </p:sp>
      <p:sp>
        <p:nvSpPr>
          <p:cNvPr id="221" name="TextBox 220">
            <a:hlinkClick r:id="rId8" action="ppaction://hlinksldjump"/>
          </p:cNvPr>
          <p:cNvSpPr txBox="1"/>
          <p:nvPr/>
        </p:nvSpPr>
        <p:spPr>
          <a:xfrm>
            <a:off x="530352" y="3011805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Anatomía</a:t>
            </a:r>
          </a:p>
        </p:txBody>
      </p:sp>
      <p:sp>
        <p:nvSpPr>
          <p:cNvPr id="222" name="Rectangle 221">
            <a:hlinkClick r:id="rId9" action="ppaction://hlinksldjump"/>
          </p:cNvPr>
          <p:cNvSpPr/>
          <p:nvPr/>
        </p:nvSpPr>
        <p:spPr>
          <a:xfrm>
            <a:off x="137160" y="3531870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>
            <a:hlinkClick r:id="rId9" action="ppaction://hlinksldjump"/>
          </p:cNvPr>
          <p:cNvSpPr/>
          <p:nvPr/>
        </p:nvSpPr>
        <p:spPr>
          <a:xfrm>
            <a:off x="109728" y="3504438"/>
            <a:ext cx="2139696" cy="460629"/>
          </a:xfrm>
          <a:prstGeom prst="rect">
            <a:avLst/>
          </a:prstGeom>
          <a:solidFill>
            <a:srgbClr val="9B6B72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>
            <a:hlinkClick r:id="rId9" action="ppaction://hlinksldjump"/>
          </p:cNvPr>
          <p:cNvSpPr/>
          <p:nvPr/>
        </p:nvSpPr>
        <p:spPr>
          <a:xfrm>
            <a:off x="155448" y="3597592"/>
            <a:ext cx="329184" cy="274320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07</a:t>
            </a:r>
          </a:p>
        </p:txBody>
      </p:sp>
      <p:sp>
        <p:nvSpPr>
          <p:cNvPr id="225" name="TextBox 224">
            <a:hlinkClick r:id="rId9" action="ppaction://hlinksldjump"/>
          </p:cNvPr>
          <p:cNvSpPr txBox="1"/>
          <p:nvPr/>
        </p:nvSpPr>
        <p:spPr>
          <a:xfrm>
            <a:off x="530352" y="3504438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Ciclo DMS</a:t>
            </a:r>
          </a:p>
        </p:txBody>
      </p:sp>
      <p:sp>
        <p:nvSpPr>
          <p:cNvPr id="226" name="Rectangle 225">
            <a:hlinkClick r:id="rId10" action="ppaction://hlinksldjump"/>
          </p:cNvPr>
          <p:cNvSpPr/>
          <p:nvPr/>
        </p:nvSpPr>
        <p:spPr>
          <a:xfrm>
            <a:off x="137160" y="4024503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>
            <a:hlinkClick r:id="rId10" action="ppaction://hlinksldjump"/>
          </p:cNvPr>
          <p:cNvSpPr/>
          <p:nvPr/>
        </p:nvSpPr>
        <p:spPr>
          <a:xfrm>
            <a:off x="109728" y="3997071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>
            <a:hlinkClick r:id="rId10" action="ppaction://hlinksldjump"/>
          </p:cNvPr>
          <p:cNvSpPr/>
          <p:nvPr/>
        </p:nvSpPr>
        <p:spPr>
          <a:xfrm>
            <a:off x="155448" y="4090225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08</a:t>
            </a:r>
          </a:p>
        </p:txBody>
      </p:sp>
      <p:sp>
        <p:nvSpPr>
          <p:cNvPr id="229" name="TextBox 228">
            <a:hlinkClick r:id="rId10" action="ppaction://hlinksldjump"/>
          </p:cNvPr>
          <p:cNvSpPr txBox="1"/>
          <p:nvPr/>
        </p:nvSpPr>
        <p:spPr>
          <a:xfrm>
            <a:off x="530352" y="3997071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Roles</a:t>
            </a:r>
          </a:p>
        </p:txBody>
      </p:sp>
      <p:sp>
        <p:nvSpPr>
          <p:cNvPr id="230" name="Rectangle 229">
            <a:hlinkClick r:id="rId11" action="ppaction://hlinksldjump"/>
          </p:cNvPr>
          <p:cNvSpPr/>
          <p:nvPr/>
        </p:nvSpPr>
        <p:spPr>
          <a:xfrm>
            <a:off x="137160" y="4517136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>
            <a:hlinkClick r:id="rId11" action="ppaction://hlinksldjump"/>
          </p:cNvPr>
          <p:cNvSpPr/>
          <p:nvPr/>
        </p:nvSpPr>
        <p:spPr>
          <a:xfrm>
            <a:off x="109728" y="4489704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>
            <a:hlinkClick r:id="rId11" action="ppaction://hlinksldjump"/>
          </p:cNvPr>
          <p:cNvSpPr/>
          <p:nvPr/>
        </p:nvSpPr>
        <p:spPr>
          <a:xfrm>
            <a:off x="155448" y="4582858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09</a:t>
            </a:r>
          </a:p>
        </p:txBody>
      </p:sp>
      <p:sp>
        <p:nvSpPr>
          <p:cNvPr id="233" name="TextBox 232">
            <a:hlinkClick r:id="rId11" action="ppaction://hlinksldjump"/>
          </p:cNvPr>
          <p:cNvSpPr txBox="1"/>
          <p:nvPr/>
        </p:nvSpPr>
        <p:spPr>
          <a:xfrm>
            <a:off x="530352" y="4489704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Capacidad</a:t>
            </a:r>
          </a:p>
        </p:txBody>
      </p:sp>
      <p:sp>
        <p:nvSpPr>
          <p:cNvPr id="234" name="Rectangle 233">
            <a:hlinkClick r:id="rId12" action="ppaction://hlinksldjump"/>
          </p:cNvPr>
          <p:cNvSpPr/>
          <p:nvPr/>
        </p:nvSpPr>
        <p:spPr>
          <a:xfrm>
            <a:off x="137160" y="5009769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>
            <a:hlinkClick r:id="rId12" action="ppaction://hlinksldjump"/>
          </p:cNvPr>
          <p:cNvSpPr/>
          <p:nvPr/>
        </p:nvSpPr>
        <p:spPr>
          <a:xfrm>
            <a:off x="109728" y="4982337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>
            <a:hlinkClick r:id="rId12" action="ppaction://hlinksldjump"/>
          </p:cNvPr>
          <p:cNvSpPr/>
          <p:nvPr/>
        </p:nvSpPr>
        <p:spPr>
          <a:xfrm>
            <a:off x="155448" y="5075491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10</a:t>
            </a:r>
          </a:p>
        </p:txBody>
      </p:sp>
      <p:sp>
        <p:nvSpPr>
          <p:cNvPr id="237" name="TextBox 236">
            <a:hlinkClick r:id="rId12" action="ppaction://hlinksldjump"/>
          </p:cNvPr>
          <p:cNvSpPr txBox="1"/>
          <p:nvPr/>
        </p:nvSpPr>
        <p:spPr>
          <a:xfrm>
            <a:off x="530352" y="4982337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EvalProSoft</a:t>
            </a:r>
          </a:p>
        </p:txBody>
      </p:sp>
      <p:sp>
        <p:nvSpPr>
          <p:cNvPr id="238" name="Rectangle 237">
            <a:hlinkClick r:id="rId13" action="ppaction://hlinksldjump"/>
          </p:cNvPr>
          <p:cNvSpPr/>
          <p:nvPr/>
        </p:nvSpPr>
        <p:spPr>
          <a:xfrm>
            <a:off x="137160" y="550240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>
            <a:hlinkClick r:id="rId13" action="ppaction://hlinksldjump"/>
          </p:cNvPr>
          <p:cNvSpPr/>
          <p:nvPr/>
        </p:nvSpPr>
        <p:spPr>
          <a:xfrm>
            <a:off x="109728" y="547497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>
            <a:hlinkClick r:id="rId13" action="ppaction://hlinksldjump"/>
          </p:cNvPr>
          <p:cNvSpPr/>
          <p:nvPr/>
        </p:nvSpPr>
        <p:spPr>
          <a:xfrm>
            <a:off x="155448" y="556812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11</a:t>
            </a:r>
          </a:p>
        </p:txBody>
      </p:sp>
      <p:sp>
        <p:nvSpPr>
          <p:cNvPr id="241" name="TextBox 240">
            <a:hlinkClick r:id="rId13" action="ppaction://hlinksldjump"/>
          </p:cNvPr>
          <p:cNvSpPr txBox="1"/>
          <p:nvPr/>
        </p:nvSpPr>
        <p:spPr>
          <a:xfrm>
            <a:off x="530352" y="547497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Modelos</a:t>
            </a:r>
          </a:p>
        </p:txBody>
      </p:sp>
      <p:sp>
        <p:nvSpPr>
          <p:cNvPr id="242" name="Rectangle 241">
            <a:hlinkClick r:id="rId14" action="ppaction://hlinksldjump"/>
          </p:cNvPr>
          <p:cNvSpPr/>
          <p:nvPr/>
        </p:nvSpPr>
        <p:spPr>
          <a:xfrm>
            <a:off x="137160" y="599503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>
            <a:hlinkClick r:id="rId14" action="ppaction://hlinksldjump"/>
          </p:cNvPr>
          <p:cNvSpPr/>
          <p:nvPr/>
        </p:nvSpPr>
        <p:spPr>
          <a:xfrm>
            <a:off x="109728" y="596760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>
            <a:hlinkClick r:id="rId14" action="ppaction://hlinksldjump"/>
          </p:cNvPr>
          <p:cNvSpPr/>
          <p:nvPr/>
        </p:nvSpPr>
        <p:spPr>
          <a:xfrm>
            <a:off x="155448" y="606075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12</a:t>
            </a:r>
          </a:p>
        </p:txBody>
      </p:sp>
      <p:sp>
        <p:nvSpPr>
          <p:cNvPr id="245" name="TextBox 244">
            <a:hlinkClick r:id="rId14" action="ppaction://hlinksldjump"/>
          </p:cNvPr>
          <p:cNvSpPr txBox="1"/>
          <p:nvPr/>
        </p:nvSpPr>
        <p:spPr>
          <a:xfrm>
            <a:off x="530352" y="596760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Glosario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404872" y="210312"/>
            <a:ext cx="9723119" cy="578815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2340864" y="146304"/>
            <a:ext cx="9723119" cy="5788151"/>
          </a:xfrm>
          <a:prstGeom prst="rect">
            <a:avLst/>
          </a:prstGeom>
          <a:solidFill>
            <a:srgbClr val="FFFFFF"/>
          </a:solidFill>
          <a:ln w="317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2450592" y="256032"/>
            <a:ext cx="9503663" cy="56692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2505456" y="256032"/>
            <a:ext cx="530352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⚙️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054096" y="256032"/>
            <a:ext cx="8790431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5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NIVEL 7: Ciclo de DMS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542032" y="914400"/>
            <a:ext cx="9320783" cy="329184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El proceso de Desarrollo y Mantenimiento de Software sigue seis actividades.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2587752" y="1362456"/>
            <a:ext cx="3045967" cy="1815083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2542032" y="1316736"/>
            <a:ext cx="3045967" cy="1815083"/>
          </a:xfrm>
          <a:prstGeom prst="rect">
            <a:avLst/>
          </a:prstGeom>
          <a:solidFill>
            <a:srgbClr val="7FA8D6"/>
          </a:solidFill>
          <a:ln w="22225">
            <a:solidFill>
              <a:srgbClr val="4A2027"/>
            </a:solidFill>
          </a:ln>
          <a:effectLst/>
        </p:spPr>
        <p:txBody>
          <a:bodyPr wrap="square" lIns="128016" tIns="54864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16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2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Inicio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5725159" y="1362456"/>
            <a:ext cx="3045967" cy="1815083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5679439" y="1316736"/>
            <a:ext cx="3045967" cy="1815083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wrap="square" lIns="128016" tIns="54864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16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2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Requerimientos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8862567" y="1362456"/>
            <a:ext cx="3045967" cy="1815083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ctangle 256"/>
          <p:cNvSpPr/>
          <p:nvPr/>
        </p:nvSpPr>
        <p:spPr>
          <a:xfrm>
            <a:off x="8816847" y="1316736"/>
            <a:ext cx="3045967" cy="1815083"/>
          </a:xfrm>
          <a:prstGeom prst="rect">
            <a:avLst/>
          </a:prstGeom>
          <a:solidFill>
            <a:srgbClr val="7FA8D6"/>
          </a:solidFill>
          <a:ln w="22225">
            <a:solidFill>
              <a:srgbClr val="4A2027"/>
            </a:solidFill>
          </a:ln>
          <a:effectLst/>
        </p:spPr>
        <p:txBody>
          <a:bodyPr wrap="square" lIns="128016" tIns="54864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16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2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Análisis y diseño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2587752" y="3268979"/>
            <a:ext cx="3045967" cy="1815083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2542032" y="3223259"/>
            <a:ext cx="3045967" cy="1815083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wrap="square" lIns="128016" tIns="54864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16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2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Construcción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5725159" y="3268979"/>
            <a:ext cx="3045967" cy="1815083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ctangle 260"/>
          <p:cNvSpPr/>
          <p:nvPr/>
        </p:nvSpPr>
        <p:spPr>
          <a:xfrm>
            <a:off x="5679439" y="3223259"/>
            <a:ext cx="3045967" cy="1815083"/>
          </a:xfrm>
          <a:prstGeom prst="rect">
            <a:avLst/>
          </a:prstGeom>
          <a:solidFill>
            <a:srgbClr val="7FA8D6"/>
          </a:solidFill>
          <a:ln w="22225">
            <a:solidFill>
              <a:srgbClr val="4A2027"/>
            </a:solidFill>
          </a:ln>
          <a:effectLst/>
        </p:spPr>
        <p:txBody>
          <a:bodyPr wrap="square" lIns="128016" tIns="54864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16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2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Integración y pruebas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8862567" y="3268979"/>
            <a:ext cx="3045967" cy="1815083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8816847" y="3223259"/>
            <a:ext cx="3045967" cy="1815083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wrap="square" lIns="128016" tIns="54864" bIns="54864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16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2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Cierre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542032" y="5111495"/>
            <a:ext cx="9320783" cy="713232"/>
          </a:xfrm>
          <a:prstGeom prst="rect">
            <a:avLst/>
          </a:prstGeom>
          <a:solidFill>
            <a:srgbClr val="C9DFF5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36576" bIns="36576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Las revisiones y pruebas se hacen en cada paso. APE coordina: planea, da seguimiento y cierra el proyecto con lecciones aprendidas.</a:t>
            </a:r>
          </a:p>
        </p:txBody>
      </p:sp>
      <p:sp>
        <p:nvSpPr>
          <p:cNvPr id="265" name="Rectangle 264">
            <a:hlinkClick r:id="rId2" action="ppaction://hlinksldjump"/>
          </p:cNvPr>
          <p:cNvSpPr/>
          <p:nvPr/>
        </p:nvSpPr>
        <p:spPr>
          <a:xfrm>
            <a:off x="2391156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Rectangle 265">
            <a:hlinkClick r:id="rId2" action="ppaction://hlinksldjump"/>
          </p:cNvPr>
          <p:cNvSpPr/>
          <p:nvPr/>
        </p:nvSpPr>
        <p:spPr>
          <a:xfrm>
            <a:off x="2340864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INDICE</a:t>
            </a:r>
          </a:p>
        </p:txBody>
      </p:sp>
      <p:sp>
        <p:nvSpPr>
          <p:cNvPr id="267" name="Rectangle 266">
            <a:hlinkClick r:id="rId8" action="ppaction://hlinksldjump"/>
          </p:cNvPr>
          <p:cNvSpPr/>
          <p:nvPr/>
        </p:nvSpPr>
        <p:spPr>
          <a:xfrm>
            <a:off x="566267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>
            <a:hlinkClick r:id="rId8" action="ppaction://hlinksldjump"/>
          </p:cNvPr>
          <p:cNvSpPr/>
          <p:nvPr/>
        </p:nvSpPr>
        <p:spPr>
          <a:xfrm>
            <a:off x="5612383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◀ ANTERIOR</a:t>
            </a:r>
          </a:p>
        </p:txBody>
      </p:sp>
      <p:sp>
        <p:nvSpPr>
          <p:cNvPr id="269" name="Rectangle 268">
            <a:hlinkClick r:id="rId10" action="ppaction://hlinksldjump"/>
          </p:cNvPr>
          <p:cNvSpPr/>
          <p:nvPr/>
        </p:nvSpPr>
        <p:spPr>
          <a:xfrm>
            <a:off x="893419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Rectangle 269">
            <a:hlinkClick r:id="rId10" action="ppaction://hlinksldjump"/>
          </p:cNvPr>
          <p:cNvSpPr/>
          <p:nvPr/>
        </p:nvSpPr>
        <p:spPr>
          <a:xfrm>
            <a:off x="8883903" y="6007607"/>
            <a:ext cx="3180079" cy="420624"/>
          </a:xfrm>
          <a:prstGeom prst="rect">
            <a:avLst/>
          </a:prstGeom>
          <a:solidFill>
            <a:srgbClr val="7FA8D6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SIGUIENTE 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214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0817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3619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420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9222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4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4825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7627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042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3230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8833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163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4436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7238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284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5643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8444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1246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6849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9651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2452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525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8056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0857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3659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6460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9262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20639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4865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7667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0468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32703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6071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8873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16751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4476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72783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79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28815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65683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784847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1286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040879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6889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96911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424927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5294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68095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80897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36991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6500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9302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32103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449055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7707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050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3310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96112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08913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2171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34516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47318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0120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7292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85723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98524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11326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2412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36929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49731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62532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7533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88136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100937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13739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26540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139342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52144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64945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77747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90548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203350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2161520" y="0"/>
            <a:ext cx="30479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2801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5603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8404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1206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4008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6809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9611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02412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5214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28016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40817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53619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66420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79222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92024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04825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17627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3042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43230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56032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8833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8163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94436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238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20040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3284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45643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58444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71246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8404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96849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409651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22452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3525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48056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60857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73659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86460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499262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120639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24865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37667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50468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5632703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76071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88873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016751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14476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272783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40079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528815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65683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7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91286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040879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16889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7296911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424927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55294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68095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80897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936991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06500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19302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32103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449055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57707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7050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83310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96112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08913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2171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34516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47318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960120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97292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985723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98524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11326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02412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036929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49731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062532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07533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088136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100937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113739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126540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1139342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1152144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1164945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1177747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1190548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1203350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2161520" y="6501383"/>
            <a:ext cx="30479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201168" y="6565392"/>
            <a:ext cx="786384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DIAP. 10  ·  NIVEL 8/12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74479" y="6565392"/>
            <a:ext cx="278892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HECHO POR RUM</a:t>
            </a:r>
          </a:p>
        </p:txBody>
      </p:sp>
      <p:sp>
        <p:nvSpPr>
          <p:cNvPr id="197" name="Rectangle 196">
            <a:hlinkClick r:id="rId2" action="ppaction://hlinksldjump"/>
          </p:cNvPr>
          <p:cNvSpPr/>
          <p:nvPr/>
        </p:nvSpPr>
        <p:spPr>
          <a:xfrm>
            <a:off x="109728" y="128016"/>
            <a:ext cx="2139696" cy="365760"/>
          </a:xfrm>
          <a:prstGeom prst="rect">
            <a:avLst/>
          </a:prstGeom>
          <a:solidFill>
            <a:srgbClr val="4A2027"/>
          </a:solidFill>
          <a:ln w="25400">
            <a:solidFill>
              <a:srgbClr val="FFFFFF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MAPA</a:t>
            </a:r>
          </a:p>
        </p:txBody>
      </p:sp>
      <p:sp>
        <p:nvSpPr>
          <p:cNvPr id="198" name="Rectangle 197">
            <a:hlinkClick r:id="rId3" action="ppaction://hlinksldjump"/>
          </p:cNvPr>
          <p:cNvSpPr/>
          <p:nvPr/>
        </p:nvSpPr>
        <p:spPr>
          <a:xfrm>
            <a:off x="137160" y="57607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>
            <a:hlinkClick r:id="rId3" action="ppaction://hlinksldjump"/>
          </p:cNvPr>
          <p:cNvSpPr/>
          <p:nvPr/>
        </p:nvSpPr>
        <p:spPr>
          <a:xfrm>
            <a:off x="109728" y="54864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>
            <a:hlinkClick r:id="rId3" action="ppaction://hlinksldjump"/>
          </p:cNvPr>
          <p:cNvSpPr/>
          <p:nvPr/>
        </p:nvSpPr>
        <p:spPr>
          <a:xfrm>
            <a:off x="155448" y="64179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</p:txBody>
      </p:sp>
      <p:sp>
        <p:nvSpPr>
          <p:cNvPr id="201" name="TextBox 200">
            <a:hlinkClick r:id="rId3" action="ppaction://hlinksldjump"/>
          </p:cNvPr>
          <p:cNvSpPr txBox="1"/>
          <p:nvPr/>
        </p:nvSpPr>
        <p:spPr>
          <a:xfrm>
            <a:off x="530352" y="54864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¿Qué es?</a:t>
            </a:r>
          </a:p>
        </p:txBody>
      </p:sp>
      <p:sp>
        <p:nvSpPr>
          <p:cNvPr id="202" name="Rectangle 201">
            <a:hlinkClick r:id="rId4" action="ppaction://hlinksldjump"/>
          </p:cNvPr>
          <p:cNvSpPr/>
          <p:nvPr/>
        </p:nvSpPr>
        <p:spPr>
          <a:xfrm>
            <a:off x="137160" y="106870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>
            <a:hlinkClick r:id="rId4" action="ppaction://hlinksldjump"/>
          </p:cNvPr>
          <p:cNvSpPr/>
          <p:nvPr/>
        </p:nvSpPr>
        <p:spPr>
          <a:xfrm>
            <a:off x="109728" y="104127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>
            <a:hlinkClick r:id="rId4" action="ppaction://hlinksldjump"/>
          </p:cNvPr>
          <p:cNvSpPr/>
          <p:nvPr/>
        </p:nvSpPr>
        <p:spPr>
          <a:xfrm>
            <a:off x="155448" y="113442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</p:txBody>
      </p:sp>
      <p:sp>
        <p:nvSpPr>
          <p:cNvPr id="205" name="TextBox 204">
            <a:hlinkClick r:id="rId4" action="ppaction://hlinksldjump"/>
          </p:cNvPr>
          <p:cNvSpPr txBox="1"/>
          <p:nvPr/>
        </p:nvSpPr>
        <p:spPr>
          <a:xfrm>
            <a:off x="530352" y="104127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Historia</a:t>
            </a:r>
          </a:p>
        </p:txBody>
      </p:sp>
      <p:sp>
        <p:nvSpPr>
          <p:cNvPr id="206" name="Rectangle 205">
            <a:hlinkClick r:id="rId5" action="ppaction://hlinksldjump"/>
          </p:cNvPr>
          <p:cNvSpPr/>
          <p:nvPr/>
        </p:nvSpPr>
        <p:spPr>
          <a:xfrm>
            <a:off x="137160" y="1561338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>
            <a:hlinkClick r:id="rId5" action="ppaction://hlinksldjump"/>
          </p:cNvPr>
          <p:cNvSpPr/>
          <p:nvPr/>
        </p:nvSpPr>
        <p:spPr>
          <a:xfrm>
            <a:off x="109728" y="1533906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>
            <a:hlinkClick r:id="rId5" action="ppaction://hlinksldjump"/>
          </p:cNvPr>
          <p:cNvSpPr/>
          <p:nvPr/>
        </p:nvSpPr>
        <p:spPr>
          <a:xfrm>
            <a:off x="155448" y="1627060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</p:txBody>
      </p:sp>
      <p:sp>
        <p:nvSpPr>
          <p:cNvPr id="209" name="TextBox 208">
            <a:hlinkClick r:id="rId5" action="ppaction://hlinksldjump"/>
          </p:cNvPr>
          <p:cNvSpPr txBox="1"/>
          <p:nvPr/>
        </p:nvSpPr>
        <p:spPr>
          <a:xfrm>
            <a:off x="530352" y="1533906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Objetivos</a:t>
            </a:r>
          </a:p>
        </p:txBody>
      </p:sp>
      <p:sp>
        <p:nvSpPr>
          <p:cNvPr id="210" name="Rectangle 209">
            <a:hlinkClick r:id="rId6" action="ppaction://hlinksldjump"/>
          </p:cNvPr>
          <p:cNvSpPr/>
          <p:nvPr/>
        </p:nvSpPr>
        <p:spPr>
          <a:xfrm>
            <a:off x="137160" y="2053971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>
            <a:hlinkClick r:id="rId6" action="ppaction://hlinksldjump"/>
          </p:cNvPr>
          <p:cNvSpPr/>
          <p:nvPr/>
        </p:nvSpPr>
        <p:spPr>
          <a:xfrm>
            <a:off x="109728" y="2026539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>
            <a:hlinkClick r:id="rId6" action="ppaction://hlinksldjump"/>
          </p:cNvPr>
          <p:cNvSpPr/>
          <p:nvPr/>
        </p:nvSpPr>
        <p:spPr>
          <a:xfrm>
            <a:off x="155448" y="2119693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</p:txBody>
      </p:sp>
      <p:sp>
        <p:nvSpPr>
          <p:cNvPr id="213" name="TextBox 212">
            <a:hlinkClick r:id="rId6" action="ppaction://hlinksldjump"/>
          </p:cNvPr>
          <p:cNvSpPr txBox="1"/>
          <p:nvPr/>
        </p:nvSpPr>
        <p:spPr>
          <a:xfrm>
            <a:off x="530352" y="2026539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Estructura</a:t>
            </a:r>
          </a:p>
        </p:txBody>
      </p:sp>
      <p:sp>
        <p:nvSpPr>
          <p:cNvPr id="214" name="Rectangle 213">
            <a:hlinkClick r:id="rId7" action="ppaction://hlinksldjump"/>
          </p:cNvPr>
          <p:cNvSpPr/>
          <p:nvPr/>
        </p:nvSpPr>
        <p:spPr>
          <a:xfrm>
            <a:off x="137160" y="2546604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>
            <a:hlinkClick r:id="rId7" action="ppaction://hlinksldjump"/>
          </p:cNvPr>
          <p:cNvSpPr/>
          <p:nvPr/>
        </p:nvSpPr>
        <p:spPr>
          <a:xfrm>
            <a:off x="109728" y="2519172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>
            <a:hlinkClick r:id="rId7" action="ppaction://hlinksldjump"/>
          </p:cNvPr>
          <p:cNvSpPr/>
          <p:nvPr/>
        </p:nvSpPr>
        <p:spPr>
          <a:xfrm>
            <a:off x="155448" y="2612326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05</a:t>
            </a:r>
          </a:p>
        </p:txBody>
      </p:sp>
      <p:sp>
        <p:nvSpPr>
          <p:cNvPr id="217" name="TextBox 216">
            <a:hlinkClick r:id="rId7" action="ppaction://hlinksldjump"/>
          </p:cNvPr>
          <p:cNvSpPr txBox="1"/>
          <p:nvPr/>
        </p:nvSpPr>
        <p:spPr>
          <a:xfrm>
            <a:off x="530352" y="2519172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9 procesos</a:t>
            </a:r>
          </a:p>
        </p:txBody>
      </p:sp>
      <p:sp>
        <p:nvSpPr>
          <p:cNvPr id="218" name="Rectangle 217">
            <a:hlinkClick r:id="rId8" action="ppaction://hlinksldjump"/>
          </p:cNvPr>
          <p:cNvSpPr/>
          <p:nvPr/>
        </p:nvSpPr>
        <p:spPr>
          <a:xfrm>
            <a:off x="137160" y="3039237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hlinkClick r:id="rId8" action="ppaction://hlinksldjump"/>
          </p:cNvPr>
          <p:cNvSpPr/>
          <p:nvPr/>
        </p:nvSpPr>
        <p:spPr>
          <a:xfrm>
            <a:off x="109728" y="3011805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>
            <a:hlinkClick r:id="rId8" action="ppaction://hlinksldjump"/>
          </p:cNvPr>
          <p:cNvSpPr/>
          <p:nvPr/>
        </p:nvSpPr>
        <p:spPr>
          <a:xfrm>
            <a:off x="155448" y="3104959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06</a:t>
            </a:r>
          </a:p>
        </p:txBody>
      </p:sp>
      <p:sp>
        <p:nvSpPr>
          <p:cNvPr id="221" name="TextBox 220">
            <a:hlinkClick r:id="rId8" action="ppaction://hlinksldjump"/>
          </p:cNvPr>
          <p:cNvSpPr txBox="1"/>
          <p:nvPr/>
        </p:nvSpPr>
        <p:spPr>
          <a:xfrm>
            <a:off x="530352" y="3011805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Anatomía</a:t>
            </a:r>
          </a:p>
        </p:txBody>
      </p:sp>
      <p:sp>
        <p:nvSpPr>
          <p:cNvPr id="222" name="Rectangle 221">
            <a:hlinkClick r:id="rId9" action="ppaction://hlinksldjump"/>
          </p:cNvPr>
          <p:cNvSpPr/>
          <p:nvPr/>
        </p:nvSpPr>
        <p:spPr>
          <a:xfrm>
            <a:off x="137160" y="3531870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>
            <a:hlinkClick r:id="rId9" action="ppaction://hlinksldjump"/>
          </p:cNvPr>
          <p:cNvSpPr/>
          <p:nvPr/>
        </p:nvSpPr>
        <p:spPr>
          <a:xfrm>
            <a:off x="109728" y="3504438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>
            <a:hlinkClick r:id="rId9" action="ppaction://hlinksldjump"/>
          </p:cNvPr>
          <p:cNvSpPr/>
          <p:nvPr/>
        </p:nvSpPr>
        <p:spPr>
          <a:xfrm>
            <a:off x="155448" y="3597592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07</a:t>
            </a:r>
          </a:p>
        </p:txBody>
      </p:sp>
      <p:sp>
        <p:nvSpPr>
          <p:cNvPr id="225" name="TextBox 224">
            <a:hlinkClick r:id="rId9" action="ppaction://hlinksldjump"/>
          </p:cNvPr>
          <p:cNvSpPr txBox="1"/>
          <p:nvPr/>
        </p:nvSpPr>
        <p:spPr>
          <a:xfrm>
            <a:off x="530352" y="3504438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Ciclo DMS</a:t>
            </a:r>
          </a:p>
        </p:txBody>
      </p:sp>
      <p:sp>
        <p:nvSpPr>
          <p:cNvPr id="226" name="Rectangle 225">
            <a:hlinkClick r:id="rId10" action="ppaction://hlinksldjump"/>
          </p:cNvPr>
          <p:cNvSpPr/>
          <p:nvPr/>
        </p:nvSpPr>
        <p:spPr>
          <a:xfrm>
            <a:off x="137160" y="4024503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>
            <a:hlinkClick r:id="rId10" action="ppaction://hlinksldjump"/>
          </p:cNvPr>
          <p:cNvSpPr/>
          <p:nvPr/>
        </p:nvSpPr>
        <p:spPr>
          <a:xfrm>
            <a:off x="109728" y="3997071"/>
            <a:ext cx="2139696" cy="460629"/>
          </a:xfrm>
          <a:prstGeom prst="rect">
            <a:avLst/>
          </a:prstGeom>
          <a:solidFill>
            <a:srgbClr val="9B6B72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>
            <a:hlinkClick r:id="rId10" action="ppaction://hlinksldjump"/>
          </p:cNvPr>
          <p:cNvSpPr/>
          <p:nvPr/>
        </p:nvSpPr>
        <p:spPr>
          <a:xfrm>
            <a:off x="155448" y="4090225"/>
            <a:ext cx="329184" cy="274320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08</a:t>
            </a:r>
          </a:p>
        </p:txBody>
      </p:sp>
      <p:sp>
        <p:nvSpPr>
          <p:cNvPr id="229" name="TextBox 228">
            <a:hlinkClick r:id="rId10" action="ppaction://hlinksldjump"/>
          </p:cNvPr>
          <p:cNvSpPr txBox="1"/>
          <p:nvPr/>
        </p:nvSpPr>
        <p:spPr>
          <a:xfrm>
            <a:off x="530352" y="3997071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Roles</a:t>
            </a:r>
          </a:p>
        </p:txBody>
      </p:sp>
      <p:sp>
        <p:nvSpPr>
          <p:cNvPr id="230" name="Rectangle 229">
            <a:hlinkClick r:id="rId11" action="ppaction://hlinksldjump"/>
          </p:cNvPr>
          <p:cNvSpPr/>
          <p:nvPr/>
        </p:nvSpPr>
        <p:spPr>
          <a:xfrm>
            <a:off x="137160" y="4517136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>
            <a:hlinkClick r:id="rId11" action="ppaction://hlinksldjump"/>
          </p:cNvPr>
          <p:cNvSpPr/>
          <p:nvPr/>
        </p:nvSpPr>
        <p:spPr>
          <a:xfrm>
            <a:off x="109728" y="4489704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>
            <a:hlinkClick r:id="rId11" action="ppaction://hlinksldjump"/>
          </p:cNvPr>
          <p:cNvSpPr/>
          <p:nvPr/>
        </p:nvSpPr>
        <p:spPr>
          <a:xfrm>
            <a:off x="155448" y="4582858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09</a:t>
            </a:r>
          </a:p>
        </p:txBody>
      </p:sp>
      <p:sp>
        <p:nvSpPr>
          <p:cNvPr id="233" name="TextBox 232">
            <a:hlinkClick r:id="rId11" action="ppaction://hlinksldjump"/>
          </p:cNvPr>
          <p:cNvSpPr txBox="1"/>
          <p:nvPr/>
        </p:nvSpPr>
        <p:spPr>
          <a:xfrm>
            <a:off x="530352" y="4489704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Capacidad</a:t>
            </a:r>
          </a:p>
        </p:txBody>
      </p:sp>
      <p:sp>
        <p:nvSpPr>
          <p:cNvPr id="234" name="Rectangle 233">
            <a:hlinkClick r:id="rId12" action="ppaction://hlinksldjump"/>
          </p:cNvPr>
          <p:cNvSpPr/>
          <p:nvPr/>
        </p:nvSpPr>
        <p:spPr>
          <a:xfrm>
            <a:off x="137160" y="5009769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>
            <a:hlinkClick r:id="rId12" action="ppaction://hlinksldjump"/>
          </p:cNvPr>
          <p:cNvSpPr/>
          <p:nvPr/>
        </p:nvSpPr>
        <p:spPr>
          <a:xfrm>
            <a:off x="109728" y="4982337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>
            <a:hlinkClick r:id="rId12" action="ppaction://hlinksldjump"/>
          </p:cNvPr>
          <p:cNvSpPr/>
          <p:nvPr/>
        </p:nvSpPr>
        <p:spPr>
          <a:xfrm>
            <a:off x="155448" y="5075491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10</a:t>
            </a:r>
          </a:p>
        </p:txBody>
      </p:sp>
      <p:sp>
        <p:nvSpPr>
          <p:cNvPr id="237" name="TextBox 236">
            <a:hlinkClick r:id="rId12" action="ppaction://hlinksldjump"/>
          </p:cNvPr>
          <p:cNvSpPr txBox="1"/>
          <p:nvPr/>
        </p:nvSpPr>
        <p:spPr>
          <a:xfrm>
            <a:off x="530352" y="4982337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EvalProSoft</a:t>
            </a:r>
          </a:p>
        </p:txBody>
      </p:sp>
      <p:sp>
        <p:nvSpPr>
          <p:cNvPr id="238" name="Rectangle 237">
            <a:hlinkClick r:id="rId13" action="ppaction://hlinksldjump"/>
          </p:cNvPr>
          <p:cNvSpPr/>
          <p:nvPr/>
        </p:nvSpPr>
        <p:spPr>
          <a:xfrm>
            <a:off x="137160" y="550240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>
            <a:hlinkClick r:id="rId13" action="ppaction://hlinksldjump"/>
          </p:cNvPr>
          <p:cNvSpPr/>
          <p:nvPr/>
        </p:nvSpPr>
        <p:spPr>
          <a:xfrm>
            <a:off x="109728" y="547497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>
            <a:hlinkClick r:id="rId13" action="ppaction://hlinksldjump"/>
          </p:cNvPr>
          <p:cNvSpPr/>
          <p:nvPr/>
        </p:nvSpPr>
        <p:spPr>
          <a:xfrm>
            <a:off x="155448" y="556812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11</a:t>
            </a:r>
          </a:p>
        </p:txBody>
      </p:sp>
      <p:sp>
        <p:nvSpPr>
          <p:cNvPr id="241" name="TextBox 240">
            <a:hlinkClick r:id="rId13" action="ppaction://hlinksldjump"/>
          </p:cNvPr>
          <p:cNvSpPr txBox="1"/>
          <p:nvPr/>
        </p:nvSpPr>
        <p:spPr>
          <a:xfrm>
            <a:off x="530352" y="547497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Modelos</a:t>
            </a:r>
          </a:p>
        </p:txBody>
      </p:sp>
      <p:sp>
        <p:nvSpPr>
          <p:cNvPr id="242" name="Rectangle 241">
            <a:hlinkClick r:id="rId14" action="ppaction://hlinksldjump"/>
          </p:cNvPr>
          <p:cNvSpPr/>
          <p:nvPr/>
        </p:nvSpPr>
        <p:spPr>
          <a:xfrm>
            <a:off x="137160" y="599503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>
            <a:hlinkClick r:id="rId14" action="ppaction://hlinksldjump"/>
          </p:cNvPr>
          <p:cNvSpPr/>
          <p:nvPr/>
        </p:nvSpPr>
        <p:spPr>
          <a:xfrm>
            <a:off x="109728" y="596760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>
            <a:hlinkClick r:id="rId14" action="ppaction://hlinksldjump"/>
          </p:cNvPr>
          <p:cNvSpPr/>
          <p:nvPr/>
        </p:nvSpPr>
        <p:spPr>
          <a:xfrm>
            <a:off x="155448" y="606075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12</a:t>
            </a:r>
          </a:p>
        </p:txBody>
      </p:sp>
      <p:sp>
        <p:nvSpPr>
          <p:cNvPr id="245" name="TextBox 244">
            <a:hlinkClick r:id="rId14" action="ppaction://hlinksldjump"/>
          </p:cNvPr>
          <p:cNvSpPr txBox="1"/>
          <p:nvPr/>
        </p:nvSpPr>
        <p:spPr>
          <a:xfrm>
            <a:off x="530352" y="596760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Glosario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404872" y="210312"/>
            <a:ext cx="9723119" cy="578815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2340864" y="146304"/>
            <a:ext cx="9723119" cy="5788151"/>
          </a:xfrm>
          <a:prstGeom prst="rect">
            <a:avLst/>
          </a:prstGeom>
          <a:solidFill>
            <a:srgbClr val="FFFFFF"/>
          </a:solidFill>
          <a:ln w="317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2450592" y="256032"/>
            <a:ext cx="9503663" cy="56692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2505456" y="256032"/>
            <a:ext cx="530352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👥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054096" y="256032"/>
            <a:ext cx="8790431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5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NIVEL 8: Roles clave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2578608" y="950976"/>
            <a:ext cx="3045967" cy="215341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2542032" y="914400"/>
            <a:ext cx="3045967" cy="2153411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73152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11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Responsable de Gestión de Negocio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Dueño o dirección.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716015" y="950976"/>
            <a:ext cx="3045967" cy="215341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5679439" y="914400"/>
            <a:ext cx="3045967" cy="2153411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73152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11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Responsable de Gestión de Procesos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Mantiene el catálogo de procesos.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8853423" y="950976"/>
            <a:ext cx="3045967" cy="215341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8816847" y="914400"/>
            <a:ext cx="3045967" cy="2153411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73152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11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Responsable de Gestión de Proyectos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Asigna y vigila proyectos.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2578608" y="3195827"/>
            <a:ext cx="3045967" cy="215341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2542032" y="3159251"/>
            <a:ext cx="3045967" cy="2153411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73152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11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Responsable de Proyecto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Lidera un proyecto específico.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5716015" y="3195827"/>
            <a:ext cx="3045967" cy="215341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5679439" y="3159251"/>
            <a:ext cx="3045967" cy="2153411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73152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11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05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Analista, Diseñador, Programador, Probador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Ejecutan DMS.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8853423" y="3195827"/>
            <a:ext cx="3045967" cy="215341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8816847" y="3159251"/>
            <a:ext cx="3045967" cy="2153411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73152" bIns="73152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1100" b="0" i="0">
                <a:solidFill>
                  <a:srgbClr val="9B6B72"/>
                </a:solidFill>
                <a:latin typeface="Press Start 2P"/>
                <a:ea typeface="Press Start 2P"/>
                <a:cs typeface="Press Start 2P"/>
              </a:rPr>
              <a:t>06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Cliente y usuario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Validan requerimientos y entregas.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542032" y="5385815"/>
            <a:ext cx="9320783" cy="438912"/>
          </a:xfrm>
          <a:prstGeom prst="rect">
            <a:avLst/>
          </a:prstGeom>
          <a:solidFill>
            <a:srgbClr val="C9DFF5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18288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En empresas pequeñas, una persona puede cumplir varios roles.</a:t>
            </a:r>
          </a:p>
        </p:txBody>
      </p:sp>
      <p:sp>
        <p:nvSpPr>
          <p:cNvPr id="264" name="Rectangle 263">
            <a:hlinkClick r:id="rId2" action="ppaction://hlinksldjump"/>
          </p:cNvPr>
          <p:cNvSpPr/>
          <p:nvPr/>
        </p:nvSpPr>
        <p:spPr>
          <a:xfrm>
            <a:off x="2391156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ctangle 264">
            <a:hlinkClick r:id="rId2" action="ppaction://hlinksldjump"/>
          </p:cNvPr>
          <p:cNvSpPr/>
          <p:nvPr/>
        </p:nvSpPr>
        <p:spPr>
          <a:xfrm>
            <a:off x="2340864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INDICE</a:t>
            </a:r>
          </a:p>
        </p:txBody>
      </p:sp>
      <p:sp>
        <p:nvSpPr>
          <p:cNvPr id="266" name="Rectangle 265">
            <a:hlinkClick r:id="rId9" action="ppaction://hlinksldjump"/>
          </p:cNvPr>
          <p:cNvSpPr/>
          <p:nvPr/>
        </p:nvSpPr>
        <p:spPr>
          <a:xfrm>
            <a:off x="566267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>
            <a:hlinkClick r:id="rId9" action="ppaction://hlinksldjump"/>
          </p:cNvPr>
          <p:cNvSpPr/>
          <p:nvPr/>
        </p:nvSpPr>
        <p:spPr>
          <a:xfrm>
            <a:off x="5612383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◀ ANTERIOR</a:t>
            </a:r>
          </a:p>
        </p:txBody>
      </p:sp>
      <p:sp>
        <p:nvSpPr>
          <p:cNvPr id="268" name="Rectangle 267">
            <a:hlinkClick r:id="rId11" action="ppaction://hlinksldjump"/>
          </p:cNvPr>
          <p:cNvSpPr/>
          <p:nvPr/>
        </p:nvSpPr>
        <p:spPr>
          <a:xfrm>
            <a:off x="893419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>
            <a:hlinkClick r:id="rId11" action="ppaction://hlinksldjump"/>
          </p:cNvPr>
          <p:cNvSpPr/>
          <p:nvPr/>
        </p:nvSpPr>
        <p:spPr>
          <a:xfrm>
            <a:off x="8883903" y="6007607"/>
            <a:ext cx="3180079" cy="420624"/>
          </a:xfrm>
          <a:prstGeom prst="rect">
            <a:avLst/>
          </a:prstGeom>
          <a:solidFill>
            <a:srgbClr val="7FA8D6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SIGUIENTE 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214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0817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3619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420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9222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4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4825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7627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042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3230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8833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163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4436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7238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284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5643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8444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1246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6849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9651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2452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525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8056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0857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3659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6460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9262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20639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4865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7667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0468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32703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6071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8873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16751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4476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72783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79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28815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65683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784847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1286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040879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6889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96911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424927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5294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68095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80897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36991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6500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9302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32103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449055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7707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050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3310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96112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08913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2171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34516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47318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0120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7292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85723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98524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11326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2412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36929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49731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62532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7533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88136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100937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13739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26540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139342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52144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64945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77747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90548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203350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2161520" y="0"/>
            <a:ext cx="30479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2801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5603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8404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1206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4008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6809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9611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02412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5214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28016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40817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53619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66420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79222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92024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04825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17627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3042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43230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56032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8833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8163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94436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238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20040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3284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45643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58444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71246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8404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96849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409651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22452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3525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48056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60857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73659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86460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499262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120639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24865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37667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50468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5632703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76071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88873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016751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14476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272783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40079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528815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65683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7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91286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040879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16889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7296911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424927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55294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68095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80897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936991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06500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19302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32103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449055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57707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7050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83310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96112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08913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2171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34516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47318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960120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97292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985723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98524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11326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02412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036929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49731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062532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07533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088136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100937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113739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126540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1139342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1152144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1164945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1177747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1190548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1203350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2161520" y="6501383"/>
            <a:ext cx="30479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201168" y="6565392"/>
            <a:ext cx="786384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DIAP. 11  ·  NIVEL 9/12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74479" y="6565392"/>
            <a:ext cx="278892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HECHO POR RUM</a:t>
            </a:r>
          </a:p>
        </p:txBody>
      </p:sp>
      <p:sp>
        <p:nvSpPr>
          <p:cNvPr id="197" name="Rectangle 196">
            <a:hlinkClick r:id="rId2" action="ppaction://hlinksldjump"/>
          </p:cNvPr>
          <p:cNvSpPr/>
          <p:nvPr/>
        </p:nvSpPr>
        <p:spPr>
          <a:xfrm>
            <a:off x="109728" y="128016"/>
            <a:ext cx="2139696" cy="365760"/>
          </a:xfrm>
          <a:prstGeom prst="rect">
            <a:avLst/>
          </a:prstGeom>
          <a:solidFill>
            <a:srgbClr val="4A2027"/>
          </a:solidFill>
          <a:ln w="25400">
            <a:solidFill>
              <a:srgbClr val="FFFFFF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MAPA</a:t>
            </a:r>
          </a:p>
        </p:txBody>
      </p:sp>
      <p:sp>
        <p:nvSpPr>
          <p:cNvPr id="198" name="Rectangle 197">
            <a:hlinkClick r:id="rId3" action="ppaction://hlinksldjump"/>
          </p:cNvPr>
          <p:cNvSpPr/>
          <p:nvPr/>
        </p:nvSpPr>
        <p:spPr>
          <a:xfrm>
            <a:off x="137160" y="57607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>
            <a:hlinkClick r:id="rId3" action="ppaction://hlinksldjump"/>
          </p:cNvPr>
          <p:cNvSpPr/>
          <p:nvPr/>
        </p:nvSpPr>
        <p:spPr>
          <a:xfrm>
            <a:off x="109728" y="54864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>
            <a:hlinkClick r:id="rId3" action="ppaction://hlinksldjump"/>
          </p:cNvPr>
          <p:cNvSpPr/>
          <p:nvPr/>
        </p:nvSpPr>
        <p:spPr>
          <a:xfrm>
            <a:off x="155448" y="64179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</p:txBody>
      </p:sp>
      <p:sp>
        <p:nvSpPr>
          <p:cNvPr id="201" name="TextBox 200">
            <a:hlinkClick r:id="rId3" action="ppaction://hlinksldjump"/>
          </p:cNvPr>
          <p:cNvSpPr txBox="1"/>
          <p:nvPr/>
        </p:nvSpPr>
        <p:spPr>
          <a:xfrm>
            <a:off x="530352" y="54864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¿Qué es?</a:t>
            </a:r>
          </a:p>
        </p:txBody>
      </p:sp>
      <p:sp>
        <p:nvSpPr>
          <p:cNvPr id="202" name="Rectangle 201">
            <a:hlinkClick r:id="rId4" action="ppaction://hlinksldjump"/>
          </p:cNvPr>
          <p:cNvSpPr/>
          <p:nvPr/>
        </p:nvSpPr>
        <p:spPr>
          <a:xfrm>
            <a:off x="137160" y="106870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>
            <a:hlinkClick r:id="rId4" action="ppaction://hlinksldjump"/>
          </p:cNvPr>
          <p:cNvSpPr/>
          <p:nvPr/>
        </p:nvSpPr>
        <p:spPr>
          <a:xfrm>
            <a:off x="109728" y="104127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>
            <a:hlinkClick r:id="rId4" action="ppaction://hlinksldjump"/>
          </p:cNvPr>
          <p:cNvSpPr/>
          <p:nvPr/>
        </p:nvSpPr>
        <p:spPr>
          <a:xfrm>
            <a:off x="155448" y="113442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</p:txBody>
      </p:sp>
      <p:sp>
        <p:nvSpPr>
          <p:cNvPr id="205" name="TextBox 204">
            <a:hlinkClick r:id="rId4" action="ppaction://hlinksldjump"/>
          </p:cNvPr>
          <p:cNvSpPr txBox="1"/>
          <p:nvPr/>
        </p:nvSpPr>
        <p:spPr>
          <a:xfrm>
            <a:off x="530352" y="104127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Historia</a:t>
            </a:r>
          </a:p>
        </p:txBody>
      </p:sp>
      <p:sp>
        <p:nvSpPr>
          <p:cNvPr id="206" name="Rectangle 205">
            <a:hlinkClick r:id="rId5" action="ppaction://hlinksldjump"/>
          </p:cNvPr>
          <p:cNvSpPr/>
          <p:nvPr/>
        </p:nvSpPr>
        <p:spPr>
          <a:xfrm>
            <a:off x="137160" y="1561338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>
            <a:hlinkClick r:id="rId5" action="ppaction://hlinksldjump"/>
          </p:cNvPr>
          <p:cNvSpPr/>
          <p:nvPr/>
        </p:nvSpPr>
        <p:spPr>
          <a:xfrm>
            <a:off x="109728" y="1533906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>
            <a:hlinkClick r:id="rId5" action="ppaction://hlinksldjump"/>
          </p:cNvPr>
          <p:cNvSpPr/>
          <p:nvPr/>
        </p:nvSpPr>
        <p:spPr>
          <a:xfrm>
            <a:off x="155448" y="1627060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</p:txBody>
      </p:sp>
      <p:sp>
        <p:nvSpPr>
          <p:cNvPr id="209" name="TextBox 208">
            <a:hlinkClick r:id="rId5" action="ppaction://hlinksldjump"/>
          </p:cNvPr>
          <p:cNvSpPr txBox="1"/>
          <p:nvPr/>
        </p:nvSpPr>
        <p:spPr>
          <a:xfrm>
            <a:off x="530352" y="1533906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Objetivos</a:t>
            </a:r>
          </a:p>
        </p:txBody>
      </p:sp>
      <p:sp>
        <p:nvSpPr>
          <p:cNvPr id="210" name="Rectangle 209">
            <a:hlinkClick r:id="rId6" action="ppaction://hlinksldjump"/>
          </p:cNvPr>
          <p:cNvSpPr/>
          <p:nvPr/>
        </p:nvSpPr>
        <p:spPr>
          <a:xfrm>
            <a:off x="137160" y="2053971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>
            <a:hlinkClick r:id="rId6" action="ppaction://hlinksldjump"/>
          </p:cNvPr>
          <p:cNvSpPr/>
          <p:nvPr/>
        </p:nvSpPr>
        <p:spPr>
          <a:xfrm>
            <a:off x="109728" y="2026539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>
            <a:hlinkClick r:id="rId6" action="ppaction://hlinksldjump"/>
          </p:cNvPr>
          <p:cNvSpPr/>
          <p:nvPr/>
        </p:nvSpPr>
        <p:spPr>
          <a:xfrm>
            <a:off x="155448" y="2119693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</p:txBody>
      </p:sp>
      <p:sp>
        <p:nvSpPr>
          <p:cNvPr id="213" name="TextBox 212">
            <a:hlinkClick r:id="rId6" action="ppaction://hlinksldjump"/>
          </p:cNvPr>
          <p:cNvSpPr txBox="1"/>
          <p:nvPr/>
        </p:nvSpPr>
        <p:spPr>
          <a:xfrm>
            <a:off x="530352" y="2026539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Estructura</a:t>
            </a:r>
          </a:p>
        </p:txBody>
      </p:sp>
      <p:sp>
        <p:nvSpPr>
          <p:cNvPr id="214" name="Rectangle 213">
            <a:hlinkClick r:id="rId7" action="ppaction://hlinksldjump"/>
          </p:cNvPr>
          <p:cNvSpPr/>
          <p:nvPr/>
        </p:nvSpPr>
        <p:spPr>
          <a:xfrm>
            <a:off x="137160" y="2546604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>
            <a:hlinkClick r:id="rId7" action="ppaction://hlinksldjump"/>
          </p:cNvPr>
          <p:cNvSpPr/>
          <p:nvPr/>
        </p:nvSpPr>
        <p:spPr>
          <a:xfrm>
            <a:off x="109728" y="2519172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>
            <a:hlinkClick r:id="rId7" action="ppaction://hlinksldjump"/>
          </p:cNvPr>
          <p:cNvSpPr/>
          <p:nvPr/>
        </p:nvSpPr>
        <p:spPr>
          <a:xfrm>
            <a:off x="155448" y="2612326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05</a:t>
            </a:r>
          </a:p>
        </p:txBody>
      </p:sp>
      <p:sp>
        <p:nvSpPr>
          <p:cNvPr id="217" name="TextBox 216">
            <a:hlinkClick r:id="rId7" action="ppaction://hlinksldjump"/>
          </p:cNvPr>
          <p:cNvSpPr txBox="1"/>
          <p:nvPr/>
        </p:nvSpPr>
        <p:spPr>
          <a:xfrm>
            <a:off x="530352" y="2519172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9 procesos</a:t>
            </a:r>
          </a:p>
        </p:txBody>
      </p:sp>
      <p:sp>
        <p:nvSpPr>
          <p:cNvPr id="218" name="Rectangle 217">
            <a:hlinkClick r:id="rId8" action="ppaction://hlinksldjump"/>
          </p:cNvPr>
          <p:cNvSpPr/>
          <p:nvPr/>
        </p:nvSpPr>
        <p:spPr>
          <a:xfrm>
            <a:off x="137160" y="3039237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hlinkClick r:id="rId8" action="ppaction://hlinksldjump"/>
          </p:cNvPr>
          <p:cNvSpPr/>
          <p:nvPr/>
        </p:nvSpPr>
        <p:spPr>
          <a:xfrm>
            <a:off x="109728" y="3011805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>
            <a:hlinkClick r:id="rId8" action="ppaction://hlinksldjump"/>
          </p:cNvPr>
          <p:cNvSpPr/>
          <p:nvPr/>
        </p:nvSpPr>
        <p:spPr>
          <a:xfrm>
            <a:off x="155448" y="3104959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06</a:t>
            </a:r>
          </a:p>
        </p:txBody>
      </p:sp>
      <p:sp>
        <p:nvSpPr>
          <p:cNvPr id="221" name="TextBox 220">
            <a:hlinkClick r:id="rId8" action="ppaction://hlinksldjump"/>
          </p:cNvPr>
          <p:cNvSpPr txBox="1"/>
          <p:nvPr/>
        </p:nvSpPr>
        <p:spPr>
          <a:xfrm>
            <a:off x="530352" y="3011805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Anatomía</a:t>
            </a:r>
          </a:p>
        </p:txBody>
      </p:sp>
      <p:sp>
        <p:nvSpPr>
          <p:cNvPr id="222" name="Rectangle 221">
            <a:hlinkClick r:id="rId9" action="ppaction://hlinksldjump"/>
          </p:cNvPr>
          <p:cNvSpPr/>
          <p:nvPr/>
        </p:nvSpPr>
        <p:spPr>
          <a:xfrm>
            <a:off x="137160" y="3531870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>
            <a:hlinkClick r:id="rId9" action="ppaction://hlinksldjump"/>
          </p:cNvPr>
          <p:cNvSpPr/>
          <p:nvPr/>
        </p:nvSpPr>
        <p:spPr>
          <a:xfrm>
            <a:off x="109728" y="3504438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>
            <a:hlinkClick r:id="rId9" action="ppaction://hlinksldjump"/>
          </p:cNvPr>
          <p:cNvSpPr/>
          <p:nvPr/>
        </p:nvSpPr>
        <p:spPr>
          <a:xfrm>
            <a:off x="155448" y="3597592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07</a:t>
            </a:r>
          </a:p>
        </p:txBody>
      </p:sp>
      <p:sp>
        <p:nvSpPr>
          <p:cNvPr id="225" name="TextBox 224">
            <a:hlinkClick r:id="rId9" action="ppaction://hlinksldjump"/>
          </p:cNvPr>
          <p:cNvSpPr txBox="1"/>
          <p:nvPr/>
        </p:nvSpPr>
        <p:spPr>
          <a:xfrm>
            <a:off x="530352" y="3504438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Ciclo DMS</a:t>
            </a:r>
          </a:p>
        </p:txBody>
      </p:sp>
      <p:sp>
        <p:nvSpPr>
          <p:cNvPr id="226" name="Rectangle 225">
            <a:hlinkClick r:id="rId10" action="ppaction://hlinksldjump"/>
          </p:cNvPr>
          <p:cNvSpPr/>
          <p:nvPr/>
        </p:nvSpPr>
        <p:spPr>
          <a:xfrm>
            <a:off x="137160" y="4024503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>
            <a:hlinkClick r:id="rId10" action="ppaction://hlinksldjump"/>
          </p:cNvPr>
          <p:cNvSpPr/>
          <p:nvPr/>
        </p:nvSpPr>
        <p:spPr>
          <a:xfrm>
            <a:off x="109728" y="3997071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>
            <a:hlinkClick r:id="rId10" action="ppaction://hlinksldjump"/>
          </p:cNvPr>
          <p:cNvSpPr/>
          <p:nvPr/>
        </p:nvSpPr>
        <p:spPr>
          <a:xfrm>
            <a:off x="155448" y="4090225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08</a:t>
            </a:r>
          </a:p>
        </p:txBody>
      </p:sp>
      <p:sp>
        <p:nvSpPr>
          <p:cNvPr id="229" name="TextBox 228">
            <a:hlinkClick r:id="rId10" action="ppaction://hlinksldjump"/>
          </p:cNvPr>
          <p:cNvSpPr txBox="1"/>
          <p:nvPr/>
        </p:nvSpPr>
        <p:spPr>
          <a:xfrm>
            <a:off x="530352" y="3997071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Roles</a:t>
            </a:r>
          </a:p>
        </p:txBody>
      </p:sp>
      <p:sp>
        <p:nvSpPr>
          <p:cNvPr id="230" name="Rectangle 229">
            <a:hlinkClick r:id="rId11" action="ppaction://hlinksldjump"/>
          </p:cNvPr>
          <p:cNvSpPr/>
          <p:nvPr/>
        </p:nvSpPr>
        <p:spPr>
          <a:xfrm>
            <a:off x="137160" y="4517136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>
            <a:hlinkClick r:id="rId11" action="ppaction://hlinksldjump"/>
          </p:cNvPr>
          <p:cNvSpPr/>
          <p:nvPr/>
        </p:nvSpPr>
        <p:spPr>
          <a:xfrm>
            <a:off x="109728" y="4489704"/>
            <a:ext cx="2139696" cy="460629"/>
          </a:xfrm>
          <a:prstGeom prst="rect">
            <a:avLst/>
          </a:prstGeom>
          <a:solidFill>
            <a:srgbClr val="9B6B72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>
            <a:hlinkClick r:id="rId11" action="ppaction://hlinksldjump"/>
          </p:cNvPr>
          <p:cNvSpPr/>
          <p:nvPr/>
        </p:nvSpPr>
        <p:spPr>
          <a:xfrm>
            <a:off x="155448" y="4582858"/>
            <a:ext cx="329184" cy="274320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09</a:t>
            </a:r>
          </a:p>
        </p:txBody>
      </p:sp>
      <p:sp>
        <p:nvSpPr>
          <p:cNvPr id="233" name="TextBox 232">
            <a:hlinkClick r:id="rId11" action="ppaction://hlinksldjump"/>
          </p:cNvPr>
          <p:cNvSpPr txBox="1"/>
          <p:nvPr/>
        </p:nvSpPr>
        <p:spPr>
          <a:xfrm>
            <a:off x="530352" y="4489704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Capacidad</a:t>
            </a:r>
          </a:p>
        </p:txBody>
      </p:sp>
      <p:sp>
        <p:nvSpPr>
          <p:cNvPr id="234" name="Rectangle 233">
            <a:hlinkClick r:id="rId12" action="ppaction://hlinksldjump"/>
          </p:cNvPr>
          <p:cNvSpPr/>
          <p:nvPr/>
        </p:nvSpPr>
        <p:spPr>
          <a:xfrm>
            <a:off x="137160" y="5009769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>
            <a:hlinkClick r:id="rId12" action="ppaction://hlinksldjump"/>
          </p:cNvPr>
          <p:cNvSpPr/>
          <p:nvPr/>
        </p:nvSpPr>
        <p:spPr>
          <a:xfrm>
            <a:off x="109728" y="4982337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>
            <a:hlinkClick r:id="rId12" action="ppaction://hlinksldjump"/>
          </p:cNvPr>
          <p:cNvSpPr/>
          <p:nvPr/>
        </p:nvSpPr>
        <p:spPr>
          <a:xfrm>
            <a:off x="155448" y="5075491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10</a:t>
            </a:r>
          </a:p>
        </p:txBody>
      </p:sp>
      <p:sp>
        <p:nvSpPr>
          <p:cNvPr id="237" name="TextBox 236">
            <a:hlinkClick r:id="rId12" action="ppaction://hlinksldjump"/>
          </p:cNvPr>
          <p:cNvSpPr txBox="1"/>
          <p:nvPr/>
        </p:nvSpPr>
        <p:spPr>
          <a:xfrm>
            <a:off x="530352" y="4982337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EvalProSoft</a:t>
            </a:r>
          </a:p>
        </p:txBody>
      </p:sp>
      <p:sp>
        <p:nvSpPr>
          <p:cNvPr id="238" name="Rectangle 237">
            <a:hlinkClick r:id="rId13" action="ppaction://hlinksldjump"/>
          </p:cNvPr>
          <p:cNvSpPr/>
          <p:nvPr/>
        </p:nvSpPr>
        <p:spPr>
          <a:xfrm>
            <a:off x="137160" y="550240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>
            <a:hlinkClick r:id="rId13" action="ppaction://hlinksldjump"/>
          </p:cNvPr>
          <p:cNvSpPr/>
          <p:nvPr/>
        </p:nvSpPr>
        <p:spPr>
          <a:xfrm>
            <a:off x="109728" y="547497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>
            <a:hlinkClick r:id="rId13" action="ppaction://hlinksldjump"/>
          </p:cNvPr>
          <p:cNvSpPr/>
          <p:nvPr/>
        </p:nvSpPr>
        <p:spPr>
          <a:xfrm>
            <a:off x="155448" y="556812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11</a:t>
            </a:r>
          </a:p>
        </p:txBody>
      </p:sp>
      <p:sp>
        <p:nvSpPr>
          <p:cNvPr id="241" name="TextBox 240">
            <a:hlinkClick r:id="rId13" action="ppaction://hlinksldjump"/>
          </p:cNvPr>
          <p:cNvSpPr txBox="1"/>
          <p:nvPr/>
        </p:nvSpPr>
        <p:spPr>
          <a:xfrm>
            <a:off x="530352" y="547497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Modelos</a:t>
            </a:r>
          </a:p>
        </p:txBody>
      </p:sp>
      <p:sp>
        <p:nvSpPr>
          <p:cNvPr id="242" name="Rectangle 241">
            <a:hlinkClick r:id="rId14" action="ppaction://hlinksldjump"/>
          </p:cNvPr>
          <p:cNvSpPr/>
          <p:nvPr/>
        </p:nvSpPr>
        <p:spPr>
          <a:xfrm>
            <a:off x="137160" y="599503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>
            <a:hlinkClick r:id="rId14" action="ppaction://hlinksldjump"/>
          </p:cNvPr>
          <p:cNvSpPr/>
          <p:nvPr/>
        </p:nvSpPr>
        <p:spPr>
          <a:xfrm>
            <a:off x="109728" y="596760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>
            <a:hlinkClick r:id="rId14" action="ppaction://hlinksldjump"/>
          </p:cNvPr>
          <p:cNvSpPr/>
          <p:nvPr/>
        </p:nvSpPr>
        <p:spPr>
          <a:xfrm>
            <a:off x="155448" y="606075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12</a:t>
            </a:r>
          </a:p>
        </p:txBody>
      </p:sp>
      <p:sp>
        <p:nvSpPr>
          <p:cNvPr id="245" name="TextBox 244">
            <a:hlinkClick r:id="rId14" action="ppaction://hlinksldjump"/>
          </p:cNvPr>
          <p:cNvSpPr txBox="1"/>
          <p:nvPr/>
        </p:nvSpPr>
        <p:spPr>
          <a:xfrm>
            <a:off x="530352" y="596760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Glosario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404872" y="210312"/>
            <a:ext cx="9723119" cy="578815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2340864" y="146304"/>
            <a:ext cx="9723119" cy="5788151"/>
          </a:xfrm>
          <a:prstGeom prst="rect">
            <a:avLst/>
          </a:prstGeom>
          <a:solidFill>
            <a:srgbClr val="FFFFFF"/>
          </a:solidFill>
          <a:ln w="317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2450592" y="256032"/>
            <a:ext cx="9503663" cy="56692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2505456" y="256032"/>
            <a:ext cx="530352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📈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054096" y="256032"/>
            <a:ext cx="8790431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5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NIVEL 9: Niveles de capacidad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542032" y="914400"/>
            <a:ext cx="9320783" cy="310896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Basados en ISO/IEC 15504, son 6 niveles (0 a 5).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2578608" y="1316736"/>
            <a:ext cx="9320783" cy="711707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2542032" y="1280160"/>
            <a:ext cx="9320783" cy="711707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2569464" y="1307592"/>
            <a:ext cx="1498599" cy="656843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2615184" y="1443990"/>
            <a:ext cx="457200" cy="38404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4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0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3182112" y="1298448"/>
            <a:ext cx="3914729" cy="34161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Incompleto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3182112" y="1607545"/>
            <a:ext cx="8543543" cy="355853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El proceso no se realiza o no logra su propósito.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2578608" y="2083308"/>
            <a:ext cx="9320783" cy="711707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2542032" y="2046732"/>
            <a:ext cx="9320783" cy="711707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2569464" y="2074163"/>
            <a:ext cx="3052063" cy="656843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ctangle 260"/>
          <p:cNvSpPr/>
          <p:nvPr/>
        </p:nvSpPr>
        <p:spPr>
          <a:xfrm>
            <a:off x="2615184" y="2210562"/>
            <a:ext cx="457200" cy="38404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4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1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3182112" y="2065020"/>
            <a:ext cx="3914729" cy="34161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Realizado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3182112" y="2374117"/>
            <a:ext cx="8543543" cy="355853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Se logra el propósito, sin control formal.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578608" y="2849879"/>
            <a:ext cx="9320783" cy="711707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2542032" y="2813303"/>
            <a:ext cx="9320783" cy="711707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2569464" y="2840735"/>
            <a:ext cx="4605527" cy="656843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2615184" y="2977133"/>
            <a:ext cx="457200" cy="38404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4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2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3182112" y="2831591"/>
            <a:ext cx="3914729" cy="34161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Gestionado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3182112" y="3140689"/>
            <a:ext cx="8543543" cy="355853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Se planea, supervisa y ajusta; hay productos controlados.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2578608" y="3616451"/>
            <a:ext cx="9320783" cy="711707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270"/>
          <p:cNvSpPr/>
          <p:nvPr/>
        </p:nvSpPr>
        <p:spPr>
          <a:xfrm>
            <a:off x="2542032" y="3579875"/>
            <a:ext cx="9320783" cy="711707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Rectangle 271"/>
          <p:cNvSpPr/>
          <p:nvPr/>
        </p:nvSpPr>
        <p:spPr>
          <a:xfrm>
            <a:off x="2569464" y="3607307"/>
            <a:ext cx="6158991" cy="656843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ctangle 272"/>
          <p:cNvSpPr/>
          <p:nvPr/>
        </p:nvSpPr>
        <p:spPr>
          <a:xfrm>
            <a:off x="2615184" y="3743705"/>
            <a:ext cx="457200" cy="38404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4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3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3182112" y="3598163"/>
            <a:ext cx="3914729" cy="34161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Establecido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3182112" y="3907261"/>
            <a:ext cx="8543543" cy="355853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Se usa un proceso definido, adaptado del estándar de la organización.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2578608" y="4383023"/>
            <a:ext cx="9320783" cy="711707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ectangle 276"/>
          <p:cNvSpPr/>
          <p:nvPr/>
        </p:nvSpPr>
        <p:spPr>
          <a:xfrm>
            <a:off x="2542032" y="4346447"/>
            <a:ext cx="9320783" cy="711707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2569464" y="4373879"/>
            <a:ext cx="7712455" cy="656843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2615184" y="4510277"/>
            <a:ext cx="457200" cy="38404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4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4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3182112" y="4364735"/>
            <a:ext cx="3914729" cy="34161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Predecible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3182112" y="4673833"/>
            <a:ext cx="8543543" cy="355853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Se mide y se controla con datos cuantitativos.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2578608" y="5149595"/>
            <a:ext cx="9320783" cy="711707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Rectangle 282"/>
          <p:cNvSpPr/>
          <p:nvPr/>
        </p:nvSpPr>
        <p:spPr>
          <a:xfrm>
            <a:off x="2542032" y="5113019"/>
            <a:ext cx="9320783" cy="711707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Rectangle 283"/>
          <p:cNvSpPr/>
          <p:nvPr/>
        </p:nvSpPr>
        <p:spPr>
          <a:xfrm>
            <a:off x="2569464" y="5140451"/>
            <a:ext cx="9265919" cy="656843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2615184" y="5276849"/>
            <a:ext cx="457200" cy="38404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4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5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3182112" y="5131307"/>
            <a:ext cx="3914729" cy="34161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En optimización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182112" y="5440405"/>
            <a:ext cx="8543543" cy="355853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Se mejora de forma continua con base en metas del negocio.</a:t>
            </a:r>
          </a:p>
        </p:txBody>
      </p:sp>
      <p:sp>
        <p:nvSpPr>
          <p:cNvPr id="288" name="Rectangle 287">
            <a:hlinkClick r:id="rId2" action="ppaction://hlinksldjump"/>
          </p:cNvPr>
          <p:cNvSpPr/>
          <p:nvPr/>
        </p:nvSpPr>
        <p:spPr>
          <a:xfrm>
            <a:off x="2391156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>
            <a:hlinkClick r:id="rId2" action="ppaction://hlinksldjump"/>
          </p:cNvPr>
          <p:cNvSpPr/>
          <p:nvPr/>
        </p:nvSpPr>
        <p:spPr>
          <a:xfrm>
            <a:off x="2340864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INDICE</a:t>
            </a:r>
          </a:p>
        </p:txBody>
      </p:sp>
      <p:sp>
        <p:nvSpPr>
          <p:cNvPr id="290" name="Rectangle 289">
            <a:hlinkClick r:id="rId10" action="ppaction://hlinksldjump"/>
          </p:cNvPr>
          <p:cNvSpPr/>
          <p:nvPr/>
        </p:nvSpPr>
        <p:spPr>
          <a:xfrm>
            <a:off x="566267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Rectangle 290">
            <a:hlinkClick r:id="rId10" action="ppaction://hlinksldjump"/>
          </p:cNvPr>
          <p:cNvSpPr/>
          <p:nvPr/>
        </p:nvSpPr>
        <p:spPr>
          <a:xfrm>
            <a:off x="5612383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◀ ANTERIOR</a:t>
            </a:r>
          </a:p>
        </p:txBody>
      </p:sp>
      <p:sp>
        <p:nvSpPr>
          <p:cNvPr id="292" name="Rectangle 291">
            <a:hlinkClick r:id="rId12" action="ppaction://hlinksldjump"/>
          </p:cNvPr>
          <p:cNvSpPr/>
          <p:nvPr/>
        </p:nvSpPr>
        <p:spPr>
          <a:xfrm>
            <a:off x="893419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>
            <a:hlinkClick r:id="rId12" action="ppaction://hlinksldjump"/>
          </p:cNvPr>
          <p:cNvSpPr/>
          <p:nvPr/>
        </p:nvSpPr>
        <p:spPr>
          <a:xfrm>
            <a:off x="8883903" y="6007607"/>
            <a:ext cx="3180079" cy="420624"/>
          </a:xfrm>
          <a:prstGeom prst="rect">
            <a:avLst/>
          </a:prstGeom>
          <a:solidFill>
            <a:srgbClr val="7FA8D6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SIGUIENTE 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214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0817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3619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420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9222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4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4825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7627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042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3230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8833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163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4436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7238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284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5643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8444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1246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6849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9651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2452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525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8056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0857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3659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6460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9262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20639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4865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7667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0468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32703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6071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8873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16751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4476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72783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79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28815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65683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784847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1286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040879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6889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96911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424927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5294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68095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80897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36991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6500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9302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32103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449055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7707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050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3310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96112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08913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2171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34516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47318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0120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7292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85723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98524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11326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2412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36929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49731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62532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7533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88136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100937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13739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26540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139342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52144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64945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77747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90548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203350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2161520" y="0"/>
            <a:ext cx="30479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2801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5603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8404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1206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4008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6809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9611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02412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5214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28016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40817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53619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66420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79222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92024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04825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17627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3042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43230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56032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8833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8163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94436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238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20040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3284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45643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58444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71246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8404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96849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409651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22452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3525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48056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60857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73659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86460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499262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120639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24865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37667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50468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5632703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76071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88873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016751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14476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272783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40079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528815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65683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7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91286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040879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16889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7296911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424927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55294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68095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80897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936991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06500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19302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32103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449055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57707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7050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83310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96112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08913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2171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34516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47318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960120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97292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985723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98524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11326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02412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036929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49731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062532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07533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088136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100937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113739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126540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1139342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1152144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1164945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1177747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1190548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1203350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2161520" y="6501383"/>
            <a:ext cx="30479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201168" y="6565392"/>
            <a:ext cx="786384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DIAP. 12  ·  NIVEL 10/12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74479" y="6565392"/>
            <a:ext cx="278892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HECHO POR RUM</a:t>
            </a:r>
          </a:p>
        </p:txBody>
      </p:sp>
      <p:sp>
        <p:nvSpPr>
          <p:cNvPr id="197" name="Rectangle 196">
            <a:hlinkClick r:id="rId2" action="ppaction://hlinksldjump"/>
          </p:cNvPr>
          <p:cNvSpPr/>
          <p:nvPr/>
        </p:nvSpPr>
        <p:spPr>
          <a:xfrm>
            <a:off x="109728" y="128016"/>
            <a:ext cx="2139696" cy="365760"/>
          </a:xfrm>
          <a:prstGeom prst="rect">
            <a:avLst/>
          </a:prstGeom>
          <a:solidFill>
            <a:srgbClr val="4A2027"/>
          </a:solidFill>
          <a:ln w="25400">
            <a:solidFill>
              <a:srgbClr val="FFFFFF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MAPA</a:t>
            </a:r>
          </a:p>
        </p:txBody>
      </p:sp>
      <p:sp>
        <p:nvSpPr>
          <p:cNvPr id="198" name="Rectangle 197">
            <a:hlinkClick r:id="rId3" action="ppaction://hlinksldjump"/>
          </p:cNvPr>
          <p:cNvSpPr/>
          <p:nvPr/>
        </p:nvSpPr>
        <p:spPr>
          <a:xfrm>
            <a:off x="137160" y="57607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>
            <a:hlinkClick r:id="rId3" action="ppaction://hlinksldjump"/>
          </p:cNvPr>
          <p:cNvSpPr/>
          <p:nvPr/>
        </p:nvSpPr>
        <p:spPr>
          <a:xfrm>
            <a:off x="109728" y="54864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>
            <a:hlinkClick r:id="rId3" action="ppaction://hlinksldjump"/>
          </p:cNvPr>
          <p:cNvSpPr/>
          <p:nvPr/>
        </p:nvSpPr>
        <p:spPr>
          <a:xfrm>
            <a:off x="155448" y="64179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</p:txBody>
      </p:sp>
      <p:sp>
        <p:nvSpPr>
          <p:cNvPr id="201" name="TextBox 200">
            <a:hlinkClick r:id="rId3" action="ppaction://hlinksldjump"/>
          </p:cNvPr>
          <p:cNvSpPr txBox="1"/>
          <p:nvPr/>
        </p:nvSpPr>
        <p:spPr>
          <a:xfrm>
            <a:off x="530352" y="54864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¿Qué es?</a:t>
            </a:r>
          </a:p>
        </p:txBody>
      </p:sp>
      <p:sp>
        <p:nvSpPr>
          <p:cNvPr id="202" name="Rectangle 201">
            <a:hlinkClick r:id="rId4" action="ppaction://hlinksldjump"/>
          </p:cNvPr>
          <p:cNvSpPr/>
          <p:nvPr/>
        </p:nvSpPr>
        <p:spPr>
          <a:xfrm>
            <a:off x="137160" y="106870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>
            <a:hlinkClick r:id="rId4" action="ppaction://hlinksldjump"/>
          </p:cNvPr>
          <p:cNvSpPr/>
          <p:nvPr/>
        </p:nvSpPr>
        <p:spPr>
          <a:xfrm>
            <a:off x="109728" y="104127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>
            <a:hlinkClick r:id="rId4" action="ppaction://hlinksldjump"/>
          </p:cNvPr>
          <p:cNvSpPr/>
          <p:nvPr/>
        </p:nvSpPr>
        <p:spPr>
          <a:xfrm>
            <a:off x="155448" y="113442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</p:txBody>
      </p:sp>
      <p:sp>
        <p:nvSpPr>
          <p:cNvPr id="205" name="TextBox 204">
            <a:hlinkClick r:id="rId4" action="ppaction://hlinksldjump"/>
          </p:cNvPr>
          <p:cNvSpPr txBox="1"/>
          <p:nvPr/>
        </p:nvSpPr>
        <p:spPr>
          <a:xfrm>
            <a:off x="530352" y="104127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Historia</a:t>
            </a:r>
          </a:p>
        </p:txBody>
      </p:sp>
      <p:sp>
        <p:nvSpPr>
          <p:cNvPr id="206" name="Rectangle 205">
            <a:hlinkClick r:id="rId5" action="ppaction://hlinksldjump"/>
          </p:cNvPr>
          <p:cNvSpPr/>
          <p:nvPr/>
        </p:nvSpPr>
        <p:spPr>
          <a:xfrm>
            <a:off x="137160" y="1561338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>
            <a:hlinkClick r:id="rId5" action="ppaction://hlinksldjump"/>
          </p:cNvPr>
          <p:cNvSpPr/>
          <p:nvPr/>
        </p:nvSpPr>
        <p:spPr>
          <a:xfrm>
            <a:off x="109728" y="1533906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>
            <a:hlinkClick r:id="rId5" action="ppaction://hlinksldjump"/>
          </p:cNvPr>
          <p:cNvSpPr/>
          <p:nvPr/>
        </p:nvSpPr>
        <p:spPr>
          <a:xfrm>
            <a:off x="155448" y="1627060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</p:txBody>
      </p:sp>
      <p:sp>
        <p:nvSpPr>
          <p:cNvPr id="209" name="TextBox 208">
            <a:hlinkClick r:id="rId5" action="ppaction://hlinksldjump"/>
          </p:cNvPr>
          <p:cNvSpPr txBox="1"/>
          <p:nvPr/>
        </p:nvSpPr>
        <p:spPr>
          <a:xfrm>
            <a:off x="530352" y="1533906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Objetivos</a:t>
            </a:r>
          </a:p>
        </p:txBody>
      </p:sp>
      <p:sp>
        <p:nvSpPr>
          <p:cNvPr id="210" name="Rectangle 209">
            <a:hlinkClick r:id="rId6" action="ppaction://hlinksldjump"/>
          </p:cNvPr>
          <p:cNvSpPr/>
          <p:nvPr/>
        </p:nvSpPr>
        <p:spPr>
          <a:xfrm>
            <a:off x="137160" y="2053971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>
            <a:hlinkClick r:id="rId6" action="ppaction://hlinksldjump"/>
          </p:cNvPr>
          <p:cNvSpPr/>
          <p:nvPr/>
        </p:nvSpPr>
        <p:spPr>
          <a:xfrm>
            <a:off x="109728" y="2026539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>
            <a:hlinkClick r:id="rId6" action="ppaction://hlinksldjump"/>
          </p:cNvPr>
          <p:cNvSpPr/>
          <p:nvPr/>
        </p:nvSpPr>
        <p:spPr>
          <a:xfrm>
            <a:off x="155448" y="2119693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</p:txBody>
      </p:sp>
      <p:sp>
        <p:nvSpPr>
          <p:cNvPr id="213" name="TextBox 212">
            <a:hlinkClick r:id="rId6" action="ppaction://hlinksldjump"/>
          </p:cNvPr>
          <p:cNvSpPr txBox="1"/>
          <p:nvPr/>
        </p:nvSpPr>
        <p:spPr>
          <a:xfrm>
            <a:off x="530352" y="2026539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Estructura</a:t>
            </a:r>
          </a:p>
        </p:txBody>
      </p:sp>
      <p:sp>
        <p:nvSpPr>
          <p:cNvPr id="214" name="Rectangle 213">
            <a:hlinkClick r:id="rId7" action="ppaction://hlinksldjump"/>
          </p:cNvPr>
          <p:cNvSpPr/>
          <p:nvPr/>
        </p:nvSpPr>
        <p:spPr>
          <a:xfrm>
            <a:off x="137160" y="2546604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>
            <a:hlinkClick r:id="rId7" action="ppaction://hlinksldjump"/>
          </p:cNvPr>
          <p:cNvSpPr/>
          <p:nvPr/>
        </p:nvSpPr>
        <p:spPr>
          <a:xfrm>
            <a:off x="109728" y="2519172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>
            <a:hlinkClick r:id="rId7" action="ppaction://hlinksldjump"/>
          </p:cNvPr>
          <p:cNvSpPr/>
          <p:nvPr/>
        </p:nvSpPr>
        <p:spPr>
          <a:xfrm>
            <a:off x="155448" y="2612326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05</a:t>
            </a:r>
          </a:p>
        </p:txBody>
      </p:sp>
      <p:sp>
        <p:nvSpPr>
          <p:cNvPr id="217" name="TextBox 216">
            <a:hlinkClick r:id="rId7" action="ppaction://hlinksldjump"/>
          </p:cNvPr>
          <p:cNvSpPr txBox="1"/>
          <p:nvPr/>
        </p:nvSpPr>
        <p:spPr>
          <a:xfrm>
            <a:off x="530352" y="2519172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9 procesos</a:t>
            </a:r>
          </a:p>
        </p:txBody>
      </p:sp>
      <p:sp>
        <p:nvSpPr>
          <p:cNvPr id="218" name="Rectangle 217">
            <a:hlinkClick r:id="rId8" action="ppaction://hlinksldjump"/>
          </p:cNvPr>
          <p:cNvSpPr/>
          <p:nvPr/>
        </p:nvSpPr>
        <p:spPr>
          <a:xfrm>
            <a:off x="137160" y="3039237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hlinkClick r:id="rId8" action="ppaction://hlinksldjump"/>
          </p:cNvPr>
          <p:cNvSpPr/>
          <p:nvPr/>
        </p:nvSpPr>
        <p:spPr>
          <a:xfrm>
            <a:off x="109728" y="3011805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>
            <a:hlinkClick r:id="rId8" action="ppaction://hlinksldjump"/>
          </p:cNvPr>
          <p:cNvSpPr/>
          <p:nvPr/>
        </p:nvSpPr>
        <p:spPr>
          <a:xfrm>
            <a:off x="155448" y="3104959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06</a:t>
            </a:r>
          </a:p>
        </p:txBody>
      </p:sp>
      <p:sp>
        <p:nvSpPr>
          <p:cNvPr id="221" name="TextBox 220">
            <a:hlinkClick r:id="rId8" action="ppaction://hlinksldjump"/>
          </p:cNvPr>
          <p:cNvSpPr txBox="1"/>
          <p:nvPr/>
        </p:nvSpPr>
        <p:spPr>
          <a:xfrm>
            <a:off x="530352" y="3011805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Anatomía</a:t>
            </a:r>
          </a:p>
        </p:txBody>
      </p:sp>
      <p:sp>
        <p:nvSpPr>
          <p:cNvPr id="222" name="Rectangle 221">
            <a:hlinkClick r:id="rId9" action="ppaction://hlinksldjump"/>
          </p:cNvPr>
          <p:cNvSpPr/>
          <p:nvPr/>
        </p:nvSpPr>
        <p:spPr>
          <a:xfrm>
            <a:off x="137160" y="3531870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>
            <a:hlinkClick r:id="rId9" action="ppaction://hlinksldjump"/>
          </p:cNvPr>
          <p:cNvSpPr/>
          <p:nvPr/>
        </p:nvSpPr>
        <p:spPr>
          <a:xfrm>
            <a:off x="109728" y="3504438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>
            <a:hlinkClick r:id="rId9" action="ppaction://hlinksldjump"/>
          </p:cNvPr>
          <p:cNvSpPr/>
          <p:nvPr/>
        </p:nvSpPr>
        <p:spPr>
          <a:xfrm>
            <a:off x="155448" y="3597592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07</a:t>
            </a:r>
          </a:p>
        </p:txBody>
      </p:sp>
      <p:sp>
        <p:nvSpPr>
          <p:cNvPr id="225" name="TextBox 224">
            <a:hlinkClick r:id="rId9" action="ppaction://hlinksldjump"/>
          </p:cNvPr>
          <p:cNvSpPr txBox="1"/>
          <p:nvPr/>
        </p:nvSpPr>
        <p:spPr>
          <a:xfrm>
            <a:off x="530352" y="3504438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Ciclo DMS</a:t>
            </a:r>
          </a:p>
        </p:txBody>
      </p:sp>
      <p:sp>
        <p:nvSpPr>
          <p:cNvPr id="226" name="Rectangle 225">
            <a:hlinkClick r:id="rId10" action="ppaction://hlinksldjump"/>
          </p:cNvPr>
          <p:cNvSpPr/>
          <p:nvPr/>
        </p:nvSpPr>
        <p:spPr>
          <a:xfrm>
            <a:off x="137160" y="4024503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>
            <a:hlinkClick r:id="rId10" action="ppaction://hlinksldjump"/>
          </p:cNvPr>
          <p:cNvSpPr/>
          <p:nvPr/>
        </p:nvSpPr>
        <p:spPr>
          <a:xfrm>
            <a:off x="109728" y="3997071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>
            <a:hlinkClick r:id="rId10" action="ppaction://hlinksldjump"/>
          </p:cNvPr>
          <p:cNvSpPr/>
          <p:nvPr/>
        </p:nvSpPr>
        <p:spPr>
          <a:xfrm>
            <a:off x="155448" y="4090225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08</a:t>
            </a:r>
          </a:p>
        </p:txBody>
      </p:sp>
      <p:sp>
        <p:nvSpPr>
          <p:cNvPr id="229" name="TextBox 228">
            <a:hlinkClick r:id="rId10" action="ppaction://hlinksldjump"/>
          </p:cNvPr>
          <p:cNvSpPr txBox="1"/>
          <p:nvPr/>
        </p:nvSpPr>
        <p:spPr>
          <a:xfrm>
            <a:off x="530352" y="3997071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Roles</a:t>
            </a:r>
          </a:p>
        </p:txBody>
      </p:sp>
      <p:sp>
        <p:nvSpPr>
          <p:cNvPr id="230" name="Rectangle 229">
            <a:hlinkClick r:id="rId11" action="ppaction://hlinksldjump"/>
          </p:cNvPr>
          <p:cNvSpPr/>
          <p:nvPr/>
        </p:nvSpPr>
        <p:spPr>
          <a:xfrm>
            <a:off x="137160" y="4517136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>
            <a:hlinkClick r:id="rId11" action="ppaction://hlinksldjump"/>
          </p:cNvPr>
          <p:cNvSpPr/>
          <p:nvPr/>
        </p:nvSpPr>
        <p:spPr>
          <a:xfrm>
            <a:off x="109728" y="4489704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>
            <a:hlinkClick r:id="rId11" action="ppaction://hlinksldjump"/>
          </p:cNvPr>
          <p:cNvSpPr/>
          <p:nvPr/>
        </p:nvSpPr>
        <p:spPr>
          <a:xfrm>
            <a:off x="155448" y="4582858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09</a:t>
            </a:r>
          </a:p>
        </p:txBody>
      </p:sp>
      <p:sp>
        <p:nvSpPr>
          <p:cNvPr id="233" name="TextBox 232">
            <a:hlinkClick r:id="rId11" action="ppaction://hlinksldjump"/>
          </p:cNvPr>
          <p:cNvSpPr txBox="1"/>
          <p:nvPr/>
        </p:nvSpPr>
        <p:spPr>
          <a:xfrm>
            <a:off x="530352" y="4489704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Capacidad</a:t>
            </a:r>
          </a:p>
        </p:txBody>
      </p:sp>
      <p:sp>
        <p:nvSpPr>
          <p:cNvPr id="234" name="Rectangle 233">
            <a:hlinkClick r:id="rId12" action="ppaction://hlinksldjump"/>
          </p:cNvPr>
          <p:cNvSpPr/>
          <p:nvPr/>
        </p:nvSpPr>
        <p:spPr>
          <a:xfrm>
            <a:off x="137160" y="5009769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>
            <a:hlinkClick r:id="rId12" action="ppaction://hlinksldjump"/>
          </p:cNvPr>
          <p:cNvSpPr/>
          <p:nvPr/>
        </p:nvSpPr>
        <p:spPr>
          <a:xfrm>
            <a:off x="109728" y="4982337"/>
            <a:ext cx="2139696" cy="460629"/>
          </a:xfrm>
          <a:prstGeom prst="rect">
            <a:avLst/>
          </a:prstGeom>
          <a:solidFill>
            <a:srgbClr val="9B6B72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>
            <a:hlinkClick r:id="rId12" action="ppaction://hlinksldjump"/>
          </p:cNvPr>
          <p:cNvSpPr/>
          <p:nvPr/>
        </p:nvSpPr>
        <p:spPr>
          <a:xfrm>
            <a:off x="155448" y="5075491"/>
            <a:ext cx="329184" cy="274320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10</a:t>
            </a:r>
          </a:p>
        </p:txBody>
      </p:sp>
      <p:sp>
        <p:nvSpPr>
          <p:cNvPr id="237" name="TextBox 236">
            <a:hlinkClick r:id="rId12" action="ppaction://hlinksldjump"/>
          </p:cNvPr>
          <p:cNvSpPr txBox="1"/>
          <p:nvPr/>
        </p:nvSpPr>
        <p:spPr>
          <a:xfrm>
            <a:off x="530352" y="4982337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EvalProSoft</a:t>
            </a:r>
          </a:p>
        </p:txBody>
      </p:sp>
      <p:sp>
        <p:nvSpPr>
          <p:cNvPr id="238" name="Rectangle 237">
            <a:hlinkClick r:id="rId13" action="ppaction://hlinksldjump"/>
          </p:cNvPr>
          <p:cNvSpPr/>
          <p:nvPr/>
        </p:nvSpPr>
        <p:spPr>
          <a:xfrm>
            <a:off x="137160" y="550240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>
            <a:hlinkClick r:id="rId13" action="ppaction://hlinksldjump"/>
          </p:cNvPr>
          <p:cNvSpPr/>
          <p:nvPr/>
        </p:nvSpPr>
        <p:spPr>
          <a:xfrm>
            <a:off x="109728" y="547497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>
            <a:hlinkClick r:id="rId13" action="ppaction://hlinksldjump"/>
          </p:cNvPr>
          <p:cNvSpPr/>
          <p:nvPr/>
        </p:nvSpPr>
        <p:spPr>
          <a:xfrm>
            <a:off x="155448" y="556812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11</a:t>
            </a:r>
          </a:p>
        </p:txBody>
      </p:sp>
      <p:sp>
        <p:nvSpPr>
          <p:cNvPr id="241" name="TextBox 240">
            <a:hlinkClick r:id="rId13" action="ppaction://hlinksldjump"/>
          </p:cNvPr>
          <p:cNvSpPr txBox="1"/>
          <p:nvPr/>
        </p:nvSpPr>
        <p:spPr>
          <a:xfrm>
            <a:off x="530352" y="547497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Modelos</a:t>
            </a:r>
          </a:p>
        </p:txBody>
      </p:sp>
      <p:sp>
        <p:nvSpPr>
          <p:cNvPr id="242" name="Rectangle 241">
            <a:hlinkClick r:id="rId14" action="ppaction://hlinksldjump"/>
          </p:cNvPr>
          <p:cNvSpPr/>
          <p:nvPr/>
        </p:nvSpPr>
        <p:spPr>
          <a:xfrm>
            <a:off x="137160" y="599503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>
            <a:hlinkClick r:id="rId14" action="ppaction://hlinksldjump"/>
          </p:cNvPr>
          <p:cNvSpPr/>
          <p:nvPr/>
        </p:nvSpPr>
        <p:spPr>
          <a:xfrm>
            <a:off x="109728" y="596760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>
            <a:hlinkClick r:id="rId14" action="ppaction://hlinksldjump"/>
          </p:cNvPr>
          <p:cNvSpPr/>
          <p:nvPr/>
        </p:nvSpPr>
        <p:spPr>
          <a:xfrm>
            <a:off x="155448" y="606075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12</a:t>
            </a:r>
          </a:p>
        </p:txBody>
      </p:sp>
      <p:sp>
        <p:nvSpPr>
          <p:cNvPr id="245" name="TextBox 244">
            <a:hlinkClick r:id="rId14" action="ppaction://hlinksldjump"/>
          </p:cNvPr>
          <p:cNvSpPr txBox="1"/>
          <p:nvPr/>
        </p:nvSpPr>
        <p:spPr>
          <a:xfrm>
            <a:off x="530352" y="596760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Glosario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404872" y="210312"/>
            <a:ext cx="9723119" cy="578815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2340864" y="146304"/>
            <a:ext cx="9723119" cy="5788151"/>
          </a:xfrm>
          <a:prstGeom prst="rect">
            <a:avLst/>
          </a:prstGeom>
          <a:solidFill>
            <a:srgbClr val="FFFFFF"/>
          </a:solidFill>
          <a:ln w="317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2450592" y="256032"/>
            <a:ext cx="9503663" cy="56692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2505456" y="256032"/>
            <a:ext cx="530352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🔍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054096" y="256032"/>
            <a:ext cx="8790431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5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NIVEL 10: Evaluación: EvalProSoft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2587752" y="960120"/>
            <a:ext cx="9320783" cy="115900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2542032" y="914400"/>
            <a:ext cx="9320783" cy="1159001"/>
          </a:xfrm>
          <a:prstGeom prst="rect">
            <a:avLst/>
          </a:prstGeom>
          <a:solidFill>
            <a:srgbClr val="C9DFF5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18288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EvalProSoft es el método para evaluar procesos de MoProSoft, basado en ISO/IEC 15504.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2587752" y="2210561"/>
            <a:ext cx="9320783" cy="115900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2542032" y="2164841"/>
            <a:ext cx="9320783" cy="1159001"/>
          </a:xfrm>
          <a:prstGeom prst="rect">
            <a:avLst/>
          </a:prstGeom>
          <a:solidFill>
            <a:srgbClr val="C9DFF5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18288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Lo aplican evaluadores capacitados; la norma se verifica con organismos de certificación como NYCE.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2587752" y="3461003"/>
            <a:ext cx="9320783" cy="115900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2542032" y="3415283"/>
            <a:ext cx="9320783" cy="1159001"/>
          </a:xfrm>
          <a:prstGeom prst="rect">
            <a:avLst/>
          </a:prstGeom>
          <a:solidFill>
            <a:srgbClr val="C9DFF5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18288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Resultado: perfil con el nivel de capacidad por proceso y recomendaciones de mejora.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2587752" y="4711445"/>
            <a:ext cx="9320783" cy="115900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2542032" y="4665725"/>
            <a:ext cx="9320783" cy="1159001"/>
          </a:xfrm>
          <a:prstGeom prst="rect">
            <a:avLst/>
          </a:prstGeom>
          <a:solidFill>
            <a:srgbClr val="C9DFF5"/>
          </a:solidFill>
          <a:ln w="22225">
            <a:solidFill>
              <a:srgbClr val="4A2027"/>
            </a:solidFill>
          </a:ln>
          <a:effectLst/>
        </p:spPr>
        <p:txBody>
          <a:bodyPr wrap="square" lIns="109728" tIns="18288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Etapas generales: preparación, recolección de evidencias, entrevistas, análisis y reporte.</a:t>
            </a:r>
          </a:p>
        </p:txBody>
      </p:sp>
      <p:sp>
        <p:nvSpPr>
          <p:cNvPr id="259" name="Rectangle 258">
            <a:hlinkClick r:id="rId2" action="ppaction://hlinksldjump"/>
          </p:cNvPr>
          <p:cNvSpPr/>
          <p:nvPr/>
        </p:nvSpPr>
        <p:spPr>
          <a:xfrm>
            <a:off x="2391156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Rectangle 259">
            <a:hlinkClick r:id="rId2" action="ppaction://hlinksldjump"/>
          </p:cNvPr>
          <p:cNvSpPr/>
          <p:nvPr/>
        </p:nvSpPr>
        <p:spPr>
          <a:xfrm>
            <a:off x="2340864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INDICE</a:t>
            </a:r>
          </a:p>
        </p:txBody>
      </p:sp>
      <p:sp>
        <p:nvSpPr>
          <p:cNvPr id="261" name="Rectangle 260">
            <a:hlinkClick r:id="rId11" action="ppaction://hlinksldjump"/>
          </p:cNvPr>
          <p:cNvSpPr/>
          <p:nvPr/>
        </p:nvSpPr>
        <p:spPr>
          <a:xfrm>
            <a:off x="566267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ectangle 261">
            <a:hlinkClick r:id="rId11" action="ppaction://hlinksldjump"/>
          </p:cNvPr>
          <p:cNvSpPr/>
          <p:nvPr/>
        </p:nvSpPr>
        <p:spPr>
          <a:xfrm>
            <a:off x="5612383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◀ ANTERIOR</a:t>
            </a:r>
          </a:p>
        </p:txBody>
      </p:sp>
      <p:sp>
        <p:nvSpPr>
          <p:cNvPr id="263" name="Rectangle 262">
            <a:hlinkClick r:id="rId13" action="ppaction://hlinksldjump"/>
          </p:cNvPr>
          <p:cNvSpPr/>
          <p:nvPr/>
        </p:nvSpPr>
        <p:spPr>
          <a:xfrm>
            <a:off x="893419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Rectangle 263">
            <a:hlinkClick r:id="rId13" action="ppaction://hlinksldjump"/>
          </p:cNvPr>
          <p:cNvSpPr/>
          <p:nvPr/>
        </p:nvSpPr>
        <p:spPr>
          <a:xfrm>
            <a:off x="8883903" y="6007607"/>
            <a:ext cx="3180079" cy="420624"/>
          </a:xfrm>
          <a:prstGeom prst="rect">
            <a:avLst/>
          </a:prstGeom>
          <a:solidFill>
            <a:srgbClr val="7FA8D6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SIGUIENTE 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214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0817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3619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420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9222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4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4825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7627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042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3230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8833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163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4436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7238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284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5643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8444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1246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6849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9651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2452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525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8056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0857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3659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6460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9262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20639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4865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7667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0468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32703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6071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8873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16751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4476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72783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79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28815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65683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784847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1286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040879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6889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96911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424927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5294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68095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80897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36991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6500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9302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32103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449055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7707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050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3310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96112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08913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2171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34516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47318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0120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7292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85723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98524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11326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2412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36929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49731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62532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7533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88136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100937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13739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26540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139342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52144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64945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77747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90548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203350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2161520" y="0"/>
            <a:ext cx="30479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2801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5603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8404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1206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4008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6809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9611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02412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5214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28016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40817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53619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66420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79222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92024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04825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17627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3042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43230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56032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8833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8163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94436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238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20040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3284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45643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58444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71246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8404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96849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409651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22452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3525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48056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60857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73659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86460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499262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120639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24865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37667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50468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5632703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76071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88873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016751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14476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272783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40079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528815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65683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7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91286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040879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16889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7296911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424927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55294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68095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80897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936991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06500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19302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32103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449055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57707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7050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83310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96112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08913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2171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34516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47318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960120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97292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985723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98524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11326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02412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036929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49731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062532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07533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088136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100937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113739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126540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1139342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1152144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1164945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1177747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1190548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1203350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2161520" y="6501383"/>
            <a:ext cx="30479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201168" y="6565392"/>
            <a:ext cx="786384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DIAP. 13  ·  NIVEL 11/12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74479" y="6565392"/>
            <a:ext cx="278892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HECHO POR RUM</a:t>
            </a:r>
          </a:p>
        </p:txBody>
      </p:sp>
      <p:sp>
        <p:nvSpPr>
          <p:cNvPr id="197" name="Rectangle 196">
            <a:hlinkClick r:id="rId2" action="ppaction://hlinksldjump"/>
          </p:cNvPr>
          <p:cNvSpPr/>
          <p:nvPr/>
        </p:nvSpPr>
        <p:spPr>
          <a:xfrm>
            <a:off x="109728" y="128016"/>
            <a:ext cx="2139696" cy="365760"/>
          </a:xfrm>
          <a:prstGeom prst="rect">
            <a:avLst/>
          </a:prstGeom>
          <a:solidFill>
            <a:srgbClr val="4A2027"/>
          </a:solidFill>
          <a:ln w="25400">
            <a:solidFill>
              <a:srgbClr val="FFFFFF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MAPA</a:t>
            </a:r>
          </a:p>
        </p:txBody>
      </p:sp>
      <p:sp>
        <p:nvSpPr>
          <p:cNvPr id="198" name="Rectangle 197">
            <a:hlinkClick r:id="rId3" action="ppaction://hlinksldjump"/>
          </p:cNvPr>
          <p:cNvSpPr/>
          <p:nvPr/>
        </p:nvSpPr>
        <p:spPr>
          <a:xfrm>
            <a:off x="137160" y="57607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>
            <a:hlinkClick r:id="rId3" action="ppaction://hlinksldjump"/>
          </p:cNvPr>
          <p:cNvSpPr/>
          <p:nvPr/>
        </p:nvSpPr>
        <p:spPr>
          <a:xfrm>
            <a:off x="109728" y="54864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>
            <a:hlinkClick r:id="rId3" action="ppaction://hlinksldjump"/>
          </p:cNvPr>
          <p:cNvSpPr/>
          <p:nvPr/>
        </p:nvSpPr>
        <p:spPr>
          <a:xfrm>
            <a:off x="155448" y="64179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</p:txBody>
      </p:sp>
      <p:sp>
        <p:nvSpPr>
          <p:cNvPr id="201" name="TextBox 200">
            <a:hlinkClick r:id="rId3" action="ppaction://hlinksldjump"/>
          </p:cNvPr>
          <p:cNvSpPr txBox="1"/>
          <p:nvPr/>
        </p:nvSpPr>
        <p:spPr>
          <a:xfrm>
            <a:off x="530352" y="54864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¿Qué es?</a:t>
            </a:r>
          </a:p>
        </p:txBody>
      </p:sp>
      <p:sp>
        <p:nvSpPr>
          <p:cNvPr id="202" name="Rectangle 201">
            <a:hlinkClick r:id="rId4" action="ppaction://hlinksldjump"/>
          </p:cNvPr>
          <p:cNvSpPr/>
          <p:nvPr/>
        </p:nvSpPr>
        <p:spPr>
          <a:xfrm>
            <a:off x="137160" y="106870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>
            <a:hlinkClick r:id="rId4" action="ppaction://hlinksldjump"/>
          </p:cNvPr>
          <p:cNvSpPr/>
          <p:nvPr/>
        </p:nvSpPr>
        <p:spPr>
          <a:xfrm>
            <a:off x="109728" y="104127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>
            <a:hlinkClick r:id="rId4" action="ppaction://hlinksldjump"/>
          </p:cNvPr>
          <p:cNvSpPr/>
          <p:nvPr/>
        </p:nvSpPr>
        <p:spPr>
          <a:xfrm>
            <a:off x="155448" y="113442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</p:txBody>
      </p:sp>
      <p:sp>
        <p:nvSpPr>
          <p:cNvPr id="205" name="TextBox 204">
            <a:hlinkClick r:id="rId4" action="ppaction://hlinksldjump"/>
          </p:cNvPr>
          <p:cNvSpPr txBox="1"/>
          <p:nvPr/>
        </p:nvSpPr>
        <p:spPr>
          <a:xfrm>
            <a:off x="530352" y="104127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Historia</a:t>
            </a:r>
          </a:p>
        </p:txBody>
      </p:sp>
      <p:sp>
        <p:nvSpPr>
          <p:cNvPr id="206" name="Rectangle 205">
            <a:hlinkClick r:id="rId5" action="ppaction://hlinksldjump"/>
          </p:cNvPr>
          <p:cNvSpPr/>
          <p:nvPr/>
        </p:nvSpPr>
        <p:spPr>
          <a:xfrm>
            <a:off x="137160" y="1561338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>
            <a:hlinkClick r:id="rId5" action="ppaction://hlinksldjump"/>
          </p:cNvPr>
          <p:cNvSpPr/>
          <p:nvPr/>
        </p:nvSpPr>
        <p:spPr>
          <a:xfrm>
            <a:off x="109728" y="1533906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>
            <a:hlinkClick r:id="rId5" action="ppaction://hlinksldjump"/>
          </p:cNvPr>
          <p:cNvSpPr/>
          <p:nvPr/>
        </p:nvSpPr>
        <p:spPr>
          <a:xfrm>
            <a:off x="155448" y="1627060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</p:txBody>
      </p:sp>
      <p:sp>
        <p:nvSpPr>
          <p:cNvPr id="209" name="TextBox 208">
            <a:hlinkClick r:id="rId5" action="ppaction://hlinksldjump"/>
          </p:cNvPr>
          <p:cNvSpPr txBox="1"/>
          <p:nvPr/>
        </p:nvSpPr>
        <p:spPr>
          <a:xfrm>
            <a:off x="530352" y="1533906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Objetivos</a:t>
            </a:r>
          </a:p>
        </p:txBody>
      </p:sp>
      <p:sp>
        <p:nvSpPr>
          <p:cNvPr id="210" name="Rectangle 209">
            <a:hlinkClick r:id="rId6" action="ppaction://hlinksldjump"/>
          </p:cNvPr>
          <p:cNvSpPr/>
          <p:nvPr/>
        </p:nvSpPr>
        <p:spPr>
          <a:xfrm>
            <a:off x="137160" y="2053971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>
            <a:hlinkClick r:id="rId6" action="ppaction://hlinksldjump"/>
          </p:cNvPr>
          <p:cNvSpPr/>
          <p:nvPr/>
        </p:nvSpPr>
        <p:spPr>
          <a:xfrm>
            <a:off x="109728" y="2026539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>
            <a:hlinkClick r:id="rId6" action="ppaction://hlinksldjump"/>
          </p:cNvPr>
          <p:cNvSpPr/>
          <p:nvPr/>
        </p:nvSpPr>
        <p:spPr>
          <a:xfrm>
            <a:off x="155448" y="2119693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</p:txBody>
      </p:sp>
      <p:sp>
        <p:nvSpPr>
          <p:cNvPr id="213" name="TextBox 212">
            <a:hlinkClick r:id="rId6" action="ppaction://hlinksldjump"/>
          </p:cNvPr>
          <p:cNvSpPr txBox="1"/>
          <p:nvPr/>
        </p:nvSpPr>
        <p:spPr>
          <a:xfrm>
            <a:off x="530352" y="2026539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Estructura</a:t>
            </a:r>
          </a:p>
        </p:txBody>
      </p:sp>
      <p:sp>
        <p:nvSpPr>
          <p:cNvPr id="214" name="Rectangle 213">
            <a:hlinkClick r:id="rId7" action="ppaction://hlinksldjump"/>
          </p:cNvPr>
          <p:cNvSpPr/>
          <p:nvPr/>
        </p:nvSpPr>
        <p:spPr>
          <a:xfrm>
            <a:off x="137160" y="2546604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>
            <a:hlinkClick r:id="rId7" action="ppaction://hlinksldjump"/>
          </p:cNvPr>
          <p:cNvSpPr/>
          <p:nvPr/>
        </p:nvSpPr>
        <p:spPr>
          <a:xfrm>
            <a:off x="109728" y="2519172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>
            <a:hlinkClick r:id="rId7" action="ppaction://hlinksldjump"/>
          </p:cNvPr>
          <p:cNvSpPr/>
          <p:nvPr/>
        </p:nvSpPr>
        <p:spPr>
          <a:xfrm>
            <a:off x="155448" y="2612326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05</a:t>
            </a:r>
          </a:p>
        </p:txBody>
      </p:sp>
      <p:sp>
        <p:nvSpPr>
          <p:cNvPr id="217" name="TextBox 216">
            <a:hlinkClick r:id="rId7" action="ppaction://hlinksldjump"/>
          </p:cNvPr>
          <p:cNvSpPr txBox="1"/>
          <p:nvPr/>
        </p:nvSpPr>
        <p:spPr>
          <a:xfrm>
            <a:off x="530352" y="2519172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9 procesos</a:t>
            </a:r>
          </a:p>
        </p:txBody>
      </p:sp>
      <p:sp>
        <p:nvSpPr>
          <p:cNvPr id="218" name="Rectangle 217">
            <a:hlinkClick r:id="rId8" action="ppaction://hlinksldjump"/>
          </p:cNvPr>
          <p:cNvSpPr/>
          <p:nvPr/>
        </p:nvSpPr>
        <p:spPr>
          <a:xfrm>
            <a:off x="137160" y="3039237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hlinkClick r:id="rId8" action="ppaction://hlinksldjump"/>
          </p:cNvPr>
          <p:cNvSpPr/>
          <p:nvPr/>
        </p:nvSpPr>
        <p:spPr>
          <a:xfrm>
            <a:off x="109728" y="3011805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>
            <a:hlinkClick r:id="rId8" action="ppaction://hlinksldjump"/>
          </p:cNvPr>
          <p:cNvSpPr/>
          <p:nvPr/>
        </p:nvSpPr>
        <p:spPr>
          <a:xfrm>
            <a:off x="155448" y="3104959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06</a:t>
            </a:r>
          </a:p>
        </p:txBody>
      </p:sp>
      <p:sp>
        <p:nvSpPr>
          <p:cNvPr id="221" name="TextBox 220">
            <a:hlinkClick r:id="rId8" action="ppaction://hlinksldjump"/>
          </p:cNvPr>
          <p:cNvSpPr txBox="1"/>
          <p:nvPr/>
        </p:nvSpPr>
        <p:spPr>
          <a:xfrm>
            <a:off x="530352" y="3011805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Anatomía</a:t>
            </a:r>
          </a:p>
        </p:txBody>
      </p:sp>
      <p:sp>
        <p:nvSpPr>
          <p:cNvPr id="222" name="Rectangle 221">
            <a:hlinkClick r:id="rId9" action="ppaction://hlinksldjump"/>
          </p:cNvPr>
          <p:cNvSpPr/>
          <p:nvPr/>
        </p:nvSpPr>
        <p:spPr>
          <a:xfrm>
            <a:off x="137160" y="3531870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>
            <a:hlinkClick r:id="rId9" action="ppaction://hlinksldjump"/>
          </p:cNvPr>
          <p:cNvSpPr/>
          <p:nvPr/>
        </p:nvSpPr>
        <p:spPr>
          <a:xfrm>
            <a:off x="109728" y="3504438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>
            <a:hlinkClick r:id="rId9" action="ppaction://hlinksldjump"/>
          </p:cNvPr>
          <p:cNvSpPr/>
          <p:nvPr/>
        </p:nvSpPr>
        <p:spPr>
          <a:xfrm>
            <a:off x="155448" y="3597592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07</a:t>
            </a:r>
          </a:p>
        </p:txBody>
      </p:sp>
      <p:sp>
        <p:nvSpPr>
          <p:cNvPr id="225" name="TextBox 224">
            <a:hlinkClick r:id="rId9" action="ppaction://hlinksldjump"/>
          </p:cNvPr>
          <p:cNvSpPr txBox="1"/>
          <p:nvPr/>
        </p:nvSpPr>
        <p:spPr>
          <a:xfrm>
            <a:off x="530352" y="3504438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Ciclo DMS</a:t>
            </a:r>
          </a:p>
        </p:txBody>
      </p:sp>
      <p:sp>
        <p:nvSpPr>
          <p:cNvPr id="226" name="Rectangle 225">
            <a:hlinkClick r:id="rId10" action="ppaction://hlinksldjump"/>
          </p:cNvPr>
          <p:cNvSpPr/>
          <p:nvPr/>
        </p:nvSpPr>
        <p:spPr>
          <a:xfrm>
            <a:off x="137160" y="4024503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>
            <a:hlinkClick r:id="rId10" action="ppaction://hlinksldjump"/>
          </p:cNvPr>
          <p:cNvSpPr/>
          <p:nvPr/>
        </p:nvSpPr>
        <p:spPr>
          <a:xfrm>
            <a:off x="109728" y="3997071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>
            <a:hlinkClick r:id="rId10" action="ppaction://hlinksldjump"/>
          </p:cNvPr>
          <p:cNvSpPr/>
          <p:nvPr/>
        </p:nvSpPr>
        <p:spPr>
          <a:xfrm>
            <a:off x="155448" y="4090225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08</a:t>
            </a:r>
          </a:p>
        </p:txBody>
      </p:sp>
      <p:sp>
        <p:nvSpPr>
          <p:cNvPr id="229" name="TextBox 228">
            <a:hlinkClick r:id="rId10" action="ppaction://hlinksldjump"/>
          </p:cNvPr>
          <p:cNvSpPr txBox="1"/>
          <p:nvPr/>
        </p:nvSpPr>
        <p:spPr>
          <a:xfrm>
            <a:off x="530352" y="3997071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Roles</a:t>
            </a:r>
          </a:p>
        </p:txBody>
      </p:sp>
      <p:sp>
        <p:nvSpPr>
          <p:cNvPr id="230" name="Rectangle 229">
            <a:hlinkClick r:id="rId11" action="ppaction://hlinksldjump"/>
          </p:cNvPr>
          <p:cNvSpPr/>
          <p:nvPr/>
        </p:nvSpPr>
        <p:spPr>
          <a:xfrm>
            <a:off x="137160" y="4517136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>
            <a:hlinkClick r:id="rId11" action="ppaction://hlinksldjump"/>
          </p:cNvPr>
          <p:cNvSpPr/>
          <p:nvPr/>
        </p:nvSpPr>
        <p:spPr>
          <a:xfrm>
            <a:off x="109728" y="4489704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>
            <a:hlinkClick r:id="rId11" action="ppaction://hlinksldjump"/>
          </p:cNvPr>
          <p:cNvSpPr/>
          <p:nvPr/>
        </p:nvSpPr>
        <p:spPr>
          <a:xfrm>
            <a:off x="155448" y="4582858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09</a:t>
            </a:r>
          </a:p>
        </p:txBody>
      </p:sp>
      <p:sp>
        <p:nvSpPr>
          <p:cNvPr id="233" name="TextBox 232">
            <a:hlinkClick r:id="rId11" action="ppaction://hlinksldjump"/>
          </p:cNvPr>
          <p:cNvSpPr txBox="1"/>
          <p:nvPr/>
        </p:nvSpPr>
        <p:spPr>
          <a:xfrm>
            <a:off x="530352" y="4489704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Capacidad</a:t>
            </a:r>
          </a:p>
        </p:txBody>
      </p:sp>
      <p:sp>
        <p:nvSpPr>
          <p:cNvPr id="234" name="Rectangle 233">
            <a:hlinkClick r:id="rId12" action="ppaction://hlinksldjump"/>
          </p:cNvPr>
          <p:cNvSpPr/>
          <p:nvPr/>
        </p:nvSpPr>
        <p:spPr>
          <a:xfrm>
            <a:off x="137160" y="5009769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>
            <a:hlinkClick r:id="rId12" action="ppaction://hlinksldjump"/>
          </p:cNvPr>
          <p:cNvSpPr/>
          <p:nvPr/>
        </p:nvSpPr>
        <p:spPr>
          <a:xfrm>
            <a:off x="109728" y="4982337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>
            <a:hlinkClick r:id="rId12" action="ppaction://hlinksldjump"/>
          </p:cNvPr>
          <p:cNvSpPr/>
          <p:nvPr/>
        </p:nvSpPr>
        <p:spPr>
          <a:xfrm>
            <a:off x="155448" y="5075491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10</a:t>
            </a:r>
          </a:p>
        </p:txBody>
      </p:sp>
      <p:sp>
        <p:nvSpPr>
          <p:cNvPr id="237" name="TextBox 236">
            <a:hlinkClick r:id="rId12" action="ppaction://hlinksldjump"/>
          </p:cNvPr>
          <p:cNvSpPr txBox="1"/>
          <p:nvPr/>
        </p:nvSpPr>
        <p:spPr>
          <a:xfrm>
            <a:off x="530352" y="4982337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EvalProSoft</a:t>
            </a:r>
          </a:p>
        </p:txBody>
      </p:sp>
      <p:sp>
        <p:nvSpPr>
          <p:cNvPr id="238" name="Rectangle 237">
            <a:hlinkClick r:id="rId13" action="ppaction://hlinksldjump"/>
          </p:cNvPr>
          <p:cNvSpPr/>
          <p:nvPr/>
        </p:nvSpPr>
        <p:spPr>
          <a:xfrm>
            <a:off x="137160" y="550240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>
            <a:hlinkClick r:id="rId13" action="ppaction://hlinksldjump"/>
          </p:cNvPr>
          <p:cNvSpPr/>
          <p:nvPr/>
        </p:nvSpPr>
        <p:spPr>
          <a:xfrm>
            <a:off x="109728" y="5474970"/>
            <a:ext cx="2139696" cy="460629"/>
          </a:xfrm>
          <a:prstGeom prst="rect">
            <a:avLst/>
          </a:prstGeom>
          <a:solidFill>
            <a:srgbClr val="9B6B72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>
            <a:hlinkClick r:id="rId13" action="ppaction://hlinksldjump"/>
          </p:cNvPr>
          <p:cNvSpPr/>
          <p:nvPr/>
        </p:nvSpPr>
        <p:spPr>
          <a:xfrm>
            <a:off x="155448" y="5568124"/>
            <a:ext cx="329184" cy="274320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11</a:t>
            </a:r>
          </a:p>
        </p:txBody>
      </p:sp>
      <p:sp>
        <p:nvSpPr>
          <p:cNvPr id="241" name="TextBox 240">
            <a:hlinkClick r:id="rId13" action="ppaction://hlinksldjump"/>
          </p:cNvPr>
          <p:cNvSpPr txBox="1"/>
          <p:nvPr/>
        </p:nvSpPr>
        <p:spPr>
          <a:xfrm>
            <a:off x="530352" y="547497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Modelos</a:t>
            </a:r>
          </a:p>
        </p:txBody>
      </p:sp>
      <p:sp>
        <p:nvSpPr>
          <p:cNvPr id="242" name="Rectangle 241">
            <a:hlinkClick r:id="rId14" action="ppaction://hlinksldjump"/>
          </p:cNvPr>
          <p:cNvSpPr/>
          <p:nvPr/>
        </p:nvSpPr>
        <p:spPr>
          <a:xfrm>
            <a:off x="137160" y="599503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>
            <a:hlinkClick r:id="rId14" action="ppaction://hlinksldjump"/>
          </p:cNvPr>
          <p:cNvSpPr/>
          <p:nvPr/>
        </p:nvSpPr>
        <p:spPr>
          <a:xfrm>
            <a:off x="109728" y="596760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>
            <a:hlinkClick r:id="rId14" action="ppaction://hlinksldjump"/>
          </p:cNvPr>
          <p:cNvSpPr/>
          <p:nvPr/>
        </p:nvSpPr>
        <p:spPr>
          <a:xfrm>
            <a:off x="155448" y="606075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12</a:t>
            </a:r>
          </a:p>
        </p:txBody>
      </p:sp>
      <p:sp>
        <p:nvSpPr>
          <p:cNvPr id="245" name="TextBox 244">
            <a:hlinkClick r:id="rId14" action="ppaction://hlinksldjump"/>
          </p:cNvPr>
          <p:cNvSpPr txBox="1"/>
          <p:nvPr/>
        </p:nvSpPr>
        <p:spPr>
          <a:xfrm>
            <a:off x="530352" y="596760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Glosario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404872" y="210312"/>
            <a:ext cx="9723119" cy="578815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2340864" y="146304"/>
            <a:ext cx="9723119" cy="5788151"/>
          </a:xfrm>
          <a:prstGeom prst="rect">
            <a:avLst/>
          </a:prstGeom>
          <a:solidFill>
            <a:srgbClr val="FFFFFF"/>
          </a:solidFill>
          <a:ln w="317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2450592" y="256032"/>
            <a:ext cx="9503663" cy="56692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2505456" y="256032"/>
            <a:ext cx="530352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🔗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054096" y="256032"/>
            <a:ext cx="8790431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5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NIVEL 11: Relación con otros modelos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2542032" y="914400"/>
            <a:ext cx="2880360" cy="555497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MODELO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5422392" y="914400"/>
            <a:ext cx="6440423" cy="555497"/>
          </a:xfrm>
          <a:prstGeom prst="rect">
            <a:avLst/>
          </a:prstGeom>
          <a:solidFill>
            <a:srgbClr val="7FA8D6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RELACIÓN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2542032" y="1469898"/>
            <a:ext cx="2880360" cy="584707"/>
          </a:xfrm>
          <a:prstGeom prst="rect">
            <a:avLst/>
          </a:prstGeom>
          <a:solidFill>
            <a:srgbClr val="4A2027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CMMI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5422392" y="1469898"/>
            <a:ext cx="6440423" cy="584707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Referente internacional; MoProSoft es más ligero.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2542032" y="2054606"/>
            <a:ext cx="2880360" cy="584707"/>
          </a:xfrm>
          <a:prstGeom prst="rect">
            <a:avLst/>
          </a:prstGeom>
          <a:solidFill>
            <a:srgbClr val="4A2027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ISO/IEC 12207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5422392" y="2054606"/>
            <a:ext cx="6440423" cy="584707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Ciclo de vida del software; base del modelo.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2542032" y="2639314"/>
            <a:ext cx="2880360" cy="584707"/>
          </a:xfrm>
          <a:prstGeom prst="rect">
            <a:avLst/>
          </a:prstGeom>
          <a:solidFill>
            <a:srgbClr val="4A2027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ISO/IEC 15504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5422392" y="2639314"/>
            <a:ext cx="6440423" cy="584707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Base de niveles de capacidad y evaluación.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2542032" y="3224022"/>
            <a:ext cx="2880360" cy="876807"/>
          </a:xfrm>
          <a:prstGeom prst="rect">
            <a:avLst/>
          </a:prstGeom>
          <a:solidFill>
            <a:srgbClr val="4A2027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ISO/IEC 29110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5422392" y="3224022"/>
            <a:ext cx="6440423" cy="876807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Norma para entidades muy pequeñas, con influencia de MoProSoft.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542032" y="4100830"/>
            <a:ext cx="2880360" cy="584707"/>
          </a:xfrm>
          <a:prstGeom prst="rect">
            <a:avLst/>
          </a:prstGeom>
          <a:solidFill>
            <a:srgbClr val="4A2027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COMPETISOFT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5422392" y="4100830"/>
            <a:ext cx="6440423" cy="584707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Proyecto iberoamericano que lo tomó como base.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542032" y="4685538"/>
            <a:ext cx="2880360" cy="584707"/>
          </a:xfrm>
          <a:prstGeom prst="rect">
            <a:avLst/>
          </a:prstGeom>
          <a:solidFill>
            <a:srgbClr val="4A2027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Scrum, RUP, XP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5422392" y="4685538"/>
            <a:ext cx="6440423" cy="584707"/>
          </a:xfrm>
          <a:prstGeom prst="rect">
            <a:avLst/>
          </a:prstGeom>
          <a:solidFill>
            <a:srgbClr val="FFFFFF"/>
          </a:solidFill>
          <a:ln w="15875">
            <a:solidFill>
              <a:srgbClr val="4A2027"/>
            </a:solidFill>
          </a:ln>
          <a:effectLst/>
        </p:spPr>
        <p:txBody>
          <a:bodyPr wrap="square" lIns="54864" tIns="18288" rIns="45720" bIns="18288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Metodologías técnicas; pueden convivir con MoProSoft.</a:t>
            </a:r>
          </a:p>
        </p:txBody>
      </p:sp>
      <p:sp>
        <p:nvSpPr>
          <p:cNvPr id="265" name="Rectangle 264">
            <a:hlinkClick r:id="rId2" action="ppaction://hlinksldjump"/>
          </p:cNvPr>
          <p:cNvSpPr/>
          <p:nvPr/>
        </p:nvSpPr>
        <p:spPr>
          <a:xfrm>
            <a:off x="2391156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Rectangle 265">
            <a:hlinkClick r:id="rId2" action="ppaction://hlinksldjump"/>
          </p:cNvPr>
          <p:cNvSpPr/>
          <p:nvPr/>
        </p:nvSpPr>
        <p:spPr>
          <a:xfrm>
            <a:off x="2340864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INDICE</a:t>
            </a:r>
          </a:p>
        </p:txBody>
      </p:sp>
      <p:sp>
        <p:nvSpPr>
          <p:cNvPr id="267" name="Rectangle 266">
            <a:hlinkClick r:id="rId12" action="ppaction://hlinksldjump"/>
          </p:cNvPr>
          <p:cNvSpPr/>
          <p:nvPr/>
        </p:nvSpPr>
        <p:spPr>
          <a:xfrm>
            <a:off x="566267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>
            <a:hlinkClick r:id="rId12" action="ppaction://hlinksldjump"/>
          </p:cNvPr>
          <p:cNvSpPr/>
          <p:nvPr/>
        </p:nvSpPr>
        <p:spPr>
          <a:xfrm>
            <a:off x="5612383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◀ ANTERIOR</a:t>
            </a:r>
          </a:p>
        </p:txBody>
      </p:sp>
      <p:sp>
        <p:nvSpPr>
          <p:cNvPr id="269" name="Rectangle 268">
            <a:hlinkClick r:id="rId14" action="ppaction://hlinksldjump"/>
          </p:cNvPr>
          <p:cNvSpPr/>
          <p:nvPr/>
        </p:nvSpPr>
        <p:spPr>
          <a:xfrm>
            <a:off x="893419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Rectangle 269">
            <a:hlinkClick r:id="rId14" action="ppaction://hlinksldjump"/>
          </p:cNvPr>
          <p:cNvSpPr/>
          <p:nvPr/>
        </p:nvSpPr>
        <p:spPr>
          <a:xfrm>
            <a:off x="8883903" y="6007607"/>
            <a:ext cx="3180079" cy="420624"/>
          </a:xfrm>
          <a:prstGeom prst="rect">
            <a:avLst/>
          </a:prstGeom>
          <a:solidFill>
            <a:srgbClr val="7FA8D6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SIGUIENTE 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214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0817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3619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420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9222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4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4825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7627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042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3230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8833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163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4436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7238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284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5643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8444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1246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6849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9651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2452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525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8056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0857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3659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6460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9262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20639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4865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7667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0468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32703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6071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8873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16751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44767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72783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79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28815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656831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784847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1286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040879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68895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96911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424927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52943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680959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808975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36991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65007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93023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321039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449055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7707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05088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3310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96112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08913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217152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34516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47318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01200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729216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857232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98524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113264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241280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369296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49731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625328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753344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881360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1009376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137392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265408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1393424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521440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649456" y="0"/>
            <a:ext cx="128016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777472" y="0"/>
            <a:ext cx="128016" cy="73152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905488" y="0"/>
            <a:ext cx="128016" cy="73152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2033504" y="0"/>
            <a:ext cx="128016" cy="73152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2161520" y="0"/>
            <a:ext cx="30479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2801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5603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8404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1206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4008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6809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9611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02412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5214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28016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40817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53619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66420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79222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92024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04825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17627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3042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43230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56032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8833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8163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94436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238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20040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3284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45643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58444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71246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8404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96849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409651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22452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3525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48056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60857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73659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86460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499262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120639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24865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37667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50468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5632703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76071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88873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016751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144767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272783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40079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528815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656831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7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91286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040879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168895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7296911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424927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552943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680959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808975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936991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065007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193023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321039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449055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57707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705088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83310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96112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08913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217152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34516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47318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9601200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9729216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9857232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98524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113264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0241280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0369296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49731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0625328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0753344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0881360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1009376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1137392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1265408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11393424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11521440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11649456" y="6501383"/>
            <a:ext cx="12801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11777472" y="6501383"/>
            <a:ext cx="128016" cy="64008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11905488" y="6501383"/>
            <a:ext cx="128016" cy="64008"/>
          </a:xfrm>
          <a:prstGeom prst="rect">
            <a:avLst/>
          </a:prstGeom>
          <a:solidFill>
            <a:srgbClr val="9B6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12033504" y="6501383"/>
            <a:ext cx="128016" cy="640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2161520" y="6501383"/>
            <a:ext cx="30479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201168" y="6565392"/>
            <a:ext cx="786384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DIAP. 14  ·  NIVEL 12/12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74479" y="6565392"/>
            <a:ext cx="2788920" cy="29260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HECHO POR RUM</a:t>
            </a:r>
          </a:p>
        </p:txBody>
      </p:sp>
      <p:sp>
        <p:nvSpPr>
          <p:cNvPr id="197" name="Rectangle 196">
            <a:hlinkClick r:id="rId2" action="ppaction://hlinksldjump"/>
          </p:cNvPr>
          <p:cNvSpPr/>
          <p:nvPr/>
        </p:nvSpPr>
        <p:spPr>
          <a:xfrm>
            <a:off x="109728" y="128016"/>
            <a:ext cx="2139696" cy="365760"/>
          </a:xfrm>
          <a:prstGeom prst="rect">
            <a:avLst/>
          </a:prstGeom>
          <a:solidFill>
            <a:srgbClr val="4A2027"/>
          </a:solidFill>
          <a:ln w="25400">
            <a:solidFill>
              <a:srgbClr val="FFFFFF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0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MAPA</a:t>
            </a:r>
          </a:p>
        </p:txBody>
      </p:sp>
      <p:sp>
        <p:nvSpPr>
          <p:cNvPr id="198" name="Rectangle 197">
            <a:hlinkClick r:id="rId3" action="ppaction://hlinksldjump"/>
          </p:cNvPr>
          <p:cNvSpPr/>
          <p:nvPr/>
        </p:nvSpPr>
        <p:spPr>
          <a:xfrm>
            <a:off x="137160" y="57607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>
            <a:hlinkClick r:id="rId3" action="ppaction://hlinksldjump"/>
          </p:cNvPr>
          <p:cNvSpPr/>
          <p:nvPr/>
        </p:nvSpPr>
        <p:spPr>
          <a:xfrm>
            <a:off x="109728" y="54864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>
            <a:hlinkClick r:id="rId3" action="ppaction://hlinksldjump"/>
          </p:cNvPr>
          <p:cNvSpPr/>
          <p:nvPr/>
        </p:nvSpPr>
        <p:spPr>
          <a:xfrm>
            <a:off x="155448" y="64179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01</a:t>
            </a:r>
          </a:p>
        </p:txBody>
      </p:sp>
      <p:sp>
        <p:nvSpPr>
          <p:cNvPr id="201" name="TextBox 200">
            <a:hlinkClick r:id="rId3" action="ppaction://hlinksldjump"/>
          </p:cNvPr>
          <p:cNvSpPr txBox="1"/>
          <p:nvPr/>
        </p:nvSpPr>
        <p:spPr>
          <a:xfrm>
            <a:off x="530352" y="54864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¿Qué es?</a:t>
            </a:r>
          </a:p>
        </p:txBody>
      </p:sp>
      <p:sp>
        <p:nvSpPr>
          <p:cNvPr id="202" name="Rectangle 201">
            <a:hlinkClick r:id="rId4" action="ppaction://hlinksldjump"/>
          </p:cNvPr>
          <p:cNvSpPr/>
          <p:nvPr/>
        </p:nvSpPr>
        <p:spPr>
          <a:xfrm>
            <a:off x="137160" y="106870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>
            <a:hlinkClick r:id="rId4" action="ppaction://hlinksldjump"/>
          </p:cNvPr>
          <p:cNvSpPr/>
          <p:nvPr/>
        </p:nvSpPr>
        <p:spPr>
          <a:xfrm>
            <a:off x="109728" y="1041273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>
            <a:hlinkClick r:id="rId4" action="ppaction://hlinksldjump"/>
          </p:cNvPr>
          <p:cNvSpPr/>
          <p:nvPr/>
        </p:nvSpPr>
        <p:spPr>
          <a:xfrm>
            <a:off x="155448" y="1134427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02</a:t>
            </a:r>
          </a:p>
        </p:txBody>
      </p:sp>
      <p:sp>
        <p:nvSpPr>
          <p:cNvPr id="205" name="TextBox 204">
            <a:hlinkClick r:id="rId4" action="ppaction://hlinksldjump"/>
          </p:cNvPr>
          <p:cNvSpPr txBox="1"/>
          <p:nvPr/>
        </p:nvSpPr>
        <p:spPr>
          <a:xfrm>
            <a:off x="530352" y="104127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Historia</a:t>
            </a:r>
          </a:p>
        </p:txBody>
      </p:sp>
      <p:sp>
        <p:nvSpPr>
          <p:cNvPr id="206" name="Rectangle 205">
            <a:hlinkClick r:id="rId5" action="ppaction://hlinksldjump"/>
          </p:cNvPr>
          <p:cNvSpPr/>
          <p:nvPr/>
        </p:nvSpPr>
        <p:spPr>
          <a:xfrm>
            <a:off x="137160" y="1561338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>
            <a:hlinkClick r:id="rId5" action="ppaction://hlinksldjump"/>
          </p:cNvPr>
          <p:cNvSpPr/>
          <p:nvPr/>
        </p:nvSpPr>
        <p:spPr>
          <a:xfrm>
            <a:off x="109728" y="1533906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>
            <a:hlinkClick r:id="rId5" action="ppaction://hlinksldjump"/>
          </p:cNvPr>
          <p:cNvSpPr/>
          <p:nvPr/>
        </p:nvSpPr>
        <p:spPr>
          <a:xfrm>
            <a:off x="155448" y="1627060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03</a:t>
            </a:r>
          </a:p>
        </p:txBody>
      </p:sp>
      <p:sp>
        <p:nvSpPr>
          <p:cNvPr id="209" name="TextBox 208">
            <a:hlinkClick r:id="rId5" action="ppaction://hlinksldjump"/>
          </p:cNvPr>
          <p:cNvSpPr txBox="1"/>
          <p:nvPr/>
        </p:nvSpPr>
        <p:spPr>
          <a:xfrm>
            <a:off x="530352" y="1533906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Objetivos</a:t>
            </a:r>
          </a:p>
        </p:txBody>
      </p:sp>
      <p:sp>
        <p:nvSpPr>
          <p:cNvPr id="210" name="Rectangle 209">
            <a:hlinkClick r:id="rId6" action="ppaction://hlinksldjump"/>
          </p:cNvPr>
          <p:cNvSpPr/>
          <p:nvPr/>
        </p:nvSpPr>
        <p:spPr>
          <a:xfrm>
            <a:off x="137160" y="2053971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>
            <a:hlinkClick r:id="rId6" action="ppaction://hlinksldjump"/>
          </p:cNvPr>
          <p:cNvSpPr/>
          <p:nvPr/>
        </p:nvSpPr>
        <p:spPr>
          <a:xfrm>
            <a:off x="109728" y="2026539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>
            <a:hlinkClick r:id="rId6" action="ppaction://hlinksldjump"/>
          </p:cNvPr>
          <p:cNvSpPr/>
          <p:nvPr/>
        </p:nvSpPr>
        <p:spPr>
          <a:xfrm>
            <a:off x="155448" y="2119693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04</a:t>
            </a:r>
          </a:p>
        </p:txBody>
      </p:sp>
      <p:sp>
        <p:nvSpPr>
          <p:cNvPr id="213" name="TextBox 212">
            <a:hlinkClick r:id="rId6" action="ppaction://hlinksldjump"/>
          </p:cNvPr>
          <p:cNvSpPr txBox="1"/>
          <p:nvPr/>
        </p:nvSpPr>
        <p:spPr>
          <a:xfrm>
            <a:off x="530352" y="2026539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Estructura</a:t>
            </a:r>
          </a:p>
        </p:txBody>
      </p:sp>
      <p:sp>
        <p:nvSpPr>
          <p:cNvPr id="214" name="Rectangle 213">
            <a:hlinkClick r:id="rId7" action="ppaction://hlinksldjump"/>
          </p:cNvPr>
          <p:cNvSpPr/>
          <p:nvPr/>
        </p:nvSpPr>
        <p:spPr>
          <a:xfrm>
            <a:off x="137160" y="2546604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>
            <a:hlinkClick r:id="rId7" action="ppaction://hlinksldjump"/>
          </p:cNvPr>
          <p:cNvSpPr/>
          <p:nvPr/>
        </p:nvSpPr>
        <p:spPr>
          <a:xfrm>
            <a:off x="109728" y="2519172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>
            <a:hlinkClick r:id="rId7" action="ppaction://hlinksldjump"/>
          </p:cNvPr>
          <p:cNvSpPr/>
          <p:nvPr/>
        </p:nvSpPr>
        <p:spPr>
          <a:xfrm>
            <a:off x="155448" y="2612326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05</a:t>
            </a:r>
          </a:p>
        </p:txBody>
      </p:sp>
      <p:sp>
        <p:nvSpPr>
          <p:cNvPr id="217" name="TextBox 216">
            <a:hlinkClick r:id="rId7" action="ppaction://hlinksldjump"/>
          </p:cNvPr>
          <p:cNvSpPr txBox="1"/>
          <p:nvPr/>
        </p:nvSpPr>
        <p:spPr>
          <a:xfrm>
            <a:off x="530352" y="2519172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9 procesos</a:t>
            </a:r>
          </a:p>
        </p:txBody>
      </p:sp>
      <p:sp>
        <p:nvSpPr>
          <p:cNvPr id="218" name="Rectangle 217">
            <a:hlinkClick r:id="rId8" action="ppaction://hlinksldjump"/>
          </p:cNvPr>
          <p:cNvSpPr/>
          <p:nvPr/>
        </p:nvSpPr>
        <p:spPr>
          <a:xfrm>
            <a:off x="137160" y="3039237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hlinkClick r:id="rId8" action="ppaction://hlinksldjump"/>
          </p:cNvPr>
          <p:cNvSpPr/>
          <p:nvPr/>
        </p:nvSpPr>
        <p:spPr>
          <a:xfrm>
            <a:off x="109728" y="3011805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>
            <a:hlinkClick r:id="rId8" action="ppaction://hlinksldjump"/>
          </p:cNvPr>
          <p:cNvSpPr/>
          <p:nvPr/>
        </p:nvSpPr>
        <p:spPr>
          <a:xfrm>
            <a:off x="155448" y="3104959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06</a:t>
            </a:r>
          </a:p>
        </p:txBody>
      </p:sp>
      <p:sp>
        <p:nvSpPr>
          <p:cNvPr id="221" name="TextBox 220">
            <a:hlinkClick r:id="rId8" action="ppaction://hlinksldjump"/>
          </p:cNvPr>
          <p:cNvSpPr txBox="1"/>
          <p:nvPr/>
        </p:nvSpPr>
        <p:spPr>
          <a:xfrm>
            <a:off x="530352" y="3011805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Anatomía</a:t>
            </a:r>
          </a:p>
        </p:txBody>
      </p:sp>
      <p:sp>
        <p:nvSpPr>
          <p:cNvPr id="222" name="Rectangle 221">
            <a:hlinkClick r:id="rId9" action="ppaction://hlinksldjump"/>
          </p:cNvPr>
          <p:cNvSpPr/>
          <p:nvPr/>
        </p:nvSpPr>
        <p:spPr>
          <a:xfrm>
            <a:off x="137160" y="3531870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>
            <a:hlinkClick r:id="rId9" action="ppaction://hlinksldjump"/>
          </p:cNvPr>
          <p:cNvSpPr/>
          <p:nvPr/>
        </p:nvSpPr>
        <p:spPr>
          <a:xfrm>
            <a:off x="109728" y="3504438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>
            <a:hlinkClick r:id="rId9" action="ppaction://hlinksldjump"/>
          </p:cNvPr>
          <p:cNvSpPr/>
          <p:nvPr/>
        </p:nvSpPr>
        <p:spPr>
          <a:xfrm>
            <a:off x="155448" y="3597592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07</a:t>
            </a:r>
          </a:p>
        </p:txBody>
      </p:sp>
      <p:sp>
        <p:nvSpPr>
          <p:cNvPr id="225" name="TextBox 224">
            <a:hlinkClick r:id="rId9" action="ppaction://hlinksldjump"/>
          </p:cNvPr>
          <p:cNvSpPr txBox="1"/>
          <p:nvPr/>
        </p:nvSpPr>
        <p:spPr>
          <a:xfrm>
            <a:off x="530352" y="3504438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Ciclo DMS</a:t>
            </a:r>
          </a:p>
        </p:txBody>
      </p:sp>
      <p:sp>
        <p:nvSpPr>
          <p:cNvPr id="226" name="Rectangle 225">
            <a:hlinkClick r:id="rId10" action="ppaction://hlinksldjump"/>
          </p:cNvPr>
          <p:cNvSpPr/>
          <p:nvPr/>
        </p:nvSpPr>
        <p:spPr>
          <a:xfrm>
            <a:off x="137160" y="4024503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>
            <a:hlinkClick r:id="rId10" action="ppaction://hlinksldjump"/>
          </p:cNvPr>
          <p:cNvSpPr/>
          <p:nvPr/>
        </p:nvSpPr>
        <p:spPr>
          <a:xfrm>
            <a:off x="109728" y="3997071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>
            <a:hlinkClick r:id="rId10" action="ppaction://hlinksldjump"/>
          </p:cNvPr>
          <p:cNvSpPr/>
          <p:nvPr/>
        </p:nvSpPr>
        <p:spPr>
          <a:xfrm>
            <a:off x="155448" y="4090225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08</a:t>
            </a:r>
          </a:p>
        </p:txBody>
      </p:sp>
      <p:sp>
        <p:nvSpPr>
          <p:cNvPr id="229" name="TextBox 228">
            <a:hlinkClick r:id="rId10" action="ppaction://hlinksldjump"/>
          </p:cNvPr>
          <p:cNvSpPr txBox="1"/>
          <p:nvPr/>
        </p:nvSpPr>
        <p:spPr>
          <a:xfrm>
            <a:off x="530352" y="3997071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Roles</a:t>
            </a:r>
          </a:p>
        </p:txBody>
      </p:sp>
      <p:sp>
        <p:nvSpPr>
          <p:cNvPr id="230" name="Rectangle 229">
            <a:hlinkClick r:id="rId11" action="ppaction://hlinksldjump"/>
          </p:cNvPr>
          <p:cNvSpPr/>
          <p:nvPr/>
        </p:nvSpPr>
        <p:spPr>
          <a:xfrm>
            <a:off x="137160" y="4517136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>
            <a:hlinkClick r:id="rId11" action="ppaction://hlinksldjump"/>
          </p:cNvPr>
          <p:cNvSpPr/>
          <p:nvPr/>
        </p:nvSpPr>
        <p:spPr>
          <a:xfrm>
            <a:off x="109728" y="4489704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>
            <a:hlinkClick r:id="rId11" action="ppaction://hlinksldjump"/>
          </p:cNvPr>
          <p:cNvSpPr/>
          <p:nvPr/>
        </p:nvSpPr>
        <p:spPr>
          <a:xfrm>
            <a:off x="155448" y="4582858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09</a:t>
            </a:r>
          </a:p>
        </p:txBody>
      </p:sp>
      <p:sp>
        <p:nvSpPr>
          <p:cNvPr id="233" name="TextBox 232">
            <a:hlinkClick r:id="rId11" action="ppaction://hlinksldjump"/>
          </p:cNvPr>
          <p:cNvSpPr txBox="1"/>
          <p:nvPr/>
        </p:nvSpPr>
        <p:spPr>
          <a:xfrm>
            <a:off x="530352" y="4489704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Capacidad</a:t>
            </a:r>
          </a:p>
        </p:txBody>
      </p:sp>
      <p:sp>
        <p:nvSpPr>
          <p:cNvPr id="234" name="Rectangle 233">
            <a:hlinkClick r:id="rId12" action="ppaction://hlinksldjump"/>
          </p:cNvPr>
          <p:cNvSpPr/>
          <p:nvPr/>
        </p:nvSpPr>
        <p:spPr>
          <a:xfrm>
            <a:off x="137160" y="5009769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>
            <a:hlinkClick r:id="rId12" action="ppaction://hlinksldjump"/>
          </p:cNvPr>
          <p:cNvSpPr/>
          <p:nvPr/>
        </p:nvSpPr>
        <p:spPr>
          <a:xfrm>
            <a:off x="109728" y="4982337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>
            <a:hlinkClick r:id="rId12" action="ppaction://hlinksldjump"/>
          </p:cNvPr>
          <p:cNvSpPr/>
          <p:nvPr/>
        </p:nvSpPr>
        <p:spPr>
          <a:xfrm>
            <a:off x="155448" y="5075491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10</a:t>
            </a:r>
          </a:p>
        </p:txBody>
      </p:sp>
      <p:sp>
        <p:nvSpPr>
          <p:cNvPr id="237" name="TextBox 236">
            <a:hlinkClick r:id="rId12" action="ppaction://hlinksldjump"/>
          </p:cNvPr>
          <p:cNvSpPr txBox="1"/>
          <p:nvPr/>
        </p:nvSpPr>
        <p:spPr>
          <a:xfrm>
            <a:off x="530352" y="4982337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EvalProSoft</a:t>
            </a:r>
          </a:p>
        </p:txBody>
      </p:sp>
      <p:sp>
        <p:nvSpPr>
          <p:cNvPr id="238" name="Rectangle 237">
            <a:hlinkClick r:id="rId13" action="ppaction://hlinksldjump"/>
          </p:cNvPr>
          <p:cNvSpPr/>
          <p:nvPr/>
        </p:nvSpPr>
        <p:spPr>
          <a:xfrm>
            <a:off x="137160" y="5502402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>
            <a:hlinkClick r:id="rId13" action="ppaction://hlinksldjump"/>
          </p:cNvPr>
          <p:cNvSpPr/>
          <p:nvPr/>
        </p:nvSpPr>
        <p:spPr>
          <a:xfrm>
            <a:off x="109728" y="5474970"/>
            <a:ext cx="2139696" cy="460629"/>
          </a:xfrm>
          <a:prstGeom prst="rect">
            <a:avLst/>
          </a:prstGeom>
          <a:solidFill>
            <a:srgbClr val="FFFFFF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>
            <a:hlinkClick r:id="rId13" action="ppaction://hlinksldjump"/>
          </p:cNvPr>
          <p:cNvSpPr/>
          <p:nvPr/>
        </p:nvSpPr>
        <p:spPr>
          <a:xfrm>
            <a:off x="155448" y="5568124"/>
            <a:ext cx="329184" cy="274320"/>
          </a:xfrm>
          <a:prstGeom prst="rect">
            <a:avLst/>
          </a:prstGeom>
          <a:solidFill>
            <a:srgbClr val="7FA8D6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11</a:t>
            </a:r>
          </a:p>
        </p:txBody>
      </p:sp>
      <p:sp>
        <p:nvSpPr>
          <p:cNvPr id="241" name="TextBox 240">
            <a:hlinkClick r:id="rId13" action="ppaction://hlinksldjump"/>
          </p:cNvPr>
          <p:cNvSpPr txBox="1"/>
          <p:nvPr/>
        </p:nvSpPr>
        <p:spPr>
          <a:xfrm>
            <a:off x="530352" y="5474970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Modelos</a:t>
            </a:r>
          </a:p>
        </p:txBody>
      </p:sp>
      <p:sp>
        <p:nvSpPr>
          <p:cNvPr id="242" name="Rectangle 241">
            <a:hlinkClick r:id="rId14" action="ppaction://hlinksldjump"/>
          </p:cNvPr>
          <p:cNvSpPr/>
          <p:nvPr/>
        </p:nvSpPr>
        <p:spPr>
          <a:xfrm>
            <a:off x="137160" y="5995035"/>
            <a:ext cx="2139696" cy="460629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>
            <a:hlinkClick r:id="rId14" action="ppaction://hlinksldjump"/>
          </p:cNvPr>
          <p:cNvSpPr/>
          <p:nvPr/>
        </p:nvSpPr>
        <p:spPr>
          <a:xfrm>
            <a:off x="109728" y="5967603"/>
            <a:ext cx="2139696" cy="460629"/>
          </a:xfrm>
          <a:prstGeom prst="rect">
            <a:avLst/>
          </a:prstGeom>
          <a:solidFill>
            <a:srgbClr val="9B6B72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>
            <a:hlinkClick r:id="rId14" action="ppaction://hlinksldjump"/>
          </p:cNvPr>
          <p:cNvSpPr/>
          <p:nvPr/>
        </p:nvSpPr>
        <p:spPr>
          <a:xfrm>
            <a:off x="155448" y="6060757"/>
            <a:ext cx="329184" cy="274320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12</a:t>
            </a:r>
          </a:p>
        </p:txBody>
      </p:sp>
      <p:sp>
        <p:nvSpPr>
          <p:cNvPr id="245" name="TextBox 244">
            <a:hlinkClick r:id="rId14" action="ppaction://hlinksldjump"/>
          </p:cNvPr>
          <p:cNvSpPr txBox="1"/>
          <p:nvPr/>
        </p:nvSpPr>
        <p:spPr>
          <a:xfrm>
            <a:off x="530352" y="5967603"/>
            <a:ext cx="1664207" cy="46062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600" b="0" i="0">
                <a:solidFill>
                  <a:srgbClr val="FFFFFF"/>
                </a:solidFill>
                <a:latin typeface="VT323"/>
                <a:ea typeface="VT323"/>
                <a:cs typeface="VT323"/>
              </a:rPr>
              <a:t>Glosario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404872" y="210312"/>
            <a:ext cx="9723119" cy="5788151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2340864" y="146304"/>
            <a:ext cx="9723119" cy="5788151"/>
          </a:xfrm>
          <a:prstGeom prst="rect">
            <a:avLst/>
          </a:prstGeom>
          <a:solidFill>
            <a:srgbClr val="FFFFFF"/>
          </a:solidFill>
          <a:ln w="317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2450592" y="256032"/>
            <a:ext cx="9503663" cy="566928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2505456" y="256032"/>
            <a:ext cx="530352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2000" b="0" i="0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🏆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054096" y="256032"/>
            <a:ext cx="8790431" cy="566928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5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NIVEL 12: Beneficios, retos y glosario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2587752" y="960120"/>
            <a:ext cx="3033775" cy="4910327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2542032" y="914400"/>
            <a:ext cx="3033775" cy="4910327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2542032" y="914400"/>
            <a:ext cx="3033775" cy="438912"/>
          </a:xfrm>
          <a:prstGeom prst="rect">
            <a:avLst/>
          </a:prstGeom>
          <a:solidFill>
            <a:srgbClr val="7FA8D6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2615184" y="914400"/>
            <a:ext cx="2887471" cy="438912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BENEFICIOS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651760" y="1481328"/>
            <a:ext cx="2814319" cy="83941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&gt;  Orden en proyectos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2651760" y="2320747"/>
            <a:ext cx="2814319" cy="83941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&gt;  Menos retrabajo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2651760" y="3160166"/>
            <a:ext cx="2814319" cy="83941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&gt;  Mejor calidad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2651760" y="3999585"/>
            <a:ext cx="2814319" cy="83941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&gt;  Credibilidad ante clientes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651760" y="4839004"/>
            <a:ext cx="2814319" cy="839419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&gt;  Acceso a mercados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5731255" y="960120"/>
            <a:ext cx="3033775" cy="4910327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ctangle 260"/>
          <p:cNvSpPr/>
          <p:nvPr/>
        </p:nvSpPr>
        <p:spPr>
          <a:xfrm>
            <a:off x="5685535" y="914400"/>
            <a:ext cx="3033775" cy="4910327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5685535" y="914400"/>
            <a:ext cx="3033775" cy="438912"/>
          </a:xfrm>
          <a:prstGeom prst="rect">
            <a:avLst/>
          </a:prstGeom>
          <a:solidFill>
            <a:srgbClr val="9B6B72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5758687" y="914400"/>
            <a:ext cx="2887471" cy="438912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RETOS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5795263" y="1481328"/>
            <a:ext cx="2814319" cy="1399031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&gt;  Cultura de documentar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5795263" y="2880359"/>
            <a:ext cx="2814319" cy="1399031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&gt;  Tiempo y capacitación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5795263" y="4279391"/>
            <a:ext cx="2814319" cy="1399031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&gt;  Apoyo constante de la dirección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8874759" y="960120"/>
            <a:ext cx="3033775" cy="4910327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8829039" y="914400"/>
            <a:ext cx="3033775" cy="4910327"/>
          </a:xfrm>
          <a:prstGeom prst="rect">
            <a:avLst/>
          </a:prstGeom>
          <a:solidFill>
            <a:srgbClr val="FFFFFF"/>
          </a:solidFill>
          <a:ln w="22225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8829039" y="914400"/>
            <a:ext cx="3033775" cy="438912"/>
          </a:xfrm>
          <a:prstGeom prst="rect">
            <a:avLst/>
          </a:prstGeom>
          <a:solidFill>
            <a:srgbClr val="4A2027"/>
          </a:solidFill>
          <a:ln w="19050">
            <a:solidFill>
              <a:srgbClr val="4A20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8902191" y="914400"/>
            <a:ext cx="2887471" cy="438912"/>
          </a:xfrm>
          <a:prstGeom prst="rect">
            <a:avLst/>
          </a:prstGeom>
          <a:noFill/>
          <a:effectLst/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GLOSARIO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8938767" y="1426464"/>
            <a:ext cx="2832607" cy="360237"/>
          </a:xfrm>
          <a:prstGeom prst="rect">
            <a:avLst/>
          </a:prstGeom>
          <a:noFill/>
          <a:effectLst/>
        </p:spPr>
        <p:txBody>
          <a:bodyPr wrap="square" lIns="18288" tIns="0" rIns="18288" bIns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Proceso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938767" y="1769546"/>
            <a:ext cx="2832607" cy="471738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5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Conjunto de actividades con un propósito.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8938767" y="2284171"/>
            <a:ext cx="2832607" cy="360237"/>
          </a:xfrm>
          <a:prstGeom prst="rect">
            <a:avLst/>
          </a:prstGeom>
          <a:noFill/>
          <a:effectLst/>
        </p:spPr>
        <p:txBody>
          <a:bodyPr wrap="square" lIns="18288" tIns="0" rIns="18288" bIns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Capacidad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8938767" y="2627254"/>
            <a:ext cx="2832607" cy="471738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5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Qué tan bien se ejecuta un proceso.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8938767" y="3141878"/>
            <a:ext cx="2832607" cy="360237"/>
          </a:xfrm>
          <a:prstGeom prst="rect">
            <a:avLst/>
          </a:prstGeom>
          <a:noFill/>
          <a:effectLst/>
        </p:spPr>
        <p:txBody>
          <a:bodyPr wrap="square" lIns="18288" tIns="0" rIns="18288" bIns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PYME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8938767" y="3484961"/>
            <a:ext cx="2832607" cy="471738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5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Pequeña y mediana empresa.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8938767" y="3999585"/>
            <a:ext cx="2832607" cy="360237"/>
          </a:xfrm>
          <a:prstGeom prst="rect">
            <a:avLst/>
          </a:prstGeom>
          <a:noFill/>
          <a:effectLst/>
        </p:spPr>
        <p:txBody>
          <a:bodyPr wrap="square" lIns="18288" tIns="0" rIns="18288" bIns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Norma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8938767" y="4342668"/>
            <a:ext cx="2832607" cy="471738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5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Documento oficial de referencia.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8938767" y="4857292"/>
            <a:ext cx="2832607" cy="360237"/>
          </a:xfrm>
          <a:prstGeom prst="rect">
            <a:avLst/>
          </a:prstGeom>
          <a:noFill/>
          <a:effectLst/>
        </p:spPr>
        <p:txBody>
          <a:bodyPr wrap="square" lIns="18288" tIns="0" rIns="18288" bIns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8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Indicador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8938767" y="5200375"/>
            <a:ext cx="2832607" cy="471738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500" b="0" i="0">
                <a:solidFill>
                  <a:srgbClr val="4A2027"/>
                </a:solidFill>
                <a:latin typeface="VT323"/>
                <a:ea typeface="VT323"/>
                <a:cs typeface="VT323"/>
              </a:rPr>
              <a:t>Medida para saber si se logra un objetivo.</a:t>
            </a:r>
          </a:p>
        </p:txBody>
      </p:sp>
      <p:sp>
        <p:nvSpPr>
          <p:cNvPr id="281" name="Rectangle 280">
            <a:hlinkClick r:id="rId2" action="ppaction://hlinksldjump"/>
          </p:cNvPr>
          <p:cNvSpPr/>
          <p:nvPr/>
        </p:nvSpPr>
        <p:spPr>
          <a:xfrm>
            <a:off x="2391156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Rectangle 281">
            <a:hlinkClick r:id="rId2" action="ppaction://hlinksldjump"/>
          </p:cNvPr>
          <p:cNvSpPr/>
          <p:nvPr/>
        </p:nvSpPr>
        <p:spPr>
          <a:xfrm>
            <a:off x="2340864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INDICE</a:t>
            </a:r>
          </a:p>
        </p:txBody>
      </p:sp>
      <p:sp>
        <p:nvSpPr>
          <p:cNvPr id="283" name="Rectangle 282">
            <a:hlinkClick r:id="rId13" action="ppaction://hlinksldjump"/>
          </p:cNvPr>
          <p:cNvSpPr/>
          <p:nvPr/>
        </p:nvSpPr>
        <p:spPr>
          <a:xfrm>
            <a:off x="566267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Rectangle 283">
            <a:hlinkClick r:id="rId13" action="ppaction://hlinksldjump"/>
          </p:cNvPr>
          <p:cNvSpPr/>
          <p:nvPr/>
        </p:nvSpPr>
        <p:spPr>
          <a:xfrm>
            <a:off x="5612383" y="6007607"/>
            <a:ext cx="3180079" cy="420624"/>
          </a:xfrm>
          <a:prstGeom prst="rect">
            <a:avLst/>
          </a:prstGeom>
          <a:solidFill>
            <a:srgbClr val="9B6B72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FFFFFF"/>
                </a:solidFill>
                <a:latin typeface="Press Start 2P"/>
                <a:ea typeface="Press Start 2P"/>
                <a:cs typeface="Press Start 2P"/>
              </a:rPr>
              <a:t>◀ ANTERIOR</a:t>
            </a:r>
          </a:p>
        </p:txBody>
      </p:sp>
      <p:sp>
        <p:nvSpPr>
          <p:cNvPr id="285" name="Rectangle 284">
            <a:hlinkClick r:id="rId2" action="ppaction://hlinksldjump"/>
          </p:cNvPr>
          <p:cNvSpPr/>
          <p:nvPr/>
        </p:nvSpPr>
        <p:spPr>
          <a:xfrm>
            <a:off x="8934195" y="6057899"/>
            <a:ext cx="3180079" cy="420624"/>
          </a:xfrm>
          <a:prstGeom prst="rect">
            <a:avLst/>
          </a:prstGeom>
          <a:solidFill>
            <a:srgbClr val="4A2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Rectangle 285">
            <a:hlinkClick r:id="rId2" action="ppaction://hlinksldjump"/>
          </p:cNvPr>
          <p:cNvSpPr/>
          <p:nvPr/>
        </p:nvSpPr>
        <p:spPr>
          <a:xfrm>
            <a:off x="8883903" y="6007607"/>
            <a:ext cx="3180079" cy="420624"/>
          </a:xfrm>
          <a:prstGeom prst="rect">
            <a:avLst/>
          </a:prstGeom>
          <a:solidFill>
            <a:srgbClr val="7FA8D6"/>
          </a:solidFill>
          <a:ln w="25400">
            <a:solidFill>
              <a:srgbClr val="4A2027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MX" sz="1100" b="0" i="0">
                <a:solidFill>
                  <a:srgbClr val="4A2027"/>
                </a:solidFill>
                <a:latin typeface="Press Start 2P"/>
                <a:ea typeface="Press Start 2P"/>
                <a:cs typeface="Press Start 2P"/>
              </a:rPr>
              <a:t>VOLVER AL INDICE 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1885</Words>
  <Application>Microsoft Office PowerPoint</Application>
  <PresentationFormat>Panorámica</PresentationFormat>
  <Paragraphs>680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Segoe UI Emoji</vt:lpstr>
      <vt:lpstr>Arial</vt:lpstr>
      <vt:lpstr>Calibri</vt:lpstr>
      <vt:lpstr>VT323</vt:lpstr>
      <vt:lpstr>Press Start 2P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MoProSoft Quest</dc:title>
  <dc:subject>Modelo de Procesos para la Industria del Software</dc:subject>
  <dc:creator>Rum</dc:creator>
  <cp:keywords/>
  <dc:description>generated using python-pptx</dc:description>
  <cp:lastModifiedBy>daniel10x892@gmail.com</cp:lastModifiedBy>
  <cp:revision>2</cp:revision>
  <dcterms:created xsi:type="dcterms:W3CDTF">2013-01-27T09:14:16Z</dcterms:created>
  <dcterms:modified xsi:type="dcterms:W3CDTF">2026-10-23T03:10:36Z</dcterms:modified>
  <cp:category>Presentación</cp:category>
</cp:coreProperties>
</file>